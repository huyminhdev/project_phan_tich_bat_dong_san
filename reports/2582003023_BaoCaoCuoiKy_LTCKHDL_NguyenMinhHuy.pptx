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x="18288000" cy="10287000"/>
  <p:notesSz cx="6858000" cy="9144000"/>
  <p:embeddedFontLst>
    <p:embeddedFont>
      <p:font typeface="Open Sans Bold" charset="1" panose="00000000000000000000"/>
      <p:regular r:id="rId31"/>
    </p:embeddedFont>
    <p:embeddedFont>
      <p:font typeface="Montserrat" charset="1" panose="00000500000000000000"/>
      <p:regular r:id="rId32"/>
    </p:embeddedFont>
    <p:embeddedFont>
      <p:font typeface="Calibri (MS)" charset="1" panose="020F0502020204030204"/>
      <p:regular r:id="rId33"/>
    </p:embeddedFont>
    <p:embeddedFont>
      <p:font typeface="Open Sans" charset="1" panose="00000000000000000000"/>
      <p:regular r:id="rId34"/>
    </p:embeddedFont>
    <p:embeddedFont>
      <p:font typeface="Montserrat Bold" charset="1" panose="00000800000000000000"/>
      <p:regular r:id="rId35"/>
    </p:embeddedFont>
    <p:embeddedFont>
      <p:font typeface="Open Sans Italics" charset="1" panose="00000000000000000000"/>
      <p:regular r:id="rId36"/>
    </p:embeddedFont>
    <p:embeddedFont>
      <p:font typeface="Lilita One" charset="1" panose="02000000000000000000"/>
      <p:regular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18.png" Type="http://schemas.openxmlformats.org/officeDocument/2006/relationships/image"/><Relationship Id="rId2" Target="../media/image1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13.png" Type="http://schemas.openxmlformats.org/officeDocument/2006/relationships/image"/><Relationship Id="rId7" Target="../media/image14.png" Type="http://schemas.openxmlformats.org/officeDocument/2006/relationships/image"/><Relationship Id="rId8" Target="../media/image15.pn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png" Type="http://schemas.openxmlformats.org/officeDocument/2006/relationships/image"/><Relationship Id="rId11" Target="../media/image26.png" Type="http://schemas.openxmlformats.org/officeDocument/2006/relationships/image"/><Relationship Id="rId2" Target="../media/image1.png" Type="http://schemas.openxmlformats.org/officeDocument/2006/relationships/image"/><Relationship Id="rId3" Target="../media/image19.png" Type="http://schemas.openxmlformats.org/officeDocument/2006/relationships/image"/><Relationship Id="rId4" Target="../media/image20.png" Type="http://schemas.openxmlformats.org/officeDocument/2006/relationships/image"/><Relationship Id="rId5" Target="../media/image12.png" Type="http://schemas.openxmlformats.org/officeDocument/2006/relationships/image"/><Relationship Id="rId6" Target="../media/image21.png" Type="http://schemas.openxmlformats.org/officeDocument/2006/relationships/image"/><Relationship Id="rId7" Target="../media/image22.png" Type="http://schemas.openxmlformats.org/officeDocument/2006/relationships/image"/><Relationship Id="rId8" Target="../media/image23.png" Type="http://schemas.openxmlformats.org/officeDocument/2006/relationships/image"/><Relationship Id="rId9" Target="../media/image2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7.png" Type="http://schemas.openxmlformats.org/officeDocument/2006/relationships/image"/><Relationship Id="rId4" Target="../media/image12.png" Type="http://schemas.openxmlformats.org/officeDocument/2006/relationships/image"/><Relationship Id="rId5" Target="../media/image28.png" Type="http://schemas.openxmlformats.org/officeDocument/2006/relationships/image"/><Relationship Id="rId6" Target="../media/image29.png" Type="http://schemas.openxmlformats.org/officeDocument/2006/relationships/image"/><Relationship Id="rId7" Target="../media/image30.png" Type="http://schemas.openxmlformats.org/officeDocument/2006/relationships/image"/><Relationship Id="rId8" Target="../media/image3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2.png" Type="http://schemas.openxmlformats.org/officeDocument/2006/relationships/image"/><Relationship Id="rId4" Target="../media/image10.png" Type="http://schemas.openxmlformats.org/officeDocument/2006/relationships/image"/><Relationship Id="rId5" Target="../media/image12.png" Type="http://schemas.openxmlformats.org/officeDocument/2006/relationships/image"/><Relationship Id="rId6" Target="../media/image14.png" Type="http://schemas.openxmlformats.org/officeDocument/2006/relationships/image"/><Relationship Id="rId7" Target="../media/image33.png" Type="http://schemas.openxmlformats.org/officeDocument/2006/relationships/image"/><Relationship Id="rId8" Target="../media/image34.png" Type="http://schemas.openxmlformats.org/officeDocument/2006/relationships/image"/><Relationship Id="rId9" Target="../media/image3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6.pn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7.pn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8.png" Type="http://schemas.openxmlformats.org/officeDocument/2006/relationships/image"/><Relationship Id="rId4" Target="../media/image39.png" Type="http://schemas.openxmlformats.org/officeDocument/2006/relationships/image"/><Relationship Id="rId5" Target="../media/image12.png" Type="http://schemas.openxmlformats.org/officeDocument/2006/relationships/image"/><Relationship Id="rId6" Target="../media/image40.png" Type="http://schemas.openxmlformats.org/officeDocument/2006/relationships/image"/><Relationship Id="rId7" Target="../media/image41.png" Type="http://schemas.openxmlformats.org/officeDocument/2006/relationships/image"/><Relationship Id="rId8" Target="../media/image42.png" Type="http://schemas.openxmlformats.org/officeDocument/2006/relationships/image"/><Relationship Id="rId9" Target="../media/image4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0.png" Type="http://schemas.openxmlformats.org/officeDocument/2006/relationships/image"/><Relationship Id="rId11" Target="../media/image51.png" Type="http://schemas.openxmlformats.org/officeDocument/2006/relationships/image"/><Relationship Id="rId12" Target="../media/image52.png" Type="http://schemas.openxmlformats.org/officeDocument/2006/relationships/image"/><Relationship Id="rId13" Target="../media/image53.png" Type="http://schemas.openxmlformats.org/officeDocument/2006/relationships/image"/><Relationship Id="rId14" Target="../media/image54.png" Type="http://schemas.openxmlformats.org/officeDocument/2006/relationships/image"/><Relationship Id="rId2" Target="../media/image1.png" Type="http://schemas.openxmlformats.org/officeDocument/2006/relationships/image"/><Relationship Id="rId3" Target="../media/image44.png" Type="http://schemas.openxmlformats.org/officeDocument/2006/relationships/image"/><Relationship Id="rId4" Target="../media/image45.png" Type="http://schemas.openxmlformats.org/officeDocument/2006/relationships/image"/><Relationship Id="rId5" Target="../media/image46.png" Type="http://schemas.openxmlformats.org/officeDocument/2006/relationships/image"/><Relationship Id="rId6" Target="../media/image12.png" Type="http://schemas.openxmlformats.org/officeDocument/2006/relationships/image"/><Relationship Id="rId7" Target="../media/image47.png" Type="http://schemas.openxmlformats.org/officeDocument/2006/relationships/image"/><Relationship Id="rId8" Target="../media/image48.png" Type="http://schemas.openxmlformats.org/officeDocument/2006/relationships/image"/><Relationship Id="rId9" Target="../media/image49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7.png" Type="http://schemas.openxmlformats.org/officeDocument/2006/relationships/image"/><Relationship Id="rId4" Target="../media/image55.pn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6.pn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7.pn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8.png" Type="http://schemas.openxmlformats.org/officeDocument/2006/relationships/image"/><Relationship Id="rId4" Target="../media/image12.png" Type="http://schemas.openxmlformats.org/officeDocument/2006/relationships/image"/><Relationship Id="rId5" Target="../media/image59.png" Type="http://schemas.openxmlformats.org/officeDocument/2006/relationships/image"/><Relationship Id="rId6" Target="../media/image60.png" Type="http://schemas.openxmlformats.org/officeDocument/2006/relationships/image"/><Relationship Id="rId7" Target="../media/image61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2.png" Type="http://schemas.openxmlformats.org/officeDocument/2006/relationships/image"/><Relationship Id="rId4" Target="../media/image62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3.png" Type="http://schemas.openxmlformats.org/officeDocument/2006/relationships/image"/><Relationship Id="rId4" Target="../media/image64.png" Type="http://schemas.openxmlformats.org/officeDocument/2006/relationships/image"/><Relationship Id="rId5" Target="../media/image12.png" Type="http://schemas.openxmlformats.org/officeDocument/2006/relationships/image"/><Relationship Id="rId6" Target="../media/image65.png" Type="http://schemas.openxmlformats.org/officeDocument/2006/relationships/image"/><Relationship Id="rId7" Target="../media/image66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7.png" Type="http://schemas.openxmlformats.org/officeDocument/2006/relationships/image"/><Relationship Id="rId4" Target="../media/image68.png" Type="http://schemas.openxmlformats.org/officeDocument/2006/relationships/image"/><Relationship Id="rId5" Target="../media/image12.png" Type="http://schemas.openxmlformats.org/officeDocument/2006/relationships/image"/><Relationship Id="rId6" Target="../media/image69.png" Type="http://schemas.openxmlformats.org/officeDocument/2006/relationships/image"/><Relationship Id="rId7" Target="../media/image70.png" Type="http://schemas.openxmlformats.org/officeDocument/2006/relationships/image"/><Relationship Id="rId8" Target="../media/image71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9.svg" Type="http://schemas.openxmlformats.org/officeDocument/2006/relationships/image"/><Relationship Id="rId2" Target="../media/image1.png" Type="http://schemas.openxmlformats.org/officeDocument/2006/relationships/image"/><Relationship Id="rId3" Target="../media/image72.png" Type="http://schemas.openxmlformats.org/officeDocument/2006/relationships/image"/><Relationship Id="rId4" Target="../media/image73.svg" Type="http://schemas.openxmlformats.org/officeDocument/2006/relationships/image"/><Relationship Id="rId5" Target="../media/image74.png" Type="http://schemas.openxmlformats.org/officeDocument/2006/relationships/image"/><Relationship Id="rId6" Target="../media/image75.svg" Type="http://schemas.openxmlformats.org/officeDocument/2006/relationships/image"/><Relationship Id="rId7" Target="../media/image76.png" Type="http://schemas.openxmlformats.org/officeDocument/2006/relationships/image"/><Relationship Id="rId8" Target="../media/image77.svg" Type="http://schemas.openxmlformats.org/officeDocument/2006/relationships/image"/><Relationship Id="rId9" Target="../media/image7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499368" y="671659"/>
            <a:ext cx="2140185" cy="1956486"/>
          </a:xfrm>
          <a:custGeom>
            <a:avLst/>
            <a:gdLst/>
            <a:ahLst/>
            <a:cxnLst/>
            <a:rect r="r" b="b" t="t" l="l"/>
            <a:pathLst>
              <a:path h="1956486" w="2140185">
                <a:moveTo>
                  <a:pt x="2140185" y="0"/>
                </a:moveTo>
                <a:lnTo>
                  <a:pt x="0" y="0"/>
                </a:lnTo>
                <a:lnTo>
                  <a:pt x="0" y="1956487"/>
                </a:lnTo>
                <a:lnTo>
                  <a:pt x="2140185" y="1956487"/>
                </a:lnTo>
                <a:lnTo>
                  <a:pt x="214018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841084" y="2037588"/>
            <a:ext cx="14605832" cy="5639614"/>
            <a:chOff x="0" y="0"/>
            <a:chExt cx="7620000" cy="29422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620000" cy="2939700"/>
            </a:xfrm>
            <a:custGeom>
              <a:avLst/>
              <a:gdLst/>
              <a:ahLst/>
              <a:cxnLst/>
              <a:rect r="r" b="b" t="t" l="l"/>
              <a:pathLst>
                <a:path h="2939700" w="7620000">
                  <a:moveTo>
                    <a:pt x="7620000" y="2081180"/>
                  </a:moveTo>
                  <a:lnTo>
                    <a:pt x="7620000" y="222250"/>
                  </a:lnTo>
                  <a:cubicBezTo>
                    <a:pt x="7620000" y="100330"/>
                    <a:pt x="7519670" y="0"/>
                    <a:pt x="7397750" y="0"/>
                  </a:cubicBezTo>
                  <a:lnTo>
                    <a:pt x="222250" y="0"/>
                  </a:lnTo>
                  <a:cubicBezTo>
                    <a:pt x="100330" y="0"/>
                    <a:pt x="0" y="100330"/>
                    <a:pt x="0" y="222250"/>
                  </a:cubicBezTo>
                  <a:lnTo>
                    <a:pt x="0" y="2079910"/>
                  </a:lnTo>
                  <a:cubicBezTo>
                    <a:pt x="0" y="2203100"/>
                    <a:pt x="100330" y="2302160"/>
                    <a:pt x="222250" y="2302160"/>
                  </a:cubicBezTo>
                  <a:lnTo>
                    <a:pt x="3547110" y="2302160"/>
                  </a:lnTo>
                  <a:lnTo>
                    <a:pt x="3808730" y="2939700"/>
                  </a:lnTo>
                  <a:lnTo>
                    <a:pt x="4070350" y="2302160"/>
                  </a:lnTo>
                  <a:lnTo>
                    <a:pt x="7395210" y="2302160"/>
                  </a:lnTo>
                  <a:cubicBezTo>
                    <a:pt x="7519670" y="2303430"/>
                    <a:pt x="7620000" y="2204370"/>
                    <a:pt x="7620000" y="2081180"/>
                  </a:cubicBezTo>
                  <a:close/>
                </a:path>
              </a:pathLst>
            </a:custGeom>
            <a:solidFill>
              <a:srgbClr val="497FB4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6446916" y="819133"/>
            <a:ext cx="2045020" cy="2022925"/>
          </a:xfrm>
          <a:custGeom>
            <a:avLst/>
            <a:gdLst/>
            <a:ahLst/>
            <a:cxnLst/>
            <a:rect r="r" b="b" t="t" l="l"/>
            <a:pathLst>
              <a:path h="2022925" w="2045020">
                <a:moveTo>
                  <a:pt x="0" y="0"/>
                </a:moveTo>
                <a:lnTo>
                  <a:pt x="2045020" y="0"/>
                </a:lnTo>
                <a:lnTo>
                  <a:pt x="2045020" y="2022925"/>
                </a:lnTo>
                <a:lnTo>
                  <a:pt x="0" y="202292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39759" y="7677202"/>
            <a:ext cx="1802116" cy="1691834"/>
          </a:xfrm>
          <a:custGeom>
            <a:avLst/>
            <a:gdLst/>
            <a:ahLst/>
            <a:cxnLst/>
            <a:rect r="r" b="b" t="t" l="l"/>
            <a:pathLst>
              <a:path h="1691834" w="1802116">
                <a:moveTo>
                  <a:pt x="0" y="0"/>
                </a:moveTo>
                <a:lnTo>
                  <a:pt x="1802117" y="0"/>
                </a:lnTo>
                <a:lnTo>
                  <a:pt x="1802117" y="1691834"/>
                </a:lnTo>
                <a:lnTo>
                  <a:pt x="0" y="169183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259610" y="7288282"/>
            <a:ext cx="2374612" cy="2080754"/>
          </a:xfrm>
          <a:custGeom>
            <a:avLst/>
            <a:gdLst/>
            <a:ahLst/>
            <a:cxnLst/>
            <a:rect r="r" b="b" t="t" l="l"/>
            <a:pathLst>
              <a:path h="2080754" w="2374612">
                <a:moveTo>
                  <a:pt x="0" y="0"/>
                </a:moveTo>
                <a:lnTo>
                  <a:pt x="2374612" y="0"/>
                </a:lnTo>
                <a:lnTo>
                  <a:pt x="2374612" y="2080754"/>
                </a:lnTo>
                <a:lnTo>
                  <a:pt x="0" y="208075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695245" y="2250011"/>
            <a:ext cx="8897511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b="true" sz="24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BÁO CÁO CUỐI KỲ - LẬP TRÌNH CHO KHOA HỌC DỮ LIỆU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662884" y="2859612"/>
            <a:ext cx="10962232" cy="2246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72"/>
              </a:lnSpc>
            </a:pPr>
            <a:r>
              <a:rPr lang="en-US" sz="63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Phân Tích &amp; Gợi Ý Bất Động Sản Căn Hộ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695245" y="5353825"/>
            <a:ext cx="9537026" cy="601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82"/>
              </a:lnSpc>
            </a:pPr>
            <a:r>
              <a:rPr lang="en-US" b="true" sz="27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Nghiên cứu thực nghiệm tại thị trường TP. Hồ Chí Minh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773427" y="7896277"/>
            <a:ext cx="6741145" cy="2032000"/>
            <a:chOff x="0" y="0"/>
            <a:chExt cx="1775446" cy="53517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775446" cy="535177"/>
            </a:xfrm>
            <a:custGeom>
              <a:avLst/>
              <a:gdLst/>
              <a:ahLst/>
              <a:cxnLst/>
              <a:rect r="r" b="b" t="t" l="l"/>
              <a:pathLst>
                <a:path h="535177" w="1775446">
                  <a:moveTo>
                    <a:pt x="58571" y="0"/>
                  </a:moveTo>
                  <a:lnTo>
                    <a:pt x="1716874" y="0"/>
                  </a:lnTo>
                  <a:cubicBezTo>
                    <a:pt x="1749222" y="0"/>
                    <a:pt x="1775446" y="26223"/>
                    <a:pt x="1775446" y="58571"/>
                  </a:cubicBezTo>
                  <a:lnTo>
                    <a:pt x="1775446" y="476606"/>
                  </a:lnTo>
                  <a:cubicBezTo>
                    <a:pt x="1775446" y="492140"/>
                    <a:pt x="1769275" y="507038"/>
                    <a:pt x="1758291" y="518022"/>
                  </a:cubicBezTo>
                  <a:cubicBezTo>
                    <a:pt x="1747306" y="529006"/>
                    <a:pt x="1732408" y="535177"/>
                    <a:pt x="1716874" y="535177"/>
                  </a:cubicBezTo>
                  <a:lnTo>
                    <a:pt x="58571" y="535177"/>
                  </a:lnTo>
                  <a:cubicBezTo>
                    <a:pt x="26223" y="535177"/>
                    <a:pt x="0" y="508954"/>
                    <a:pt x="0" y="476606"/>
                  </a:cubicBezTo>
                  <a:lnTo>
                    <a:pt x="0" y="58571"/>
                  </a:lnTo>
                  <a:cubicBezTo>
                    <a:pt x="0" y="26223"/>
                    <a:pt x="26223" y="0"/>
                    <a:pt x="58571" y="0"/>
                  </a:cubicBezTo>
                  <a:close/>
                </a:path>
              </a:pathLst>
            </a:custGeom>
            <a:ln w="95250" cap="rnd">
              <a:solidFill>
                <a:srgbClr val="4A7DBA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775446" cy="5828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8645610" y="8362518"/>
            <a:ext cx="2732655" cy="469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NGUYỄN MINH HUY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925826" y="8883836"/>
            <a:ext cx="3445258" cy="469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PGS.TS NGUYỄN DUY HÀM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925477" y="8387300"/>
            <a:ext cx="2577729" cy="469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Sinh viên thực hiện: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925477" y="8896887"/>
            <a:ext cx="2934058" cy="469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Giảng viên hướng dẫn: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551194" y="2143125"/>
            <a:ext cx="7530703" cy="5586413"/>
            <a:chOff x="0" y="0"/>
            <a:chExt cx="10477500" cy="7772400"/>
          </a:xfrm>
        </p:grpSpPr>
        <p:sp>
          <p:nvSpPr>
            <p:cNvPr name="Freeform 4" id="4" descr="image.png"/>
            <p:cNvSpPr/>
            <p:nvPr/>
          </p:nvSpPr>
          <p:spPr>
            <a:xfrm flipH="false" flipV="false" rot="0">
              <a:off x="0" y="0"/>
              <a:ext cx="10477500" cy="7772400"/>
            </a:xfrm>
            <a:custGeom>
              <a:avLst/>
              <a:gdLst/>
              <a:ahLst/>
              <a:cxnLst/>
              <a:rect r="r" b="b" t="t" l="l"/>
              <a:pathLst>
                <a:path h="7772400" w="10477500">
                  <a:moveTo>
                    <a:pt x="0" y="0"/>
                  </a:moveTo>
                  <a:lnTo>
                    <a:pt x="10477500" y="0"/>
                  </a:lnTo>
                  <a:lnTo>
                    <a:pt x="10477500" y="7772400"/>
                  </a:lnTo>
                  <a:lnTo>
                    <a:pt x="0" y="7772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00125" y="2143125"/>
            <a:ext cx="7858125" cy="5586412"/>
            <a:chOff x="0" y="0"/>
            <a:chExt cx="10477500" cy="7448550"/>
          </a:xfrm>
        </p:grpSpPr>
        <p:sp>
          <p:nvSpPr>
            <p:cNvPr name="Freeform 6" id="6" descr="image.png"/>
            <p:cNvSpPr/>
            <p:nvPr/>
          </p:nvSpPr>
          <p:spPr>
            <a:xfrm flipH="false" flipV="false" rot="0">
              <a:off x="0" y="0"/>
              <a:ext cx="10477500" cy="7448550"/>
            </a:xfrm>
            <a:custGeom>
              <a:avLst/>
              <a:gdLst/>
              <a:ahLst/>
              <a:cxnLst/>
              <a:rect r="r" b="b" t="t" l="l"/>
              <a:pathLst>
                <a:path h="7448550" w="10477500">
                  <a:moveTo>
                    <a:pt x="0" y="0"/>
                  </a:moveTo>
                  <a:lnTo>
                    <a:pt x="10477500" y="0"/>
                  </a:lnTo>
                  <a:lnTo>
                    <a:pt x="10477500" y="7448550"/>
                  </a:lnTo>
                  <a:lnTo>
                    <a:pt x="0" y="7448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00125" y="9515475"/>
            <a:ext cx="16287750" cy="414338"/>
            <a:chOff x="0" y="0"/>
            <a:chExt cx="21717000" cy="552450"/>
          </a:xfrm>
        </p:grpSpPr>
        <p:sp>
          <p:nvSpPr>
            <p:cNvPr name="Freeform 8" id="8" descr="image.png"/>
            <p:cNvSpPr/>
            <p:nvPr/>
          </p:nvSpPr>
          <p:spPr>
            <a:xfrm flipH="false" flipV="false" rot="0">
              <a:off x="0" y="0"/>
              <a:ext cx="21717000" cy="552450"/>
            </a:xfrm>
            <a:custGeom>
              <a:avLst/>
              <a:gdLst/>
              <a:ahLst/>
              <a:cxnLst/>
              <a:rect r="r" b="b" t="t" l="l"/>
              <a:pathLst>
                <a:path h="552450" w="21717000">
                  <a:moveTo>
                    <a:pt x="0" y="0"/>
                  </a:moveTo>
                  <a:lnTo>
                    <a:pt x="21717000" y="0"/>
                  </a:lnTo>
                  <a:lnTo>
                    <a:pt x="21717000" y="552450"/>
                  </a:lnTo>
                  <a:lnTo>
                    <a:pt x="0" y="552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000125" y="9672638"/>
            <a:ext cx="3271838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Nguyễn Minh Huy - 2582003023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159162" y="9672638"/>
            <a:ext cx="112871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Slide 2 / 24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43037" y="3533775"/>
            <a:ext cx="7320915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Thông Tin Sinh Viên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872662" y="3533775"/>
            <a:ext cx="7320915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Chi Tiết Đề Tài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443038" y="2728912"/>
            <a:ext cx="457200" cy="514350"/>
            <a:chOff x="0" y="0"/>
            <a:chExt cx="609600" cy="685800"/>
          </a:xfrm>
        </p:grpSpPr>
        <p:sp>
          <p:nvSpPr>
            <p:cNvPr name="Freeform 14" id="14" descr="image.png"/>
            <p:cNvSpPr/>
            <p:nvPr/>
          </p:nvSpPr>
          <p:spPr>
            <a:xfrm flipH="false" flipV="false" rot="0">
              <a:off x="0" y="0"/>
              <a:ext cx="609600" cy="685800"/>
            </a:xfrm>
            <a:custGeom>
              <a:avLst/>
              <a:gdLst/>
              <a:ahLst/>
              <a:cxnLst/>
              <a:rect r="r" b="b" t="t" l="l"/>
              <a:pathLst>
                <a:path h="6858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872662" y="2728912"/>
            <a:ext cx="514350" cy="514350"/>
            <a:chOff x="0" y="0"/>
            <a:chExt cx="685800" cy="685800"/>
          </a:xfrm>
        </p:grpSpPr>
        <p:sp>
          <p:nvSpPr>
            <p:cNvPr name="Freeform 16" id="16" descr="image.png"/>
            <p:cNvSpPr/>
            <p:nvPr/>
          </p:nvSpPr>
          <p:spPr>
            <a:xfrm flipH="false" flipV="false" rot="0">
              <a:off x="0" y="0"/>
              <a:ext cx="685800" cy="685800"/>
            </a:xfrm>
            <a:custGeom>
              <a:avLst/>
              <a:gdLst/>
              <a:ahLst/>
              <a:cxnLst/>
              <a:rect r="r" b="b" t="t" l="l"/>
              <a:pathLst>
                <a:path h="685800" w="685800">
                  <a:moveTo>
                    <a:pt x="0" y="0"/>
                  </a:moveTo>
                  <a:lnTo>
                    <a:pt x="685800" y="0"/>
                  </a:lnTo>
                  <a:lnTo>
                    <a:pt x="6858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2014538" y="4162425"/>
            <a:ext cx="6400800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2250">
                <a:solidFill>
                  <a:srgbClr val="0F172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Học viên:</a:t>
            </a:r>
            <a:r>
              <a:rPr lang="en-US" sz="225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Nguyễn Minh Huy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014538" y="4905375"/>
            <a:ext cx="6400800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2250">
                <a:solidFill>
                  <a:srgbClr val="0F172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MSSV:</a:t>
            </a:r>
            <a:r>
              <a:rPr lang="en-US" sz="225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2582003023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014538" y="5648325"/>
            <a:ext cx="6400800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2250">
                <a:solidFill>
                  <a:srgbClr val="0F172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Ngành:</a:t>
            </a:r>
            <a:r>
              <a:rPr lang="en-US" sz="225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Công Nghệ Thông Tin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014538" y="6391275"/>
            <a:ext cx="6400800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2250">
                <a:solidFill>
                  <a:srgbClr val="0F172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Trường:</a:t>
            </a:r>
            <a:r>
              <a:rPr lang="en-US" sz="225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Đại học Thủy Lợi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444162" y="4040981"/>
            <a:ext cx="6400800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2250">
                <a:solidFill>
                  <a:srgbClr val="0F172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Dataset:</a:t>
            </a:r>
            <a:r>
              <a:rPr lang="en-US" sz="225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1.799 tin đăng từ chotot.com (T7-T8/2026).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444162" y="5241131"/>
            <a:ext cx="6400800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2250">
                <a:solidFill>
                  <a:srgbClr val="0F172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Phạm vi:</a:t>
            </a:r>
            <a:r>
              <a:rPr lang="en-US" sz="225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6 quận (Thủ Đức, Bình Thạnh, Q7, Gò Vấp, Q12, Bình Tân).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444162" y="6441281"/>
            <a:ext cx="6400800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2250">
                <a:solidFill>
                  <a:srgbClr val="0F172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Mục tiêu:</a:t>
            </a:r>
            <a:r>
              <a:rPr lang="en-US" sz="225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Chuẩn hóa → EDA → Dự đoán Giá → Phân cụm → Gợi ý BĐS.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443038" y="4364831"/>
            <a:ext cx="128588" cy="214312"/>
            <a:chOff x="0" y="0"/>
            <a:chExt cx="171450" cy="285750"/>
          </a:xfrm>
        </p:grpSpPr>
        <p:sp>
          <p:nvSpPr>
            <p:cNvPr name="Freeform 25" id="25" descr="image.png"/>
            <p:cNvSpPr/>
            <p:nvPr/>
          </p:nvSpPr>
          <p:spPr>
            <a:xfrm flipH="false" flipV="false" rot="0">
              <a:off x="0" y="0"/>
              <a:ext cx="171450" cy="285750"/>
            </a:xfrm>
            <a:custGeom>
              <a:avLst/>
              <a:gdLst/>
              <a:ahLst/>
              <a:cxnLst/>
              <a:rect r="r" b="b" t="t" l="l"/>
              <a:pathLst>
                <a:path h="285750" w="171450">
                  <a:moveTo>
                    <a:pt x="0" y="0"/>
                  </a:moveTo>
                  <a:lnTo>
                    <a:pt x="171450" y="0"/>
                  </a:lnTo>
                  <a:lnTo>
                    <a:pt x="171450" y="285750"/>
                  </a:lnTo>
                  <a:lnTo>
                    <a:pt x="0" y="285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443038" y="5107781"/>
            <a:ext cx="128588" cy="214312"/>
            <a:chOff x="0" y="0"/>
            <a:chExt cx="171450" cy="285750"/>
          </a:xfrm>
        </p:grpSpPr>
        <p:sp>
          <p:nvSpPr>
            <p:cNvPr name="Freeform 27" id="27" descr="image.png"/>
            <p:cNvSpPr/>
            <p:nvPr/>
          </p:nvSpPr>
          <p:spPr>
            <a:xfrm flipH="false" flipV="false" rot="0">
              <a:off x="0" y="0"/>
              <a:ext cx="171450" cy="285750"/>
            </a:xfrm>
            <a:custGeom>
              <a:avLst/>
              <a:gdLst/>
              <a:ahLst/>
              <a:cxnLst/>
              <a:rect r="r" b="b" t="t" l="l"/>
              <a:pathLst>
                <a:path h="285750" w="171450">
                  <a:moveTo>
                    <a:pt x="0" y="0"/>
                  </a:moveTo>
                  <a:lnTo>
                    <a:pt x="171450" y="0"/>
                  </a:lnTo>
                  <a:lnTo>
                    <a:pt x="171450" y="285750"/>
                  </a:lnTo>
                  <a:lnTo>
                    <a:pt x="0" y="285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443038" y="5850731"/>
            <a:ext cx="128588" cy="214312"/>
            <a:chOff x="0" y="0"/>
            <a:chExt cx="171450" cy="285750"/>
          </a:xfrm>
        </p:grpSpPr>
        <p:sp>
          <p:nvSpPr>
            <p:cNvPr name="Freeform 29" id="29" descr="image.png"/>
            <p:cNvSpPr/>
            <p:nvPr/>
          </p:nvSpPr>
          <p:spPr>
            <a:xfrm flipH="false" flipV="false" rot="0">
              <a:off x="0" y="0"/>
              <a:ext cx="171450" cy="285750"/>
            </a:xfrm>
            <a:custGeom>
              <a:avLst/>
              <a:gdLst/>
              <a:ahLst/>
              <a:cxnLst/>
              <a:rect r="r" b="b" t="t" l="l"/>
              <a:pathLst>
                <a:path h="285750" w="171450">
                  <a:moveTo>
                    <a:pt x="0" y="0"/>
                  </a:moveTo>
                  <a:lnTo>
                    <a:pt x="171450" y="0"/>
                  </a:lnTo>
                  <a:lnTo>
                    <a:pt x="171450" y="285750"/>
                  </a:lnTo>
                  <a:lnTo>
                    <a:pt x="0" y="285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443038" y="6593681"/>
            <a:ext cx="128588" cy="214312"/>
            <a:chOff x="0" y="0"/>
            <a:chExt cx="171450" cy="285750"/>
          </a:xfrm>
        </p:grpSpPr>
        <p:sp>
          <p:nvSpPr>
            <p:cNvPr name="Freeform 31" id="31" descr="image.png"/>
            <p:cNvSpPr/>
            <p:nvPr/>
          </p:nvSpPr>
          <p:spPr>
            <a:xfrm flipH="false" flipV="false" rot="0">
              <a:off x="0" y="0"/>
              <a:ext cx="171450" cy="285750"/>
            </a:xfrm>
            <a:custGeom>
              <a:avLst/>
              <a:gdLst/>
              <a:ahLst/>
              <a:cxnLst/>
              <a:rect r="r" b="b" t="t" l="l"/>
              <a:pathLst>
                <a:path h="285750" w="171450">
                  <a:moveTo>
                    <a:pt x="0" y="0"/>
                  </a:moveTo>
                  <a:lnTo>
                    <a:pt x="171450" y="0"/>
                  </a:lnTo>
                  <a:lnTo>
                    <a:pt x="171450" y="285750"/>
                  </a:lnTo>
                  <a:lnTo>
                    <a:pt x="0" y="285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872662" y="4193381"/>
            <a:ext cx="271462" cy="328612"/>
            <a:chOff x="0" y="0"/>
            <a:chExt cx="361950" cy="438150"/>
          </a:xfrm>
        </p:grpSpPr>
        <p:sp>
          <p:nvSpPr>
            <p:cNvPr name="Freeform 33" id="33" descr="image.png"/>
            <p:cNvSpPr/>
            <p:nvPr/>
          </p:nvSpPr>
          <p:spPr>
            <a:xfrm flipH="false" flipV="false" rot="0">
              <a:off x="0" y="0"/>
              <a:ext cx="361950" cy="438150"/>
            </a:xfrm>
            <a:custGeom>
              <a:avLst/>
              <a:gdLst/>
              <a:ahLst/>
              <a:cxnLst/>
              <a:rect r="r" b="b" t="t" l="l"/>
              <a:pathLst>
                <a:path h="438150" w="361950">
                  <a:moveTo>
                    <a:pt x="0" y="0"/>
                  </a:moveTo>
                  <a:lnTo>
                    <a:pt x="361950" y="0"/>
                  </a:lnTo>
                  <a:lnTo>
                    <a:pt x="361950" y="438150"/>
                  </a:lnTo>
                  <a:lnTo>
                    <a:pt x="0" y="438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9872662" y="5393531"/>
            <a:ext cx="357188" cy="328612"/>
            <a:chOff x="0" y="0"/>
            <a:chExt cx="476250" cy="438150"/>
          </a:xfrm>
        </p:grpSpPr>
        <p:sp>
          <p:nvSpPr>
            <p:cNvPr name="Freeform 35" id="35" descr="image.png"/>
            <p:cNvSpPr/>
            <p:nvPr/>
          </p:nvSpPr>
          <p:spPr>
            <a:xfrm flipH="false" flipV="false" rot="0">
              <a:off x="0" y="0"/>
              <a:ext cx="476250" cy="438150"/>
            </a:xfrm>
            <a:custGeom>
              <a:avLst/>
              <a:gdLst/>
              <a:ahLst/>
              <a:cxnLst/>
              <a:rect r="r" b="b" t="t" l="l"/>
              <a:pathLst>
                <a:path h="438150" w="476250">
                  <a:moveTo>
                    <a:pt x="0" y="0"/>
                  </a:moveTo>
                  <a:lnTo>
                    <a:pt x="476250" y="0"/>
                  </a:lnTo>
                  <a:lnTo>
                    <a:pt x="476250" y="438150"/>
                  </a:lnTo>
                  <a:lnTo>
                    <a:pt x="0" y="438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9872662" y="6593681"/>
            <a:ext cx="314325" cy="328612"/>
            <a:chOff x="0" y="0"/>
            <a:chExt cx="419100" cy="438150"/>
          </a:xfrm>
        </p:grpSpPr>
        <p:sp>
          <p:nvSpPr>
            <p:cNvPr name="Freeform 37" id="37" descr="image.png"/>
            <p:cNvSpPr/>
            <p:nvPr/>
          </p:nvSpPr>
          <p:spPr>
            <a:xfrm flipH="false" flipV="false" rot="0">
              <a:off x="0" y="0"/>
              <a:ext cx="419100" cy="438150"/>
            </a:xfrm>
            <a:custGeom>
              <a:avLst/>
              <a:gdLst/>
              <a:ahLst/>
              <a:cxnLst/>
              <a:rect r="r" b="b" t="t" l="l"/>
              <a:pathLst>
                <a:path h="438150" w="419100">
                  <a:moveTo>
                    <a:pt x="0" y="0"/>
                  </a:moveTo>
                  <a:lnTo>
                    <a:pt x="419100" y="0"/>
                  </a:lnTo>
                  <a:lnTo>
                    <a:pt x="419100" y="438150"/>
                  </a:lnTo>
                  <a:lnTo>
                    <a:pt x="0" y="438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1000125" y="714375"/>
            <a:ext cx="17102138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0"/>
              </a:lnSpc>
            </a:pPr>
            <a:r>
              <a:rPr lang="en-US" b="true" sz="4275">
                <a:solidFill>
                  <a:srgbClr val="0F172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GIỚI THIỆU ĐỀ TÀI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000125" y="1528762"/>
            <a:ext cx="16287750" cy="42862"/>
            <a:chOff x="0" y="0"/>
            <a:chExt cx="21717000" cy="5715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1717000" cy="57150"/>
            </a:xfrm>
            <a:custGeom>
              <a:avLst/>
              <a:gdLst/>
              <a:ahLst/>
              <a:cxnLst/>
              <a:rect r="r" b="b" t="t" l="l"/>
              <a:pathLst>
                <a:path h="57150" w="21717000">
                  <a:moveTo>
                    <a:pt x="0" y="0"/>
                  </a:moveTo>
                  <a:lnTo>
                    <a:pt x="21717000" y="0"/>
                  </a:lnTo>
                  <a:lnTo>
                    <a:pt x="217170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0284C7"/>
            </a:solid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28762" y="2143125"/>
            <a:ext cx="4886325" cy="3131639"/>
            <a:chOff x="0" y="0"/>
            <a:chExt cx="6515100" cy="4175519"/>
          </a:xfrm>
        </p:grpSpPr>
        <p:sp>
          <p:nvSpPr>
            <p:cNvPr name="Freeform 4" id="4" descr="image.png"/>
            <p:cNvSpPr/>
            <p:nvPr/>
          </p:nvSpPr>
          <p:spPr>
            <a:xfrm flipH="false" flipV="false" rot="0">
              <a:off x="0" y="0"/>
              <a:ext cx="6515100" cy="4175506"/>
            </a:xfrm>
            <a:custGeom>
              <a:avLst/>
              <a:gdLst/>
              <a:ahLst/>
              <a:cxnLst/>
              <a:rect r="r" b="b" t="t" l="l"/>
              <a:pathLst>
                <a:path h="4175506" w="6515100">
                  <a:moveTo>
                    <a:pt x="0" y="0"/>
                  </a:moveTo>
                  <a:lnTo>
                    <a:pt x="6515100" y="0"/>
                  </a:lnTo>
                  <a:lnTo>
                    <a:pt x="6515100" y="4175506"/>
                  </a:lnTo>
                  <a:lnTo>
                    <a:pt x="0" y="41755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371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6700838" y="2143125"/>
            <a:ext cx="4886325" cy="3131639"/>
            <a:chOff x="0" y="0"/>
            <a:chExt cx="6515100" cy="4175519"/>
          </a:xfrm>
        </p:grpSpPr>
        <p:sp>
          <p:nvSpPr>
            <p:cNvPr name="Freeform 6" id="6" descr="image.png"/>
            <p:cNvSpPr/>
            <p:nvPr/>
          </p:nvSpPr>
          <p:spPr>
            <a:xfrm flipH="false" flipV="false" rot="0">
              <a:off x="0" y="0"/>
              <a:ext cx="6515100" cy="4175506"/>
            </a:xfrm>
            <a:custGeom>
              <a:avLst/>
              <a:gdLst/>
              <a:ahLst/>
              <a:cxnLst/>
              <a:rect r="r" b="b" t="t" l="l"/>
              <a:pathLst>
                <a:path h="4175506" w="6515100">
                  <a:moveTo>
                    <a:pt x="0" y="0"/>
                  </a:moveTo>
                  <a:lnTo>
                    <a:pt x="6515100" y="0"/>
                  </a:lnTo>
                  <a:lnTo>
                    <a:pt x="6515100" y="4175506"/>
                  </a:lnTo>
                  <a:lnTo>
                    <a:pt x="0" y="41755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371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1872912" y="2143125"/>
            <a:ext cx="4886325" cy="3131639"/>
            <a:chOff x="0" y="0"/>
            <a:chExt cx="6515100" cy="4175519"/>
          </a:xfrm>
        </p:grpSpPr>
        <p:sp>
          <p:nvSpPr>
            <p:cNvPr name="Freeform 8" id="8" descr="image.png"/>
            <p:cNvSpPr/>
            <p:nvPr/>
          </p:nvSpPr>
          <p:spPr>
            <a:xfrm flipH="false" flipV="false" rot="0">
              <a:off x="0" y="0"/>
              <a:ext cx="6515100" cy="4175506"/>
            </a:xfrm>
            <a:custGeom>
              <a:avLst/>
              <a:gdLst/>
              <a:ahLst/>
              <a:cxnLst/>
              <a:rect r="r" b="b" t="t" l="l"/>
              <a:pathLst>
                <a:path h="4175506" w="6515100">
                  <a:moveTo>
                    <a:pt x="0" y="0"/>
                  </a:moveTo>
                  <a:lnTo>
                    <a:pt x="6515100" y="0"/>
                  </a:lnTo>
                  <a:lnTo>
                    <a:pt x="6515100" y="4175506"/>
                  </a:lnTo>
                  <a:lnTo>
                    <a:pt x="0" y="41755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371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528762" y="5560514"/>
            <a:ext cx="4886325" cy="3131639"/>
            <a:chOff x="0" y="0"/>
            <a:chExt cx="6515100" cy="4175519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6515100" cy="4175506"/>
            </a:xfrm>
            <a:custGeom>
              <a:avLst/>
              <a:gdLst/>
              <a:ahLst/>
              <a:cxnLst/>
              <a:rect r="r" b="b" t="t" l="l"/>
              <a:pathLst>
                <a:path h="4175506" w="6515100">
                  <a:moveTo>
                    <a:pt x="0" y="0"/>
                  </a:moveTo>
                  <a:lnTo>
                    <a:pt x="6515100" y="0"/>
                  </a:lnTo>
                  <a:lnTo>
                    <a:pt x="6515100" y="4175506"/>
                  </a:lnTo>
                  <a:lnTo>
                    <a:pt x="0" y="41755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371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6700838" y="5560514"/>
            <a:ext cx="4886325" cy="3131639"/>
            <a:chOff x="0" y="0"/>
            <a:chExt cx="6515100" cy="4175519"/>
          </a:xfrm>
        </p:grpSpPr>
        <p:sp>
          <p:nvSpPr>
            <p:cNvPr name="Freeform 12" id="12" descr="image.png"/>
            <p:cNvSpPr/>
            <p:nvPr/>
          </p:nvSpPr>
          <p:spPr>
            <a:xfrm flipH="false" flipV="false" rot="0">
              <a:off x="0" y="0"/>
              <a:ext cx="6515100" cy="4175506"/>
            </a:xfrm>
            <a:custGeom>
              <a:avLst/>
              <a:gdLst/>
              <a:ahLst/>
              <a:cxnLst/>
              <a:rect r="r" b="b" t="t" l="l"/>
              <a:pathLst>
                <a:path h="4175506" w="6515100">
                  <a:moveTo>
                    <a:pt x="0" y="0"/>
                  </a:moveTo>
                  <a:lnTo>
                    <a:pt x="6515100" y="0"/>
                  </a:lnTo>
                  <a:lnTo>
                    <a:pt x="6515100" y="4175506"/>
                  </a:lnTo>
                  <a:lnTo>
                    <a:pt x="0" y="41755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371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1872912" y="5560514"/>
            <a:ext cx="4886325" cy="3131639"/>
            <a:chOff x="0" y="0"/>
            <a:chExt cx="6515100" cy="4175519"/>
          </a:xfrm>
        </p:grpSpPr>
        <p:sp>
          <p:nvSpPr>
            <p:cNvPr name="Freeform 14" id="14" descr="image.png"/>
            <p:cNvSpPr/>
            <p:nvPr/>
          </p:nvSpPr>
          <p:spPr>
            <a:xfrm flipH="false" flipV="false" rot="0">
              <a:off x="0" y="0"/>
              <a:ext cx="6515100" cy="4175506"/>
            </a:xfrm>
            <a:custGeom>
              <a:avLst/>
              <a:gdLst/>
              <a:ahLst/>
              <a:cxnLst/>
              <a:rect r="r" b="b" t="t" l="l"/>
              <a:pathLst>
                <a:path h="4175506" w="6515100">
                  <a:moveTo>
                    <a:pt x="0" y="0"/>
                  </a:moveTo>
                  <a:lnTo>
                    <a:pt x="6515100" y="0"/>
                  </a:lnTo>
                  <a:lnTo>
                    <a:pt x="6515100" y="4175506"/>
                  </a:lnTo>
                  <a:lnTo>
                    <a:pt x="0" y="41755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371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000125" y="9515475"/>
            <a:ext cx="16287750" cy="414338"/>
            <a:chOff x="0" y="0"/>
            <a:chExt cx="21717000" cy="552450"/>
          </a:xfrm>
        </p:grpSpPr>
        <p:sp>
          <p:nvSpPr>
            <p:cNvPr name="Freeform 16" id="16" descr="image.png"/>
            <p:cNvSpPr/>
            <p:nvPr/>
          </p:nvSpPr>
          <p:spPr>
            <a:xfrm flipH="false" flipV="false" rot="0">
              <a:off x="0" y="0"/>
              <a:ext cx="21717000" cy="552450"/>
            </a:xfrm>
            <a:custGeom>
              <a:avLst/>
              <a:gdLst/>
              <a:ahLst/>
              <a:cxnLst/>
              <a:rect r="r" b="b" t="t" l="l"/>
              <a:pathLst>
                <a:path h="552450" w="21717000">
                  <a:moveTo>
                    <a:pt x="0" y="0"/>
                  </a:moveTo>
                  <a:lnTo>
                    <a:pt x="21717000" y="0"/>
                  </a:lnTo>
                  <a:lnTo>
                    <a:pt x="21717000" y="552450"/>
                  </a:lnTo>
                  <a:lnTo>
                    <a:pt x="0" y="552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00125" y="9672638"/>
            <a:ext cx="3271838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Nguyễn Minh Huy - 2582003023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159162" y="9672638"/>
            <a:ext cx="112871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Slide 3 / 24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971675" y="3533775"/>
            <a:ext cx="4200525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Lời Mở Đầu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971675" y="3986212"/>
            <a:ext cx="4000500" cy="845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6"/>
              </a:lnSpc>
            </a:pPr>
            <a:r>
              <a:rPr lang="en-US" sz="180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Lý do, mục đích và phạm vi nghiên cứu.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143750" y="3533775"/>
            <a:ext cx="4200525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Chương 1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143750" y="3986212"/>
            <a:ext cx="4000500" cy="845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6"/>
              </a:lnSpc>
            </a:pPr>
            <a:r>
              <a:rPr lang="en-US" sz="180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Giới thiệu bài toán và các câu hỏi nghiên cứu.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315825" y="3533775"/>
            <a:ext cx="4200525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Chương 2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315825" y="3986212"/>
            <a:ext cx="4000500" cy="845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6"/>
              </a:lnSpc>
            </a:pPr>
            <a:r>
              <a:rPr lang="en-US" sz="180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Tổng quan lý thuyết nền tảng (ML, K-Means).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971675" y="6951164"/>
            <a:ext cx="4200525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Chương 3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971675" y="7403602"/>
            <a:ext cx="4000500" cy="845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6"/>
              </a:lnSpc>
            </a:pPr>
            <a:r>
              <a:rPr lang="en-US" sz="180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Triển khai thuật toán và kiến trúc hệ thống.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143750" y="6951164"/>
            <a:ext cx="4200525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Chương 4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143750" y="7403602"/>
            <a:ext cx="4000500" cy="845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6"/>
              </a:lnSpc>
            </a:pPr>
            <a:r>
              <a:rPr lang="en-US" sz="180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Thực nghiệm, EDA và phân tích kết quả.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315825" y="6951164"/>
            <a:ext cx="4200525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Kết Luận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315825" y="7403602"/>
            <a:ext cx="4000500" cy="845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6"/>
              </a:lnSpc>
            </a:pPr>
            <a:r>
              <a:rPr lang="en-US" sz="180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Tổng kết, hạn chế và hướng phát triển.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971675" y="2728912"/>
            <a:ext cx="585788" cy="514350"/>
            <a:chOff x="0" y="0"/>
            <a:chExt cx="781050" cy="685800"/>
          </a:xfrm>
        </p:grpSpPr>
        <p:sp>
          <p:nvSpPr>
            <p:cNvPr name="Freeform 32" id="32" descr="image.png"/>
            <p:cNvSpPr/>
            <p:nvPr/>
          </p:nvSpPr>
          <p:spPr>
            <a:xfrm flipH="false" flipV="false" rot="0">
              <a:off x="0" y="0"/>
              <a:ext cx="781050" cy="685800"/>
            </a:xfrm>
            <a:custGeom>
              <a:avLst/>
              <a:gdLst/>
              <a:ahLst/>
              <a:cxnLst/>
              <a:rect r="r" b="b" t="t" l="l"/>
              <a:pathLst>
                <a:path h="685800" w="781050">
                  <a:moveTo>
                    <a:pt x="0" y="0"/>
                  </a:moveTo>
                  <a:lnTo>
                    <a:pt x="781050" y="0"/>
                  </a:lnTo>
                  <a:lnTo>
                    <a:pt x="78105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7143750" y="2728912"/>
            <a:ext cx="514350" cy="514350"/>
            <a:chOff x="0" y="0"/>
            <a:chExt cx="685800" cy="685800"/>
          </a:xfrm>
        </p:grpSpPr>
        <p:sp>
          <p:nvSpPr>
            <p:cNvPr name="Freeform 34" id="34" descr="image.png"/>
            <p:cNvSpPr/>
            <p:nvPr/>
          </p:nvSpPr>
          <p:spPr>
            <a:xfrm flipH="false" flipV="false" rot="0">
              <a:off x="0" y="0"/>
              <a:ext cx="685800" cy="685800"/>
            </a:xfrm>
            <a:custGeom>
              <a:avLst/>
              <a:gdLst/>
              <a:ahLst/>
              <a:cxnLst/>
              <a:rect r="r" b="b" t="t" l="l"/>
              <a:pathLst>
                <a:path h="685800" w="685800">
                  <a:moveTo>
                    <a:pt x="0" y="0"/>
                  </a:moveTo>
                  <a:lnTo>
                    <a:pt x="685800" y="0"/>
                  </a:lnTo>
                  <a:lnTo>
                    <a:pt x="6858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2315825" y="2728912"/>
            <a:ext cx="514350" cy="514350"/>
            <a:chOff x="0" y="0"/>
            <a:chExt cx="685800" cy="685800"/>
          </a:xfrm>
        </p:grpSpPr>
        <p:sp>
          <p:nvSpPr>
            <p:cNvPr name="Freeform 36" id="36" descr="image.png"/>
            <p:cNvSpPr/>
            <p:nvPr/>
          </p:nvSpPr>
          <p:spPr>
            <a:xfrm flipH="false" flipV="false" rot="0">
              <a:off x="0" y="0"/>
              <a:ext cx="685800" cy="685800"/>
            </a:xfrm>
            <a:custGeom>
              <a:avLst/>
              <a:gdLst/>
              <a:ahLst/>
              <a:cxnLst/>
              <a:rect r="r" b="b" t="t" l="l"/>
              <a:pathLst>
                <a:path h="685800" w="685800">
                  <a:moveTo>
                    <a:pt x="0" y="0"/>
                  </a:moveTo>
                  <a:lnTo>
                    <a:pt x="685800" y="0"/>
                  </a:lnTo>
                  <a:lnTo>
                    <a:pt x="6858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971675" y="6146302"/>
            <a:ext cx="642938" cy="514350"/>
            <a:chOff x="0" y="0"/>
            <a:chExt cx="857250" cy="685800"/>
          </a:xfrm>
        </p:grpSpPr>
        <p:sp>
          <p:nvSpPr>
            <p:cNvPr name="Freeform 38" id="38" descr="image.png"/>
            <p:cNvSpPr/>
            <p:nvPr/>
          </p:nvSpPr>
          <p:spPr>
            <a:xfrm flipH="false" flipV="false" rot="0">
              <a:off x="0" y="0"/>
              <a:ext cx="857250" cy="685800"/>
            </a:xfrm>
            <a:custGeom>
              <a:avLst/>
              <a:gdLst/>
              <a:ahLst/>
              <a:cxnLst/>
              <a:rect r="r" b="b" t="t" l="l"/>
              <a:pathLst>
                <a:path h="685800" w="857250">
                  <a:moveTo>
                    <a:pt x="0" y="0"/>
                  </a:moveTo>
                  <a:lnTo>
                    <a:pt x="857250" y="0"/>
                  </a:lnTo>
                  <a:lnTo>
                    <a:pt x="85725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-2777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7143750" y="6146302"/>
            <a:ext cx="585788" cy="514350"/>
            <a:chOff x="0" y="0"/>
            <a:chExt cx="781050" cy="685800"/>
          </a:xfrm>
        </p:grpSpPr>
        <p:sp>
          <p:nvSpPr>
            <p:cNvPr name="Freeform 40" id="40" descr="image.png"/>
            <p:cNvSpPr/>
            <p:nvPr/>
          </p:nvSpPr>
          <p:spPr>
            <a:xfrm flipH="false" flipV="false" rot="0">
              <a:off x="0" y="0"/>
              <a:ext cx="781050" cy="685800"/>
            </a:xfrm>
            <a:custGeom>
              <a:avLst/>
              <a:gdLst/>
              <a:ahLst/>
              <a:cxnLst/>
              <a:rect r="r" b="b" t="t" l="l"/>
              <a:pathLst>
                <a:path h="685800" w="781050">
                  <a:moveTo>
                    <a:pt x="0" y="0"/>
                  </a:moveTo>
                  <a:lnTo>
                    <a:pt x="781050" y="0"/>
                  </a:lnTo>
                  <a:lnTo>
                    <a:pt x="78105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-2777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2315825" y="6146302"/>
            <a:ext cx="457200" cy="514350"/>
            <a:chOff x="0" y="0"/>
            <a:chExt cx="609600" cy="685800"/>
          </a:xfrm>
        </p:grpSpPr>
        <p:sp>
          <p:nvSpPr>
            <p:cNvPr name="Freeform 42" id="42" descr="image.png"/>
            <p:cNvSpPr/>
            <p:nvPr/>
          </p:nvSpPr>
          <p:spPr>
            <a:xfrm flipH="false" flipV="false" rot="0">
              <a:off x="0" y="0"/>
              <a:ext cx="609600" cy="685800"/>
            </a:xfrm>
            <a:custGeom>
              <a:avLst/>
              <a:gdLst/>
              <a:ahLst/>
              <a:cxnLst/>
              <a:rect r="r" b="b" t="t" l="l"/>
              <a:pathLst>
                <a:path h="6858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-2777"/>
              </a:stretch>
            </a:blipFill>
          </p:spPr>
        </p:sp>
      </p:grpSp>
      <p:sp>
        <p:nvSpPr>
          <p:cNvPr name="TextBox 43" id="43"/>
          <p:cNvSpPr txBox="true"/>
          <p:nvPr/>
        </p:nvSpPr>
        <p:spPr>
          <a:xfrm rot="0">
            <a:off x="1000125" y="714375"/>
            <a:ext cx="17102138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0"/>
              </a:lnSpc>
            </a:pPr>
            <a:r>
              <a:rPr lang="en-US" b="true" sz="4275">
                <a:solidFill>
                  <a:srgbClr val="0F172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CẤU TRÚC BÁO CÁO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1000125" y="1528762"/>
            <a:ext cx="16287750" cy="42862"/>
            <a:chOff x="0" y="0"/>
            <a:chExt cx="21717000" cy="5715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1717000" cy="57150"/>
            </a:xfrm>
            <a:custGeom>
              <a:avLst/>
              <a:gdLst/>
              <a:ahLst/>
              <a:cxnLst/>
              <a:rect r="r" b="b" t="t" l="l"/>
              <a:pathLst>
                <a:path h="57150" w="21717000">
                  <a:moveTo>
                    <a:pt x="0" y="0"/>
                  </a:moveTo>
                  <a:lnTo>
                    <a:pt x="21717000" y="0"/>
                  </a:lnTo>
                  <a:lnTo>
                    <a:pt x="217170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0284C7"/>
            </a:solid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00125" y="7229475"/>
            <a:ext cx="16287750" cy="1394374"/>
            <a:chOff x="0" y="0"/>
            <a:chExt cx="21717000" cy="1859166"/>
          </a:xfrm>
        </p:grpSpPr>
        <p:sp>
          <p:nvSpPr>
            <p:cNvPr name="Freeform 4" id="4" descr="image.png"/>
            <p:cNvSpPr/>
            <p:nvPr/>
          </p:nvSpPr>
          <p:spPr>
            <a:xfrm flipH="false" flipV="false" rot="0">
              <a:off x="0" y="0"/>
              <a:ext cx="21717000" cy="1859153"/>
            </a:xfrm>
            <a:custGeom>
              <a:avLst/>
              <a:gdLst/>
              <a:ahLst/>
              <a:cxnLst/>
              <a:rect r="r" b="b" t="t" l="l"/>
              <a:pathLst>
                <a:path h="1859153" w="21717000">
                  <a:moveTo>
                    <a:pt x="0" y="0"/>
                  </a:moveTo>
                  <a:lnTo>
                    <a:pt x="21717000" y="0"/>
                  </a:lnTo>
                  <a:lnTo>
                    <a:pt x="21717000" y="1859153"/>
                  </a:lnTo>
                  <a:lnTo>
                    <a:pt x="0" y="18591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416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00125" y="9515475"/>
            <a:ext cx="16287750" cy="414338"/>
            <a:chOff x="0" y="0"/>
            <a:chExt cx="21717000" cy="552450"/>
          </a:xfrm>
        </p:grpSpPr>
        <p:sp>
          <p:nvSpPr>
            <p:cNvPr name="Freeform 6" id="6" descr="image.png"/>
            <p:cNvSpPr/>
            <p:nvPr/>
          </p:nvSpPr>
          <p:spPr>
            <a:xfrm flipH="false" flipV="false" rot="0">
              <a:off x="0" y="0"/>
              <a:ext cx="21717000" cy="552450"/>
            </a:xfrm>
            <a:custGeom>
              <a:avLst/>
              <a:gdLst/>
              <a:ahLst/>
              <a:cxnLst/>
              <a:rect r="r" b="b" t="t" l="l"/>
              <a:pathLst>
                <a:path h="552450" w="21717000">
                  <a:moveTo>
                    <a:pt x="0" y="0"/>
                  </a:moveTo>
                  <a:lnTo>
                    <a:pt x="21717000" y="0"/>
                  </a:lnTo>
                  <a:lnTo>
                    <a:pt x="21717000" y="552450"/>
                  </a:lnTo>
                  <a:lnTo>
                    <a:pt x="0" y="552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000125" y="9672638"/>
            <a:ext cx="3271838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Nguyễn Minh Huy - 2582003023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130588" y="9672638"/>
            <a:ext cx="1157288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Slide 4 / 24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85912" y="7372350"/>
            <a:ext cx="15416212" cy="965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7"/>
              </a:lnSpc>
            </a:pPr>
            <a:r>
              <a:rPr lang="en-US" sz="2025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Nhu cầu cấp thiết: Cần một giải pháp khoa học dữ liệu thực tiễn để chuẩn hóa dữ liệu, dự đoán giá, phân cụm thị trường và xây dựng hệ gợi ý cá nhân hóa.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71625" y="1990725"/>
            <a:ext cx="15716250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2250">
                <a:solidFill>
                  <a:srgbClr val="0F172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Thị trường sôi động:</a:t>
            </a:r>
            <a:r>
              <a:rPr lang="en-US" sz="225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Giao dịch căn hộ tại TP.HCM rất lớn, hàng nghìn tin đăng mỗi ngày trên các nền tảng (chotot, batdongsan).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71625" y="3190875"/>
            <a:ext cx="15716250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2250">
                <a:solidFill>
                  <a:srgbClr val="0F172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Dữ liệu thô phức tạp:</a:t>
            </a:r>
            <a:r>
              <a:rPr lang="en-US" sz="225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Giá trị được ghi dưới dạng text (VD: "3,19 tỷ"), các trường quan trọng như hướng nhà, nội thất, pháp lý bị mã hóa (1-8, 1-4).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71625" y="4391025"/>
            <a:ext cx="15716250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2250">
                <a:solidFill>
                  <a:srgbClr val="0F172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Nhiễu &amp; Ngoại lệ (Outliers):</a:t>
            </a:r>
            <a:r>
              <a:rPr lang="en-US" sz="225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Tồn tại dữ liệu phi lý như căn hộ 1323m² (gấp 16 lần trung bình) hoặc căn hộ có tới 11 phòng ngủ.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71625" y="5591175"/>
            <a:ext cx="15716250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2250">
                <a:solidFill>
                  <a:srgbClr val="0F172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Dữ liệu khuyết thiếu (Missing data):</a:t>
            </a:r>
            <a:r>
              <a:rPr lang="en-US" sz="225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Tỷ lệ thiếu cao ở hướng nhà (79%), ban công (73%), nội thất (34%) đòi hỏi kỹ thuật Imputation phù hợp.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000125" y="2193131"/>
            <a:ext cx="314325" cy="328612"/>
            <a:chOff x="0" y="0"/>
            <a:chExt cx="419100" cy="438150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419100" cy="438150"/>
            </a:xfrm>
            <a:custGeom>
              <a:avLst/>
              <a:gdLst/>
              <a:ahLst/>
              <a:cxnLst/>
              <a:rect r="r" b="b" t="t" l="l"/>
              <a:pathLst>
                <a:path h="438150" w="419100">
                  <a:moveTo>
                    <a:pt x="0" y="0"/>
                  </a:moveTo>
                  <a:lnTo>
                    <a:pt x="419100" y="0"/>
                  </a:lnTo>
                  <a:lnTo>
                    <a:pt x="419100" y="438150"/>
                  </a:lnTo>
                  <a:lnTo>
                    <a:pt x="0" y="438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000125" y="3393281"/>
            <a:ext cx="314325" cy="328612"/>
            <a:chOff x="0" y="0"/>
            <a:chExt cx="419100" cy="438150"/>
          </a:xfrm>
        </p:grpSpPr>
        <p:sp>
          <p:nvSpPr>
            <p:cNvPr name="Freeform 17" id="17" descr="image.png"/>
            <p:cNvSpPr/>
            <p:nvPr/>
          </p:nvSpPr>
          <p:spPr>
            <a:xfrm flipH="false" flipV="false" rot="0">
              <a:off x="0" y="0"/>
              <a:ext cx="419100" cy="438150"/>
            </a:xfrm>
            <a:custGeom>
              <a:avLst/>
              <a:gdLst/>
              <a:ahLst/>
              <a:cxnLst/>
              <a:rect r="r" b="b" t="t" l="l"/>
              <a:pathLst>
                <a:path h="438150" w="419100">
                  <a:moveTo>
                    <a:pt x="0" y="0"/>
                  </a:moveTo>
                  <a:lnTo>
                    <a:pt x="419100" y="0"/>
                  </a:lnTo>
                  <a:lnTo>
                    <a:pt x="419100" y="438150"/>
                  </a:lnTo>
                  <a:lnTo>
                    <a:pt x="0" y="438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000125" y="4593431"/>
            <a:ext cx="357188" cy="328612"/>
            <a:chOff x="0" y="0"/>
            <a:chExt cx="476250" cy="438150"/>
          </a:xfrm>
        </p:grpSpPr>
        <p:sp>
          <p:nvSpPr>
            <p:cNvPr name="Freeform 19" id="19" descr="image.png"/>
            <p:cNvSpPr/>
            <p:nvPr/>
          </p:nvSpPr>
          <p:spPr>
            <a:xfrm flipH="false" flipV="false" rot="0">
              <a:off x="0" y="0"/>
              <a:ext cx="476250" cy="438150"/>
            </a:xfrm>
            <a:custGeom>
              <a:avLst/>
              <a:gdLst/>
              <a:ahLst/>
              <a:cxnLst/>
              <a:rect r="r" b="b" t="t" l="l"/>
              <a:pathLst>
                <a:path h="438150" w="476250">
                  <a:moveTo>
                    <a:pt x="0" y="0"/>
                  </a:moveTo>
                  <a:lnTo>
                    <a:pt x="476250" y="0"/>
                  </a:lnTo>
                  <a:lnTo>
                    <a:pt x="476250" y="438150"/>
                  </a:lnTo>
                  <a:lnTo>
                    <a:pt x="0" y="438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000125" y="5793581"/>
            <a:ext cx="314325" cy="328612"/>
            <a:chOff x="0" y="0"/>
            <a:chExt cx="419100" cy="438150"/>
          </a:xfrm>
        </p:grpSpPr>
        <p:sp>
          <p:nvSpPr>
            <p:cNvPr name="Freeform 21" id="21" descr="image.png"/>
            <p:cNvSpPr/>
            <p:nvPr/>
          </p:nvSpPr>
          <p:spPr>
            <a:xfrm flipH="false" flipV="false" rot="0">
              <a:off x="0" y="0"/>
              <a:ext cx="419100" cy="438150"/>
            </a:xfrm>
            <a:custGeom>
              <a:avLst/>
              <a:gdLst/>
              <a:ahLst/>
              <a:cxnLst/>
              <a:rect r="r" b="b" t="t" l="l"/>
              <a:pathLst>
                <a:path h="438150" w="419100">
                  <a:moveTo>
                    <a:pt x="0" y="0"/>
                  </a:moveTo>
                  <a:lnTo>
                    <a:pt x="419100" y="0"/>
                  </a:lnTo>
                  <a:lnTo>
                    <a:pt x="419100" y="438150"/>
                  </a:lnTo>
                  <a:lnTo>
                    <a:pt x="0" y="438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000125" y="714375"/>
            <a:ext cx="17102138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0"/>
              </a:lnSpc>
            </a:pPr>
            <a:r>
              <a:rPr lang="en-US" b="true" sz="4275">
                <a:solidFill>
                  <a:srgbClr val="0F172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LÝ DO CHỌN ĐỀ TÀI &amp; VẤN ĐỀ DỮ LIỆU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000125" y="1528762"/>
            <a:ext cx="16287750" cy="42862"/>
            <a:chOff x="0" y="0"/>
            <a:chExt cx="21717000" cy="571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717000" cy="57150"/>
            </a:xfrm>
            <a:custGeom>
              <a:avLst/>
              <a:gdLst/>
              <a:ahLst/>
              <a:cxnLst/>
              <a:rect r="r" b="b" t="t" l="l"/>
              <a:pathLst>
                <a:path h="57150" w="21717000">
                  <a:moveTo>
                    <a:pt x="0" y="0"/>
                  </a:moveTo>
                  <a:lnTo>
                    <a:pt x="21717000" y="0"/>
                  </a:lnTo>
                  <a:lnTo>
                    <a:pt x="217170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0284C7"/>
            </a:solid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-128588"/>
            <a:ext cx="18288000" cy="10287000"/>
            <a:chOff x="0" y="0"/>
            <a:chExt cx="24384000" cy="13716000"/>
          </a:xfrm>
        </p:grpSpPr>
        <p:sp>
          <p:nvSpPr>
            <p:cNvPr name="Freeform 4" id="4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429750" y="2131219"/>
            <a:ext cx="7858125" cy="5829300"/>
            <a:chOff x="0" y="0"/>
            <a:chExt cx="10477500" cy="7772400"/>
          </a:xfrm>
        </p:grpSpPr>
        <p:sp>
          <p:nvSpPr>
            <p:cNvPr name="Freeform 6" id="6" descr="image.png"/>
            <p:cNvSpPr/>
            <p:nvPr/>
          </p:nvSpPr>
          <p:spPr>
            <a:xfrm flipH="false" flipV="false" rot="0">
              <a:off x="0" y="0"/>
              <a:ext cx="10477500" cy="7772400"/>
            </a:xfrm>
            <a:custGeom>
              <a:avLst/>
              <a:gdLst/>
              <a:ahLst/>
              <a:cxnLst/>
              <a:rect r="r" b="b" t="t" l="l"/>
              <a:pathLst>
                <a:path h="7772400" w="10477500">
                  <a:moveTo>
                    <a:pt x="0" y="0"/>
                  </a:moveTo>
                  <a:lnTo>
                    <a:pt x="10477500" y="0"/>
                  </a:lnTo>
                  <a:lnTo>
                    <a:pt x="10477500" y="7772400"/>
                  </a:lnTo>
                  <a:lnTo>
                    <a:pt x="0" y="7772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00125" y="2143125"/>
            <a:ext cx="7858125" cy="5829300"/>
            <a:chOff x="0" y="0"/>
            <a:chExt cx="10477500" cy="7772400"/>
          </a:xfrm>
        </p:grpSpPr>
        <p:sp>
          <p:nvSpPr>
            <p:cNvPr name="Freeform 8" id="8" descr="image.png"/>
            <p:cNvSpPr/>
            <p:nvPr/>
          </p:nvSpPr>
          <p:spPr>
            <a:xfrm flipH="false" flipV="false" rot="0">
              <a:off x="0" y="0"/>
              <a:ext cx="10477500" cy="7772400"/>
            </a:xfrm>
            <a:custGeom>
              <a:avLst/>
              <a:gdLst/>
              <a:ahLst/>
              <a:cxnLst/>
              <a:rect r="r" b="b" t="t" l="l"/>
              <a:pathLst>
                <a:path h="7772400" w="10477500">
                  <a:moveTo>
                    <a:pt x="0" y="0"/>
                  </a:moveTo>
                  <a:lnTo>
                    <a:pt x="10477500" y="0"/>
                  </a:lnTo>
                  <a:lnTo>
                    <a:pt x="10477500" y="7772400"/>
                  </a:lnTo>
                  <a:lnTo>
                    <a:pt x="0" y="7772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000125" y="9515475"/>
            <a:ext cx="16287750" cy="414338"/>
            <a:chOff x="0" y="0"/>
            <a:chExt cx="21717000" cy="55245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21717000" cy="552450"/>
            </a:xfrm>
            <a:custGeom>
              <a:avLst/>
              <a:gdLst/>
              <a:ahLst/>
              <a:cxnLst/>
              <a:rect r="r" b="b" t="t" l="l"/>
              <a:pathLst>
                <a:path h="552450" w="21717000">
                  <a:moveTo>
                    <a:pt x="0" y="0"/>
                  </a:moveTo>
                  <a:lnTo>
                    <a:pt x="21717000" y="0"/>
                  </a:lnTo>
                  <a:lnTo>
                    <a:pt x="21717000" y="552450"/>
                  </a:lnTo>
                  <a:lnTo>
                    <a:pt x="0" y="552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000125" y="9672638"/>
            <a:ext cx="3271838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Nguyễn Minh Huy - 2582003023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159162" y="9672638"/>
            <a:ext cx="112871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Slide 5 / 24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43037" y="3293864"/>
            <a:ext cx="7320915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Mục Đích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872662" y="3293864"/>
            <a:ext cx="7320915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Phương Pháp &amp; Phạm Vi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443038" y="2550319"/>
            <a:ext cx="514350" cy="514350"/>
            <a:chOff x="0" y="0"/>
            <a:chExt cx="685800" cy="685800"/>
          </a:xfrm>
        </p:grpSpPr>
        <p:sp>
          <p:nvSpPr>
            <p:cNvPr name="Freeform 16" id="16" descr="image.png"/>
            <p:cNvSpPr/>
            <p:nvPr/>
          </p:nvSpPr>
          <p:spPr>
            <a:xfrm flipH="false" flipV="false" rot="0">
              <a:off x="0" y="0"/>
              <a:ext cx="685800" cy="685800"/>
            </a:xfrm>
            <a:custGeom>
              <a:avLst/>
              <a:gdLst/>
              <a:ahLst/>
              <a:cxnLst/>
              <a:rect r="r" b="b" t="t" l="l"/>
              <a:pathLst>
                <a:path h="685800" w="685800">
                  <a:moveTo>
                    <a:pt x="0" y="0"/>
                  </a:moveTo>
                  <a:lnTo>
                    <a:pt x="685800" y="0"/>
                  </a:lnTo>
                  <a:lnTo>
                    <a:pt x="6858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872662" y="2550319"/>
            <a:ext cx="514350" cy="514350"/>
            <a:chOff x="0" y="0"/>
            <a:chExt cx="685800" cy="685800"/>
          </a:xfrm>
        </p:grpSpPr>
        <p:sp>
          <p:nvSpPr>
            <p:cNvPr name="Freeform 18" id="18" descr="image.png"/>
            <p:cNvSpPr/>
            <p:nvPr/>
          </p:nvSpPr>
          <p:spPr>
            <a:xfrm flipH="false" flipV="false" rot="0">
              <a:off x="0" y="0"/>
              <a:ext cx="685800" cy="685800"/>
            </a:xfrm>
            <a:custGeom>
              <a:avLst/>
              <a:gdLst/>
              <a:ahLst/>
              <a:cxnLst/>
              <a:rect r="r" b="b" t="t" l="l"/>
              <a:pathLst>
                <a:path h="685800" w="685800">
                  <a:moveTo>
                    <a:pt x="0" y="0"/>
                  </a:moveTo>
                  <a:lnTo>
                    <a:pt x="685800" y="0"/>
                  </a:lnTo>
                  <a:lnTo>
                    <a:pt x="6858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2014538" y="3821906"/>
            <a:ext cx="6400800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Làm sạch &amp; chuẩn hóa dữ liệu, xử lý Outliers.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014538" y="4564856"/>
            <a:ext cx="6546975" cy="489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Huấn luyện ML dự đoán giá/m² (Linear, RF, GBR).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014538" y="5321141"/>
            <a:ext cx="6400800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Phân khúc thị trường bằng K-Means (tự động chọn K).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014538" y="6654641"/>
            <a:ext cx="6400800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Phát triển hệ gợi ý (Hybrid Filter) Top-5 tin đăng.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444162" y="3657600"/>
            <a:ext cx="6400800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Quy trình CRISP-DM 9 bước với Python (Pandas, Sklearn).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444162" y="4857750"/>
            <a:ext cx="6400800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5-fold Cross-Validation trên tập Train, Test size 20%.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444162" y="6057900"/>
            <a:ext cx="6400800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Sau làm sạch: 1.773 dòng dữ liệu chất lượng.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444162" y="6800850"/>
            <a:ext cx="6400800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Bổ sung nguồn phụ: 91 dòng tiện ích (OSM) theo phường.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443038" y="3974306"/>
            <a:ext cx="271462" cy="328612"/>
            <a:chOff x="0" y="0"/>
            <a:chExt cx="361950" cy="438150"/>
          </a:xfrm>
        </p:grpSpPr>
        <p:sp>
          <p:nvSpPr>
            <p:cNvPr name="Freeform 28" id="28" descr="image.png"/>
            <p:cNvSpPr/>
            <p:nvPr/>
          </p:nvSpPr>
          <p:spPr>
            <a:xfrm flipH="false" flipV="false" rot="0">
              <a:off x="0" y="0"/>
              <a:ext cx="361950" cy="438150"/>
            </a:xfrm>
            <a:custGeom>
              <a:avLst/>
              <a:gdLst/>
              <a:ahLst/>
              <a:cxnLst/>
              <a:rect r="r" b="b" t="t" l="l"/>
              <a:pathLst>
                <a:path h="438150" w="361950">
                  <a:moveTo>
                    <a:pt x="0" y="0"/>
                  </a:moveTo>
                  <a:lnTo>
                    <a:pt x="361950" y="0"/>
                  </a:lnTo>
                  <a:lnTo>
                    <a:pt x="361950" y="438150"/>
                  </a:lnTo>
                  <a:lnTo>
                    <a:pt x="0" y="438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443038" y="4717256"/>
            <a:ext cx="271462" cy="328612"/>
            <a:chOff x="0" y="0"/>
            <a:chExt cx="361950" cy="438150"/>
          </a:xfrm>
        </p:grpSpPr>
        <p:sp>
          <p:nvSpPr>
            <p:cNvPr name="Freeform 30" id="30" descr="image.png"/>
            <p:cNvSpPr/>
            <p:nvPr/>
          </p:nvSpPr>
          <p:spPr>
            <a:xfrm flipH="false" flipV="false" rot="0">
              <a:off x="0" y="0"/>
              <a:ext cx="361950" cy="438150"/>
            </a:xfrm>
            <a:custGeom>
              <a:avLst/>
              <a:gdLst/>
              <a:ahLst/>
              <a:cxnLst/>
              <a:rect r="r" b="b" t="t" l="l"/>
              <a:pathLst>
                <a:path h="438150" w="361950">
                  <a:moveTo>
                    <a:pt x="0" y="0"/>
                  </a:moveTo>
                  <a:lnTo>
                    <a:pt x="361950" y="0"/>
                  </a:lnTo>
                  <a:lnTo>
                    <a:pt x="361950" y="438150"/>
                  </a:lnTo>
                  <a:lnTo>
                    <a:pt x="0" y="438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443038" y="5473541"/>
            <a:ext cx="271462" cy="328612"/>
            <a:chOff x="0" y="0"/>
            <a:chExt cx="361950" cy="438150"/>
          </a:xfrm>
        </p:grpSpPr>
        <p:sp>
          <p:nvSpPr>
            <p:cNvPr name="Freeform 32" id="32" descr="image.png"/>
            <p:cNvSpPr/>
            <p:nvPr/>
          </p:nvSpPr>
          <p:spPr>
            <a:xfrm flipH="false" flipV="false" rot="0">
              <a:off x="0" y="0"/>
              <a:ext cx="361950" cy="438150"/>
            </a:xfrm>
            <a:custGeom>
              <a:avLst/>
              <a:gdLst/>
              <a:ahLst/>
              <a:cxnLst/>
              <a:rect r="r" b="b" t="t" l="l"/>
              <a:pathLst>
                <a:path h="438150" w="361950">
                  <a:moveTo>
                    <a:pt x="0" y="0"/>
                  </a:moveTo>
                  <a:lnTo>
                    <a:pt x="361950" y="0"/>
                  </a:lnTo>
                  <a:lnTo>
                    <a:pt x="361950" y="438150"/>
                  </a:lnTo>
                  <a:lnTo>
                    <a:pt x="0" y="438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443038" y="6807041"/>
            <a:ext cx="271462" cy="328612"/>
            <a:chOff x="0" y="0"/>
            <a:chExt cx="361950" cy="438150"/>
          </a:xfrm>
        </p:grpSpPr>
        <p:sp>
          <p:nvSpPr>
            <p:cNvPr name="Freeform 34" id="34" descr="image.png"/>
            <p:cNvSpPr/>
            <p:nvPr/>
          </p:nvSpPr>
          <p:spPr>
            <a:xfrm flipH="false" flipV="false" rot="0">
              <a:off x="0" y="0"/>
              <a:ext cx="361950" cy="438150"/>
            </a:xfrm>
            <a:custGeom>
              <a:avLst/>
              <a:gdLst/>
              <a:ahLst/>
              <a:cxnLst/>
              <a:rect r="r" b="b" t="t" l="l"/>
              <a:pathLst>
                <a:path h="438150" w="361950">
                  <a:moveTo>
                    <a:pt x="0" y="0"/>
                  </a:moveTo>
                  <a:lnTo>
                    <a:pt x="361950" y="0"/>
                  </a:lnTo>
                  <a:lnTo>
                    <a:pt x="361950" y="438150"/>
                  </a:lnTo>
                  <a:lnTo>
                    <a:pt x="0" y="438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9872662" y="3810000"/>
            <a:ext cx="314325" cy="328612"/>
            <a:chOff x="0" y="0"/>
            <a:chExt cx="419100" cy="438150"/>
          </a:xfrm>
        </p:grpSpPr>
        <p:sp>
          <p:nvSpPr>
            <p:cNvPr name="Freeform 36" id="36" descr="image.png"/>
            <p:cNvSpPr/>
            <p:nvPr/>
          </p:nvSpPr>
          <p:spPr>
            <a:xfrm flipH="false" flipV="false" rot="0">
              <a:off x="0" y="0"/>
              <a:ext cx="419100" cy="438150"/>
            </a:xfrm>
            <a:custGeom>
              <a:avLst/>
              <a:gdLst/>
              <a:ahLst/>
              <a:cxnLst/>
              <a:rect r="r" b="b" t="t" l="l"/>
              <a:pathLst>
                <a:path h="438150" w="419100">
                  <a:moveTo>
                    <a:pt x="0" y="0"/>
                  </a:moveTo>
                  <a:lnTo>
                    <a:pt x="419100" y="0"/>
                  </a:lnTo>
                  <a:lnTo>
                    <a:pt x="419100" y="438150"/>
                  </a:lnTo>
                  <a:lnTo>
                    <a:pt x="0" y="438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9872662" y="5010150"/>
            <a:ext cx="314325" cy="328612"/>
            <a:chOff x="0" y="0"/>
            <a:chExt cx="419100" cy="438150"/>
          </a:xfrm>
        </p:grpSpPr>
        <p:sp>
          <p:nvSpPr>
            <p:cNvPr name="Freeform 38" id="38" descr="image.png"/>
            <p:cNvSpPr/>
            <p:nvPr/>
          </p:nvSpPr>
          <p:spPr>
            <a:xfrm flipH="false" flipV="false" rot="0">
              <a:off x="0" y="0"/>
              <a:ext cx="419100" cy="438150"/>
            </a:xfrm>
            <a:custGeom>
              <a:avLst/>
              <a:gdLst/>
              <a:ahLst/>
              <a:cxnLst/>
              <a:rect r="r" b="b" t="t" l="l"/>
              <a:pathLst>
                <a:path h="438150" w="419100">
                  <a:moveTo>
                    <a:pt x="0" y="0"/>
                  </a:moveTo>
                  <a:lnTo>
                    <a:pt x="419100" y="0"/>
                  </a:lnTo>
                  <a:lnTo>
                    <a:pt x="419100" y="438150"/>
                  </a:lnTo>
                  <a:lnTo>
                    <a:pt x="0" y="438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9872662" y="6210300"/>
            <a:ext cx="314325" cy="328612"/>
            <a:chOff x="0" y="0"/>
            <a:chExt cx="419100" cy="438150"/>
          </a:xfrm>
        </p:grpSpPr>
        <p:sp>
          <p:nvSpPr>
            <p:cNvPr name="Freeform 40" id="40" descr="image.png"/>
            <p:cNvSpPr/>
            <p:nvPr/>
          </p:nvSpPr>
          <p:spPr>
            <a:xfrm flipH="false" flipV="false" rot="0">
              <a:off x="0" y="0"/>
              <a:ext cx="419100" cy="438150"/>
            </a:xfrm>
            <a:custGeom>
              <a:avLst/>
              <a:gdLst/>
              <a:ahLst/>
              <a:cxnLst/>
              <a:rect r="r" b="b" t="t" l="l"/>
              <a:pathLst>
                <a:path h="438150" w="419100">
                  <a:moveTo>
                    <a:pt x="0" y="0"/>
                  </a:moveTo>
                  <a:lnTo>
                    <a:pt x="419100" y="0"/>
                  </a:lnTo>
                  <a:lnTo>
                    <a:pt x="419100" y="438150"/>
                  </a:lnTo>
                  <a:lnTo>
                    <a:pt x="0" y="438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9872662" y="6953250"/>
            <a:ext cx="314325" cy="328612"/>
            <a:chOff x="0" y="0"/>
            <a:chExt cx="419100" cy="438150"/>
          </a:xfrm>
        </p:grpSpPr>
        <p:sp>
          <p:nvSpPr>
            <p:cNvPr name="Freeform 42" id="42" descr="image.png"/>
            <p:cNvSpPr/>
            <p:nvPr/>
          </p:nvSpPr>
          <p:spPr>
            <a:xfrm flipH="false" flipV="false" rot="0">
              <a:off x="0" y="0"/>
              <a:ext cx="419100" cy="438150"/>
            </a:xfrm>
            <a:custGeom>
              <a:avLst/>
              <a:gdLst/>
              <a:ahLst/>
              <a:cxnLst/>
              <a:rect r="r" b="b" t="t" l="l"/>
              <a:pathLst>
                <a:path h="438150" w="419100">
                  <a:moveTo>
                    <a:pt x="0" y="0"/>
                  </a:moveTo>
                  <a:lnTo>
                    <a:pt x="419100" y="0"/>
                  </a:lnTo>
                  <a:lnTo>
                    <a:pt x="419100" y="438150"/>
                  </a:lnTo>
                  <a:lnTo>
                    <a:pt x="0" y="438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sp>
        <p:nvSpPr>
          <p:cNvPr name="TextBox 43" id="43"/>
          <p:cNvSpPr txBox="true"/>
          <p:nvPr/>
        </p:nvSpPr>
        <p:spPr>
          <a:xfrm rot="0">
            <a:off x="1000125" y="714375"/>
            <a:ext cx="17102138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0"/>
              </a:lnSpc>
            </a:pPr>
            <a:r>
              <a:rPr lang="en-US" b="true" sz="4275">
                <a:solidFill>
                  <a:srgbClr val="0F172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MỤC ĐÍCH &amp; PHƯƠNG PHÁP NGHIÊN CỨU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1000125" y="1528762"/>
            <a:ext cx="16287750" cy="42862"/>
            <a:chOff x="0" y="0"/>
            <a:chExt cx="21717000" cy="5715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1717000" cy="57150"/>
            </a:xfrm>
            <a:custGeom>
              <a:avLst/>
              <a:gdLst/>
              <a:ahLst/>
              <a:cxnLst/>
              <a:rect r="r" b="b" t="t" l="l"/>
              <a:pathLst>
                <a:path h="57150" w="21717000">
                  <a:moveTo>
                    <a:pt x="0" y="0"/>
                  </a:moveTo>
                  <a:lnTo>
                    <a:pt x="21717000" y="0"/>
                  </a:lnTo>
                  <a:lnTo>
                    <a:pt x="217170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0284C7"/>
            </a:solid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00125" y="3318643"/>
            <a:ext cx="16287750" cy="739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82"/>
              </a:lnSpc>
            </a:pPr>
            <a:r>
              <a:rPr lang="en-US" sz="270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CHƯƠNG 1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286750" y="4486275"/>
            <a:ext cx="1714500" cy="85725"/>
            <a:chOff x="0" y="0"/>
            <a:chExt cx="2286000" cy="1143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86000" cy="114300"/>
            </a:xfrm>
            <a:custGeom>
              <a:avLst/>
              <a:gdLst/>
              <a:ahLst/>
              <a:cxnLst/>
              <a:rect r="r" b="b" t="t" l="l"/>
              <a:pathLst>
                <a:path h="114300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11430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0284C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4812655" y="5000625"/>
            <a:ext cx="8662690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89"/>
              </a:lnSpc>
            </a:pPr>
            <a:r>
              <a:rPr lang="en-US" b="true" sz="6075">
                <a:solidFill>
                  <a:srgbClr val="0F172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GIỚI THIỆU BÀI TOÁN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00125" y="6038850"/>
            <a:ext cx="16287750" cy="739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82"/>
              </a:lnSpc>
            </a:pPr>
            <a:r>
              <a:rPr lang="en-US" sz="270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Xác định 6 câu hỏi nghiên cứu trọng tâm và Từ điển Dữ liệu (Data Dictionary)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00125" y="9515475"/>
            <a:ext cx="16287750" cy="414338"/>
            <a:chOff x="0" y="0"/>
            <a:chExt cx="21717000" cy="55245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21717000" cy="552450"/>
            </a:xfrm>
            <a:custGeom>
              <a:avLst/>
              <a:gdLst/>
              <a:ahLst/>
              <a:cxnLst/>
              <a:rect r="r" b="b" t="t" l="l"/>
              <a:pathLst>
                <a:path h="552450" w="21717000">
                  <a:moveTo>
                    <a:pt x="0" y="0"/>
                  </a:moveTo>
                  <a:lnTo>
                    <a:pt x="21717000" y="0"/>
                  </a:lnTo>
                  <a:lnTo>
                    <a:pt x="21717000" y="552450"/>
                  </a:lnTo>
                  <a:lnTo>
                    <a:pt x="0" y="552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00125" y="9672638"/>
            <a:ext cx="3271838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Nguyễn Minh Huy - 2582003023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144875" y="9672638"/>
            <a:ext cx="1079004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Slide 6 / 24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00125" y="2143125"/>
            <a:ext cx="5286375" cy="1788614"/>
            <a:chOff x="0" y="0"/>
            <a:chExt cx="7048500" cy="2384819"/>
          </a:xfrm>
        </p:grpSpPr>
        <p:sp>
          <p:nvSpPr>
            <p:cNvPr name="Freeform 4" id="4" descr="image.png"/>
            <p:cNvSpPr/>
            <p:nvPr/>
          </p:nvSpPr>
          <p:spPr>
            <a:xfrm flipH="false" flipV="false" rot="0">
              <a:off x="0" y="0"/>
              <a:ext cx="7048500" cy="2384806"/>
            </a:xfrm>
            <a:custGeom>
              <a:avLst/>
              <a:gdLst/>
              <a:ahLst/>
              <a:cxnLst/>
              <a:rect r="r" b="b" t="t" l="l"/>
              <a:pathLst>
                <a:path h="2384806" w="7048500">
                  <a:moveTo>
                    <a:pt x="0" y="0"/>
                  </a:moveTo>
                  <a:lnTo>
                    <a:pt x="7048500" y="0"/>
                  </a:lnTo>
                  <a:lnTo>
                    <a:pt x="7048500" y="2384806"/>
                  </a:lnTo>
                  <a:lnTo>
                    <a:pt x="0" y="23848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649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6500812" y="2143125"/>
            <a:ext cx="5286375" cy="1788614"/>
            <a:chOff x="0" y="0"/>
            <a:chExt cx="7048500" cy="2384819"/>
          </a:xfrm>
        </p:grpSpPr>
        <p:sp>
          <p:nvSpPr>
            <p:cNvPr name="Freeform 6" id="6" descr="image.png"/>
            <p:cNvSpPr/>
            <p:nvPr/>
          </p:nvSpPr>
          <p:spPr>
            <a:xfrm flipH="false" flipV="false" rot="0">
              <a:off x="0" y="0"/>
              <a:ext cx="7048500" cy="2384806"/>
            </a:xfrm>
            <a:custGeom>
              <a:avLst/>
              <a:gdLst/>
              <a:ahLst/>
              <a:cxnLst/>
              <a:rect r="r" b="b" t="t" l="l"/>
              <a:pathLst>
                <a:path h="2384806" w="7048500">
                  <a:moveTo>
                    <a:pt x="0" y="0"/>
                  </a:moveTo>
                  <a:lnTo>
                    <a:pt x="7048500" y="0"/>
                  </a:lnTo>
                  <a:lnTo>
                    <a:pt x="7048500" y="2384806"/>
                  </a:lnTo>
                  <a:lnTo>
                    <a:pt x="0" y="23848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649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2001500" y="2143125"/>
            <a:ext cx="5286375" cy="1788614"/>
            <a:chOff x="0" y="0"/>
            <a:chExt cx="7048500" cy="2384819"/>
          </a:xfrm>
        </p:grpSpPr>
        <p:sp>
          <p:nvSpPr>
            <p:cNvPr name="Freeform 8" id="8" descr="image.png"/>
            <p:cNvSpPr/>
            <p:nvPr/>
          </p:nvSpPr>
          <p:spPr>
            <a:xfrm flipH="false" flipV="false" rot="0">
              <a:off x="0" y="0"/>
              <a:ext cx="7048500" cy="2384806"/>
            </a:xfrm>
            <a:custGeom>
              <a:avLst/>
              <a:gdLst/>
              <a:ahLst/>
              <a:cxnLst/>
              <a:rect r="r" b="b" t="t" l="l"/>
              <a:pathLst>
                <a:path h="2384806" w="7048500">
                  <a:moveTo>
                    <a:pt x="0" y="0"/>
                  </a:moveTo>
                  <a:lnTo>
                    <a:pt x="7048500" y="0"/>
                  </a:lnTo>
                  <a:lnTo>
                    <a:pt x="7048500" y="2384806"/>
                  </a:lnTo>
                  <a:lnTo>
                    <a:pt x="0" y="23848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649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000125" y="4146052"/>
            <a:ext cx="5286375" cy="1788614"/>
            <a:chOff x="0" y="0"/>
            <a:chExt cx="7048500" cy="2384819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7048500" cy="2384806"/>
            </a:xfrm>
            <a:custGeom>
              <a:avLst/>
              <a:gdLst/>
              <a:ahLst/>
              <a:cxnLst/>
              <a:rect r="r" b="b" t="t" l="l"/>
              <a:pathLst>
                <a:path h="2384806" w="7048500">
                  <a:moveTo>
                    <a:pt x="0" y="0"/>
                  </a:moveTo>
                  <a:lnTo>
                    <a:pt x="7048500" y="0"/>
                  </a:lnTo>
                  <a:lnTo>
                    <a:pt x="7048500" y="2384806"/>
                  </a:lnTo>
                  <a:lnTo>
                    <a:pt x="0" y="23848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649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6500812" y="4146052"/>
            <a:ext cx="5286375" cy="1788614"/>
            <a:chOff x="0" y="0"/>
            <a:chExt cx="7048500" cy="2384819"/>
          </a:xfrm>
        </p:grpSpPr>
        <p:sp>
          <p:nvSpPr>
            <p:cNvPr name="Freeform 12" id="12" descr="image.png"/>
            <p:cNvSpPr/>
            <p:nvPr/>
          </p:nvSpPr>
          <p:spPr>
            <a:xfrm flipH="false" flipV="false" rot="0">
              <a:off x="0" y="0"/>
              <a:ext cx="7048500" cy="2384806"/>
            </a:xfrm>
            <a:custGeom>
              <a:avLst/>
              <a:gdLst/>
              <a:ahLst/>
              <a:cxnLst/>
              <a:rect r="r" b="b" t="t" l="l"/>
              <a:pathLst>
                <a:path h="2384806" w="7048500">
                  <a:moveTo>
                    <a:pt x="0" y="0"/>
                  </a:moveTo>
                  <a:lnTo>
                    <a:pt x="7048500" y="0"/>
                  </a:lnTo>
                  <a:lnTo>
                    <a:pt x="7048500" y="2384806"/>
                  </a:lnTo>
                  <a:lnTo>
                    <a:pt x="0" y="23848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649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2001500" y="4146052"/>
            <a:ext cx="5286375" cy="1788614"/>
            <a:chOff x="0" y="0"/>
            <a:chExt cx="7048500" cy="2384819"/>
          </a:xfrm>
        </p:grpSpPr>
        <p:sp>
          <p:nvSpPr>
            <p:cNvPr name="Freeform 14" id="14" descr="image.png"/>
            <p:cNvSpPr/>
            <p:nvPr/>
          </p:nvSpPr>
          <p:spPr>
            <a:xfrm flipH="false" flipV="false" rot="0">
              <a:off x="0" y="0"/>
              <a:ext cx="7048500" cy="2384806"/>
            </a:xfrm>
            <a:custGeom>
              <a:avLst/>
              <a:gdLst/>
              <a:ahLst/>
              <a:cxnLst/>
              <a:rect r="r" b="b" t="t" l="l"/>
              <a:pathLst>
                <a:path h="2384806" w="7048500">
                  <a:moveTo>
                    <a:pt x="0" y="0"/>
                  </a:moveTo>
                  <a:lnTo>
                    <a:pt x="7048500" y="0"/>
                  </a:lnTo>
                  <a:lnTo>
                    <a:pt x="7048500" y="2384806"/>
                  </a:lnTo>
                  <a:lnTo>
                    <a:pt x="0" y="23848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649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000125" y="9515475"/>
            <a:ext cx="16287750" cy="414338"/>
            <a:chOff x="0" y="0"/>
            <a:chExt cx="21717000" cy="552450"/>
          </a:xfrm>
        </p:grpSpPr>
        <p:sp>
          <p:nvSpPr>
            <p:cNvPr name="Freeform 16" id="16" descr="image.png"/>
            <p:cNvSpPr/>
            <p:nvPr/>
          </p:nvSpPr>
          <p:spPr>
            <a:xfrm flipH="false" flipV="false" rot="0">
              <a:off x="0" y="0"/>
              <a:ext cx="21717000" cy="552450"/>
            </a:xfrm>
            <a:custGeom>
              <a:avLst/>
              <a:gdLst/>
              <a:ahLst/>
              <a:cxnLst/>
              <a:rect r="r" b="b" t="t" l="l"/>
              <a:pathLst>
                <a:path h="552450" w="21717000">
                  <a:moveTo>
                    <a:pt x="0" y="0"/>
                  </a:moveTo>
                  <a:lnTo>
                    <a:pt x="21717000" y="0"/>
                  </a:lnTo>
                  <a:lnTo>
                    <a:pt x="21717000" y="552450"/>
                  </a:lnTo>
                  <a:lnTo>
                    <a:pt x="0" y="552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00125" y="9672638"/>
            <a:ext cx="3271838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Nguyễn Minh Huy - 2582003023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144875" y="9672638"/>
            <a:ext cx="1143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Slide 7 / 24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00162" y="2476500"/>
            <a:ext cx="4920615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C1: Giá Khu Vực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00162" y="2786062"/>
            <a:ext cx="4686300" cy="845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6"/>
              </a:lnSpc>
            </a:pPr>
            <a:r>
              <a:rPr lang="en-US" sz="180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Trong 6 quận khảo sát, khu vực nào có giá/m² cao nhất và thấp nhất?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800850" y="2476500"/>
            <a:ext cx="4920615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C2: Thuộc Tính Cốt Lõi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800850" y="2786062"/>
            <a:ext cx="4686300" cy="845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6"/>
              </a:lnSpc>
            </a:pPr>
            <a:r>
              <a:rPr lang="en-US" sz="180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Diện tích và số phòng ngủ ảnh hưởng thế nào đến giá/m²?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301538" y="2476500"/>
            <a:ext cx="4920615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C3: Yếu Tố Phụ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301538" y="2786062"/>
            <a:ext cx="4686300" cy="845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6"/>
              </a:lnSpc>
            </a:pPr>
            <a:r>
              <a:rPr lang="en-US" sz="180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Hướng nhà, ban công, nội thất, pháp lý liên hệ thống kê ra sao với giá?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00162" y="4479427"/>
            <a:ext cx="4920615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C4: Hiệu Suất Mô Hình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00162" y="4788989"/>
            <a:ext cx="4686300" cy="845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6"/>
              </a:lnSpc>
            </a:pPr>
            <a:r>
              <a:rPr lang="en-US" sz="180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Mô hình dự đoán đạt mức độ chính xác (MAE, RMSE, R²) nào trên tập test?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800850" y="4479427"/>
            <a:ext cx="4920615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C5: Phân Khúc (Clustering)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800850" y="4788989"/>
            <a:ext cx="4686300" cy="845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6"/>
              </a:lnSpc>
            </a:pPr>
            <a:r>
              <a:rPr lang="en-US" sz="180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Thị trường căn hộ TP.HCM có thể phân thành bao nhiêu phân khúc tối ưu?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301538" y="4479427"/>
            <a:ext cx="4920615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C6: Hệ Gợi Ý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301538" y="4788989"/>
            <a:ext cx="4686300" cy="845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6"/>
              </a:lnSpc>
            </a:pPr>
            <a:r>
              <a:rPr lang="en-US" sz="180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Hệ thống có đề xuất đúng Top-5 tin đăng theo hồ sơ nhu cầu người dùng?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00125" y="714375"/>
            <a:ext cx="17102138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0"/>
              </a:lnSpc>
            </a:pPr>
            <a:r>
              <a:rPr lang="en-US" b="true" sz="4275">
                <a:solidFill>
                  <a:srgbClr val="0F172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6 CÂU HỎI NGHIÊN CỨU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000125" y="1528762"/>
            <a:ext cx="16287750" cy="42862"/>
            <a:chOff x="0" y="0"/>
            <a:chExt cx="21717000" cy="5715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1717000" cy="57150"/>
            </a:xfrm>
            <a:custGeom>
              <a:avLst/>
              <a:gdLst/>
              <a:ahLst/>
              <a:cxnLst/>
              <a:rect r="r" b="b" t="t" l="l"/>
              <a:pathLst>
                <a:path h="57150" w="21717000">
                  <a:moveTo>
                    <a:pt x="0" y="0"/>
                  </a:moveTo>
                  <a:lnTo>
                    <a:pt x="21717000" y="0"/>
                  </a:lnTo>
                  <a:lnTo>
                    <a:pt x="217170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0284C7"/>
            </a:solid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00125" y="9515475"/>
            <a:ext cx="16287750" cy="414338"/>
            <a:chOff x="0" y="0"/>
            <a:chExt cx="21717000" cy="552450"/>
          </a:xfrm>
        </p:grpSpPr>
        <p:sp>
          <p:nvSpPr>
            <p:cNvPr name="Freeform 4" id="4" descr="image.png"/>
            <p:cNvSpPr/>
            <p:nvPr/>
          </p:nvSpPr>
          <p:spPr>
            <a:xfrm flipH="false" flipV="false" rot="0">
              <a:off x="0" y="0"/>
              <a:ext cx="21717000" cy="552450"/>
            </a:xfrm>
            <a:custGeom>
              <a:avLst/>
              <a:gdLst/>
              <a:ahLst/>
              <a:cxnLst/>
              <a:rect r="r" b="b" t="t" l="l"/>
              <a:pathLst>
                <a:path h="552450" w="21717000">
                  <a:moveTo>
                    <a:pt x="0" y="0"/>
                  </a:moveTo>
                  <a:lnTo>
                    <a:pt x="21717000" y="0"/>
                  </a:lnTo>
                  <a:lnTo>
                    <a:pt x="21717000" y="552450"/>
                  </a:lnTo>
                  <a:lnTo>
                    <a:pt x="0" y="552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00125" y="9672638"/>
            <a:ext cx="3271838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Nguyễn Minh Huy - 2582003023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144875" y="9672638"/>
            <a:ext cx="1143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Slide 8 / 24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2981" y="2135981"/>
            <a:ext cx="16302038" cy="6605292"/>
            <a:chOff x="0" y="0"/>
            <a:chExt cx="21736050" cy="880705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736050" cy="8807069"/>
            </a:xfrm>
            <a:custGeom>
              <a:avLst/>
              <a:gdLst/>
              <a:ahLst/>
              <a:cxnLst/>
              <a:rect r="r" b="b" t="t" l="l"/>
              <a:pathLst>
                <a:path h="8807069" w="21736050">
                  <a:moveTo>
                    <a:pt x="0" y="0"/>
                  </a:moveTo>
                  <a:lnTo>
                    <a:pt x="21736050" y="0"/>
                  </a:lnTo>
                  <a:lnTo>
                    <a:pt x="21736050" y="8807069"/>
                  </a:lnTo>
                  <a:lnTo>
                    <a:pt x="0" y="8807069"/>
                  </a:lnTo>
                </a:path>
              </a:pathLst>
            </a:custGeom>
            <a:solidFill>
              <a:srgbClr val="FFFFFF"/>
            </a:solidFill>
            <a:ln w="14288" cap="sq">
              <a:solidFill>
                <a:srgbClr val="4A7DBA"/>
              </a:solidFill>
              <a:prstDash val="solid"/>
              <a:miter/>
            </a:ln>
          </p:spPr>
        </p:sp>
      </p:grpSp>
      <p:graphicFrame>
        <p:nvGraphicFramePr>
          <p:cNvPr name="Table 9" id="9"/>
          <p:cNvGraphicFramePr>
            <a:graphicFrameLocks noGrp="true"/>
          </p:cNvGraphicFramePr>
          <p:nvPr/>
        </p:nvGraphicFramePr>
        <p:xfrm>
          <a:off x="1000125" y="2143125"/>
          <a:ext cx="16230600" cy="6553200"/>
        </p:xfrm>
        <a:graphic>
          <a:graphicData uri="http://schemas.openxmlformats.org/drawingml/2006/table">
            <a:tbl>
              <a:tblPr/>
              <a:tblGrid>
                <a:gridCol w="4089859"/>
                <a:gridCol w="1711705"/>
                <a:gridCol w="2332702"/>
                <a:gridCol w="3121728"/>
                <a:gridCol w="4974606"/>
              </a:tblGrid>
              <a:tr h="8191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25"/>
                        </a:lnSpc>
                        <a:defRPr/>
                      </a:pPr>
                      <a:r>
                        <a:rPr lang="en-US" sz="1687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Thuộc tính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25"/>
                        </a:lnSpc>
                        <a:defRPr/>
                      </a:pPr>
                      <a:r>
                        <a:rPr lang="en-US" sz="1687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Kiểu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25"/>
                        </a:lnSpc>
                        <a:defRPr/>
                      </a:pPr>
                      <a:r>
                        <a:rPr lang="en-US" sz="1687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Missing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25"/>
                        </a:lnSpc>
                        <a:defRPr/>
                      </a:pPr>
                      <a:r>
                        <a:rPr lang="en-US" sz="1687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Vai trò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25"/>
                        </a:lnSpc>
                        <a:defRPr/>
                      </a:pPr>
                      <a:r>
                        <a:rPr lang="en-US" sz="1687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Mô tả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8191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95"/>
                        </a:lnSpc>
                        <a:defRPr/>
                      </a:pPr>
                      <a:r>
                        <a:rPr lang="en-US" b="true" sz="1912">
                          <a:solidFill>
                            <a:srgbClr val="334155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listing_id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95"/>
                        </a:lnSpc>
                        <a:defRPr/>
                      </a:pPr>
                      <a:r>
                        <a:rPr lang="en-US" sz="1912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int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95"/>
                        </a:lnSpc>
                        <a:defRPr/>
                      </a:pPr>
                      <a:r>
                        <a:rPr lang="en-US" sz="1912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0.0%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95"/>
                        </a:lnSpc>
                        <a:defRPr/>
                      </a:pPr>
                      <a:r>
                        <a:rPr lang="en-US" sz="1912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Khóa chính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95"/>
                        </a:lnSpc>
                        <a:defRPr/>
                      </a:pPr>
                      <a:r>
                        <a:rPr lang="en-US" sz="1912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Mã tin duy nhất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</a:tr>
              <a:tr h="8191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95"/>
                        </a:lnSpc>
                        <a:defRPr/>
                      </a:pPr>
                      <a:r>
                        <a:rPr lang="en-US" b="true" sz="1912">
                          <a:solidFill>
                            <a:srgbClr val="334155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total_price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95"/>
                        </a:lnSpc>
                        <a:defRPr/>
                      </a:pPr>
                      <a:r>
                        <a:rPr lang="en-US" sz="1912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int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95"/>
                        </a:lnSpc>
                        <a:defRPr/>
                      </a:pPr>
                      <a:r>
                        <a:rPr lang="en-US" sz="1912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0.0%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95"/>
                        </a:lnSpc>
                        <a:defRPr/>
                      </a:pPr>
                      <a:r>
                        <a:rPr lang="en-US" sz="1912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Target phụ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95"/>
                        </a:lnSpc>
                        <a:defRPr/>
                      </a:pPr>
                      <a:r>
                        <a:rPr lang="en-US" sz="1912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Tổng giá (VND)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8191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95"/>
                        </a:lnSpc>
                        <a:defRPr/>
                      </a:pPr>
                      <a:r>
                        <a:rPr lang="en-US" b="true" sz="1912">
                          <a:solidFill>
                            <a:srgbClr val="334155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area_m2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95"/>
                        </a:lnSpc>
                        <a:defRPr/>
                      </a:pPr>
                      <a:r>
                        <a:rPr lang="en-US" sz="1912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float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95"/>
                        </a:lnSpc>
                        <a:defRPr/>
                      </a:pPr>
                      <a:r>
                        <a:rPr lang="en-US" sz="1912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0.3%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95"/>
                        </a:lnSpc>
                        <a:defRPr/>
                      </a:pPr>
                      <a:r>
                        <a:rPr lang="en-US" sz="1912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Feature chính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95"/>
                        </a:lnSpc>
                        <a:defRPr/>
                      </a:pPr>
                      <a:r>
                        <a:rPr lang="en-US" sz="1912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Diện tích (m²)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</a:tr>
              <a:tr h="8191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95"/>
                        </a:lnSpc>
                        <a:defRPr/>
                      </a:pPr>
                      <a:r>
                        <a:rPr lang="en-US" b="true" sz="1912">
                          <a:solidFill>
                            <a:srgbClr val="334155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price_per_m2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95"/>
                        </a:lnSpc>
                        <a:defRPr/>
                      </a:pPr>
                      <a:r>
                        <a:rPr lang="en-US" sz="1912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float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95"/>
                        </a:lnSpc>
                        <a:defRPr/>
                      </a:pPr>
                      <a:r>
                        <a:rPr lang="en-US" sz="1912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0.3%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95"/>
                        </a:lnSpc>
                        <a:defRPr/>
                      </a:pPr>
                      <a:r>
                        <a:rPr lang="en-US" b="true" sz="1912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Target chính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95"/>
                        </a:lnSpc>
                        <a:defRPr/>
                      </a:pPr>
                      <a:r>
                        <a:rPr lang="en-US" sz="1912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Giá/m² (VND)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8191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95"/>
                        </a:lnSpc>
                        <a:defRPr/>
                      </a:pPr>
                      <a:r>
                        <a:rPr lang="en-US" b="true" sz="1912">
                          <a:solidFill>
                            <a:srgbClr val="334155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direction / balcony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95"/>
                        </a:lnSpc>
                        <a:defRPr/>
                      </a:pPr>
                      <a:r>
                        <a:rPr lang="en-US" sz="1912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1-8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95"/>
                        </a:lnSpc>
                        <a:defRPr/>
                      </a:pPr>
                      <a:r>
                        <a:rPr lang="en-US" sz="1912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~75%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95"/>
                        </a:lnSpc>
                        <a:defRPr/>
                      </a:pPr>
                      <a:r>
                        <a:rPr lang="en-US" sz="1912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Feature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95"/>
                        </a:lnSpc>
                        <a:defRPr/>
                      </a:pPr>
                      <a:r>
                        <a:rPr lang="en-US" sz="1912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Mã hướng nhà / ban công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</a:tr>
              <a:tr h="8191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95"/>
                        </a:lnSpc>
                        <a:defRPr/>
                      </a:pPr>
                      <a:r>
                        <a:rPr lang="en-US" b="true" sz="1912">
                          <a:solidFill>
                            <a:srgbClr val="334155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furnishing / legal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95"/>
                        </a:lnSpc>
                        <a:defRPr/>
                      </a:pPr>
                      <a:r>
                        <a:rPr lang="en-US" sz="1912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1-6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95"/>
                        </a:lnSpc>
                        <a:defRPr/>
                      </a:pPr>
                      <a:r>
                        <a:rPr lang="en-US" sz="1912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20-34%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95"/>
                        </a:lnSpc>
                        <a:defRPr/>
                      </a:pPr>
                      <a:r>
                        <a:rPr lang="en-US" sz="1912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Feature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95"/>
                        </a:lnSpc>
                        <a:defRPr/>
                      </a:pPr>
                      <a:r>
                        <a:rPr lang="en-US" sz="1912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Mã nội thất / pháp lý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8191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95"/>
                        </a:lnSpc>
                        <a:defRPr/>
                      </a:pPr>
                      <a:r>
                        <a:rPr lang="en-US" b="true" sz="1912">
                          <a:solidFill>
                            <a:srgbClr val="334155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district_clean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95"/>
                        </a:lnSpc>
                        <a:defRPr/>
                      </a:pPr>
                      <a:r>
                        <a:rPr lang="en-US" sz="1912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str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95"/>
                        </a:lnSpc>
                        <a:defRPr/>
                      </a:pPr>
                      <a:r>
                        <a:rPr lang="en-US" sz="1912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0.0%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95"/>
                        </a:lnSpc>
                        <a:defRPr/>
                      </a:pPr>
                      <a:r>
                        <a:rPr lang="en-US" sz="1912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Categorical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95"/>
                        </a:lnSpc>
                        <a:defRPr/>
                      </a:pPr>
                      <a:r>
                        <a:rPr lang="en-US" sz="1912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Quận (6 quận)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</a:tr>
            </a:tbl>
          </a:graphicData>
        </a:graphic>
      </p:graphicFrame>
      <p:grpSp>
        <p:nvGrpSpPr>
          <p:cNvPr name="Group 10" id="10"/>
          <p:cNvGrpSpPr/>
          <p:nvPr/>
        </p:nvGrpSpPr>
        <p:grpSpPr>
          <a:xfrm rot="0">
            <a:off x="1000125" y="2907506"/>
            <a:ext cx="4111676" cy="14288"/>
            <a:chOff x="0" y="0"/>
            <a:chExt cx="5482234" cy="190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482209" cy="19050"/>
            </a:xfrm>
            <a:custGeom>
              <a:avLst/>
              <a:gdLst/>
              <a:ahLst/>
              <a:cxnLst/>
              <a:rect r="r" b="b" t="t" l="l"/>
              <a:pathLst>
                <a:path h="19050" w="5482209">
                  <a:moveTo>
                    <a:pt x="0" y="0"/>
                  </a:moveTo>
                  <a:lnTo>
                    <a:pt x="5482209" y="0"/>
                  </a:lnTo>
                  <a:lnTo>
                    <a:pt x="5482209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5111801" y="2907506"/>
            <a:ext cx="1704232" cy="14288"/>
            <a:chOff x="0" y="0"/>
            <a:chExt cx="2272309" cy="190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72284" cy="19050"/>
            </a:xfrm>
            <a:custGeom>
              <a:avLst/>
              <a:gdLst/>
              <a:ahLst/>
              <a:cxnLst/>
              <a:rect r="r" b="b" t="t" l="l"/>
              <a:pathLst>
                <a:path h="19050" w="2272284">
                  <a:moveTo>
                    <a:pt x="0" y="0"/>
                  </a:moveTo>
                  <a:lnTo>
                    <a:pt x="2272284" y="0"/>
                  </a:lnTo>
                  <a:lnTo>
                    <a:pt x="2272284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816033" y="2907506"/>
            <a:ext cx="2332882" cy="14288"/>
            <a:chOff x="0" y="0"/>
            <a:chExt cx="3110509" cy="190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110484" cy="19050"/>
            </a:xfrm>
            <a:custGeom>
              <a:avLst/>
              <a:gdLst/>
              <a:ahLst/>
              <a:cxnLst/>
              <a:rect r="r" b="b" t="t" l="l"/>
              <a:pathLst>
                <a:path h="19050" w="3110484">
                  <a:moveTo>
                    <a:pt x="0" y="0"/>
                  </a:moveTo>
                  <a:lnTo>
                    <a:pt x="3110484" y="0"/>
                  </a:lnTo>
                  <a:lnTo>
                    <a:pt x="3110484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148915" y="2907506"/>
            <a:ext cx="3131639" cy="14288"/>
            <a:chOff x="0" y="0"/>
            <a:chExt cx="4175519" cy="190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175506" cy="19050"/>
            </a:xfrm>
            <a:custGeom>
              <a:avLst/>
              <a:gdLst/>
              <a:ahLst/>
              <a:cxnLst/>
              <a:rect r="r" b="b" t="t" l="l"/>
              <a:pathLst>
                <a:path h="19050" w="4175506">
                  <a:moveTo>
                    <a:pt x="0" y="0"/>
                  </a:moveTo>
                  <a:lnTo>
                    <a:pt x="4175506" y="0"/>
                  </a:lnTo>
                  <a:lnTo>
                    <a:pt x="4175506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2280554" y="2907506"/>
            <a:ext cx="5007321" cy="14288"/>
            <a:chOff x="0" y="0"/>
            <a:chExt cx="6676428" cy="190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676390" cy="19050"/>
            </a:xfrm>
            <a:custGeom>
              <a:avLst/>
              <a:gdLst/>
              <a:ahLst/>
              <a:cxnLst/>
              <a:rect r="r" b="b" t="t" l="l"/>
              <a:pathLst>
                <a:path h="19050" w="6676390">
                  <a:moveTo>
                    <a:pt x="0" y="0"/>
                  </a:moveTo>
                  <a:lnTo>
                    <a:pt x="6676390" y="0"/>
                  </a:lnTo>
                  <a:lnTo>
                    <a:pt x="667639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000125" y="3738858"/>
            <a:ext cx="4111676" cy="14288"/>
            <a:chOff x="0" y="0"/>
            <a:chExt cx="5482234" cy="190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482209" cy="19050"/>
            </a:xfrm>
            <a:custGeom>
              <a:avLst/>
              <a:gdLst/>
              <a:ahLst/>
              <a:cxnLst/>
              <a:rect r="r" b="b" t="t" l="l"/>
              <a:pathLst>
                <a:path h="19050" w="5482209">
                  <a:moveTo>
                    <a:pt x="0" y="0"/>
                  </a:moveTo>
                  <a:lnTo>
                    <a:pt x="5482209" y="0"/>
                  </a:lnTo>
                  <a:lnTo>
                    <a:pt x="5482209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5111801" y="3738858"/>
            <a:ext cx="1704232" cy="14288"/>
            <a:chOff x="0" y="0"/>
            <a:chExt cx="2272309" cy="1905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272284" cy="19050"/>
            </a:xfrm>
            <a:custGeom>
              <a:avLst/>
              <a:gdLst/>
              <a:ahLst/>
              <a:cxnLst/>
              <a:rect r="r" b="b" t="t" l="l"/>
              <a:pathLst>
                <a:path h="19050" w="2272284">
                  <a:moveTo>
                    <a:pt x="0" y="0"/>
                  </a:moveTo>
                  <a:lnTo>
                    <a:pt x="2272284" y="0"/>
                  </a:lnTo>
                  <a:lnTo>
                    <a:pt x="2272284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6816033" y="3738858"/>
            <a:ext cx="2332882" cy="14288"/>
            <a:chOff x="0" y="0"/>
            <a:chExt cx="3110509" cy="1905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110484" cy="19050"/>
            </a:xfrm>
            <a:custGeom>
              <a:avLst/>
              <a:gdLst/>
              <a:ahLst/>
              <a:cxnLst/>
              <a:rect r="r" b="b" t="t" l="l"/>
              <a:pathLst>
                <a:path h="19050" w="3110484">
                  <a:moveTo>
                    <a:pt x="0" y="0"/>
                  </a:moveTo>
                  <a:lnTo>
                    <a:pt x="3110484" y="0"/>
                  </a:lnTo>
                  <a:lnTo>
                    <a:pt x="3110484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148915" y="3738858"/>
            <a:ext cx="3131639" cy="14288"/>
            <a:chOff x="0" y="0"/>
            <a:chExt cx="4175519" cy="190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175506" cy="19050"/>
            </a:xfrm>
            <a:custGeom>
              <a:avLst/>
              <a:gdLst/>
              <a:ahLst/>
              <a:cxnLst/>
              <a:rect r="r" b="b" t="t" l="l"/>
              <a:pathLst>
                <a:path h="19050" w="4175506">
                  <a:moveTo>
                    <a:pt x="0" y="0"/>
                  </a:moveTo>
                  <a:lnTo>
                    <a:pt x="4175506" y="0"/>
                  </a:lnTo>
                  <a:lnTo>
                    <a:pt x="4175506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2280554" y="3738858"/>
            <a:ext cx="5007321" cy="14288"/>
            <a:chOff x="0" y="0"/>
            <a:chExt cx="6676428" cy="1905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676390" cy="19050"/>
            </a:xfrm>
            <a:custGeom>
              <a:avLst/>
              <a:gdLst/>
              <a:ahLst/>
              <a:cxnLst/>
              <a:rect r="r" b="b" t="t" l="l"/>
              <a:pathLst>
                <a:path h="19050" w="6676390">
                  <a:moveTo>
                    <a:pt x="0" y="0"/>
                  </a:moveTo>
                  <a:lnTo>
                    <a:pt x="6676390" y="0"/>
                  </a:lnTo>
                  <a:lnTo>
                    <a:pt x="667639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000125" y="4570209"/>
            <a:ext cx="4111676" cy="14288"/>
            <a:chOff x="0" y="0"/>
            <a:chExt cx="5482234" cy="1905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482209" cy="19050"/>
            </a:xfrm>
            <a:custGeom>
              <a:avLst/>
              <a:gdLst/>
              <a:ahLst/>
              <a:cxnLst/>
              <a:rect r="r" b="b" t="t" l="l"/>
              <a:pathLst>
                <a:path h="19050" w="5482209">
                  <a:moveTo>
                    <a:pt x="0" y="0"/>
                  </a:moveTo>
                  <a:lnTo>
                    <a:pt x="5482209" y="0"/>
                  </a:lnTo>
                  <a:lnTo>
                    <a:pt x="5482209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5111801" y="4570209"/>
            <a:ext cx="1704232" cy="14288"/>
            <a:chOff x="0" y="0"/>
            <a:chExt cx="2272309" cy="1905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272284" cy="19050"/>
            </a:xfrm>
            <a:custGeom>
              <a:avLst/>
              <a:gdLst/>
              <a:ahLst/>
              <a:cxnLst/>
              <a:rect r="r" b="b" t="t" l="l"/>
              <a:pathLst>
                <a:path h="19050" w="2272284">
                  <a:moveTo>
                    <a:pt x="0" y="0"/>
                  </a:moveTo>
                  <a:lnTo>
                    <a:pt x="2272284" y="0"/>
                  </a:lnTo>
                  <a:lnTo>
                    <a:pt x="2272284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6816033" y="4570209"/>
            <a:ext cx="2332882" cy="14288"/>
            <a:chOff x="0" y="0"/>
            <a:chExt cx="3110509" cy="1905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110484" cy="19050"/>
            </a:xfrm>
            <a:custGeom>
              <a:avLst/>
              <a:gdLst/>
              <a:ahLst/>
              <a:cxnLst/>
              <a:rect r="r" b="b" t="t" l="l"/>
              <a:pathLst>
                <a:path h="19050" w="3110484">
                  <a:moveTo>
                    <a:pt x="0" y="0"/>
                  </a:moveTo>
                  <a:lnTo>
                    <a:pt x="3110484" y="0"/>
                  </a:lnTo>
                  <a:lnTo>
                    <a:pt x="3110484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9148915" y="4570209"/>
            <a:ext cx="3131639" cy="14288"/>
            <a:chOff x="0" y="0"/>
            <a:chExt cx="4175519" cy="1905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175506" cy="19050"/>
            </a:xfrm>
            <a:custGeom>
              <a:avLst/>
              <a:gdLst/>
              <a:ahLst/>
              <a:cxnLst/>
              <a:rect r="r" b="b" t="t" l="l"/>
              <a:pathLst>
                <a:path h="19050" w="4175506">
                  <a:moveTo>
                    <a:pt x="0" y="0"/>
                  </a:moveTo>
                  <a:lnTo>
                    <a:pt x="4175506" y="0"/>
                  </a:lnTo>
                  <a:lnTo>
                    <a:pt x="4175506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2280554" y="4570209"/>
            <a:ext cx="5007321" cy="14288"/>
            <a:chOff x="0" y="0"/>
            <a:chExt cx="6676428" cy="1905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676390" cy="19050"/>
            </a:xfrm>
            <a:custGeom>
              <a:avLst/>
              <a:gdLst/>
              <a:ahLst/>
              <a:cxnLst/>
              <a:rect r="r" b="b" t="t" l="l"/>
              <a:pathLst>
                <a:path h="19050" w="6676390">
                  <a:moveTo>
                    <a:pt x="0" y="0"/>
                  </a:moveTo>
                  <a:lnTo>
                    <a:pt x="6676390" y="0"/>
                  </a:lnTo>
                  <a:lnTo>
                    <a:pt x="667639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000125" y="5401570"/>
            <a:ext cx="4111676" cy="14288"/>
            <a:chOff x="0" y="0"/>
            <a:chExt cx="5482234" cy="1905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482209" cy="19050"/>
            </a:xfrm>
            <a:custGeom>
              <a:avLst/>
              <a:gdLst/>
              <a:ahLst/>
              <a:cxnLst/>
              <a:rect r="r" b="b" t="t" l="l"/>
              <a:pathLst>
                <a:path h="19050" w="5482209">
                  <a:moveTo>
                    <a:pt x="0" y="0"/>
                  </a:moveTo>
                  <a:lnTo>
                    <a:pt x="5482209" y="0"/>
                  </a:lnTo>
                  <a:lnTo>
                    <a:pt x="5482209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5111801" y="5401570"/>
            <a:ext cx="1704232" cy="14288"/>
            <a:chOff x="0" y="0"/>
            <a:chExt cx="2272309" cy="1905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272284" cy="19050"/>
            </a:xfrm>
            <a:custGeom>
              <a:avLst/>
              <a:gdLst/>
              <a:ahLst/>
              <a:cxnLst/>
              <a:rect r="r" b="b" t="t" l="l"/>
              <a:pathLst>
                <a:path h="19050" w="2272284">
                  <a:moveTo>
                    <a:pt x="0" y="0"/>
                  </a:moveTo>
                  <a:lnTo>
                    <a:pt x="2272284" y="0"/>
                  </a:lnTo>
                  <a:lnTo>
                    <a:pt x="2272284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6816033" y="5401570"/>
            <a:ext cx="2332882" cy="14288"/>
            <a:chOff x="0" y="0"/>
            <a:chExt cx="3110509" cy="1905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110484" cy="19050"/>
            </a:xfrm>
            <a:custGeom>
              <a:avLst/>
              <a:gdLst/>
              <a:ahLst/>
              <a:cxnLst/>
              <a:rect r="r" b="b" t="t" l="l"/>
              <a:pathLst>
                <a:path h="19050" w="3110484">
                  <a:moveTo>
                    <a:pt x="0" y="0"/>
                  </a:moveTo>
                  <a:lnTo>
                    <a:pt x="3110484" y="0"/>
                  </a:lnTo>
                  <a:lnTo>
                    <a:pt x="3110484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9148915" y="5401570"/>
            <a:ext cx="3131639" cy="14288"/>
            <a:chOff x="0" y="0"/>
            <a:chExt cx="4175519" cy="1905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175506" cy="19050"/>
            </a:xfrm>
            <a:custGeom>
              <a:avLst/>
              <a:gdLst/>
              <a:ahLst/>
              <a:cxnLst/>
              <a:rect r="r" b="b" t="t" l="l"/>
              <a:pathLst>
                <a:path h="19050" w="4175506">
                  <a:moveTo>
                    <a:pt x="0" y="0"/>
                  </a:moveTo>
                  <a:lnTo>
                    <a:pt x="4175506" y="0"/>
                  </a:lnTo>
                  <a:lnTo>
                    <a:pt x="4175506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2280554" y="5401570"/>
            <a:ext cx="5007321" cy="14288"/>
            <a:chOff x="0" y="0"/>
            <a:chExt cx="6676428" cy="1905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676390" cy="19050"/>
            </a:xfrm>
            <a:custGeom>
              <a:avLst/>
              <a:gdLst/>
              <a:ahLst/>
              <a:cxnLst/>
              <a:rect r="r" b="b" t="t" l="l"/>
              <a:pathLst>
                <a:path h="19050" w="6676390">
                  <a:moveTo>
                    <a:pt x="0" y="0"/>
                  </a:moveTo>
                  <a:lnTo>
                    <a:pt x="6676390" y="0"/>
                  </a:lnTo>
                  <a:lnTo>
                    <a:pt x="667639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000125" y="6232922"/>
            <a:ext cx="4111676" cy="14288"/>
            <a:chOff x="0" y="0"/>
            <a:chExt cx="5482234" cy="1905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482209" cy="19050"/>
            </a:xfrm>
            <a:custGeom>
              <a:avLst/>
              <a:gdLst/>
              <a:ahLst/>
              <a:cxnLst/>
              <a:rect r="r" b="b" t="t" l="l"/>
              <a:pathLst>
                <a:path h="19050" w="5482209">
                  <a:moveTo>
                    <a:pt x="0" y="0"/>
                  </a:moveTo>
                  <a:lnTo>
                    <a:pt x="5482209" y="0"/>
                  </a:lnTo>
                  <a:lnTo>
                    <a:pt x="5482209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5111801" y="6232922"/>
            <a:ext cx="1704232" cy="14288"/>
            <a:chOff x="0" y="0"/>
            <a:chExt cx="2272309" cy="1905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272284" cy="19050"/>
            </a:xfrm>
            <a:custGeom>
              <a:avLst/>
              <a:gdLst/>
              <a:ahLst/>
              <a:cxnLst/>
              <a:rect r="r" b="b" t="t" l="l"/>
              <a:pathLst>
                <a:path h="19050" w="2272284">
                  <a:moveTo>
                    <a:pt x="0" y="0"/>
                  </a:moveTo>
                  <a:lnTo>
                    <a:pt x="2272284" y="0"/>
                  </a:lnTo>
                  <a:lnTo>
                    <a:pt x="2272284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6816033" y="6232922"/>
            <a:ext cx="2332882" cy="14288"/>
            <a:chOff x="0" y="0"/>
            <a:chExt cx="3110509" cy="1905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3110484" cy="19050"/>
            </a:xfrm>
            <a:custGeom>
              <a:avLst/>
              <a:gdLst/>
              <a:ahLst/>
              <a:cxnLst/>
              <a:rect r="r" b="b" t="t" l="l"/>
              <a:pathLst>
                <a:path h="19050" w="3110484">
                  <a:moveTo>
                    <a:pt x="0" y="0"/>
                  </a:moveTo>
                  <a:lnTo>
                    <a:pt x="3110484" y="0"/>
                  </a:lnTo>
                  <a:lnTo>
                    <a:pt x="3110484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9148915" y="6232922"/>
            <a:ext cx="3131639" cy="14288"/>
            <a:chOff x="0" y="0"/>
            <a:chExt cx="4175519" cy="1905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175506" cy="19050"/>
            </a:xfrm>
            <a:custGeom>
              <a:avLst/>
              <a:gdLst/>
              <a:ahLst/>
              <a:cxnLst/>
              <a:rect r="r" b="b" t="t" l="l"/>
              <a:pathLst>
                <a:path h="19050" w="4175506">
                  <a:moveTo>
                    <a:pt x="0" y="0"/>
                  </a:moveTo>
                  <a:lnTo>
                    <a:pt x="4175506" y="0"/>
                  </a:lnTo>
                  <a:lnTo>
                    <a:pt x="4175506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2280554" y="6232922"/>
            <a:ext cx="5007321" cy="14288"/>
            <a:chOff x="0" y="0"/>
            <a:chExt cx="6676428" cy="1905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676390" cy="19050"/>
            </a:xfrm>
            <a:custGeom>
              <a:avLst/>
              <a:gdLst/>
              <a:ahLst/>
              <a:cxnLst/>
              <a:rect r="r" b="b" t="t" l="l"/>
              <a:pathLst>
                <a:path h="19050" w="6676390">
                  <a:moveTo>
                    <a:pt x="0" y="0"/>
                  </a:moveTo>
                  <a:lnTo>
                    <a:pt x="6676390" y="0"/>
                  </a:lnTo>
                  <a:lnTo>
                    <a:pt x="667639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000125" y="7064273"/>
            <a:ext cx="4111676" cy="14288"/>
            <a:chOff x="0" y="0"/>
            <a:chExt cx="5482234" cy="1905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482209" cy="19050"/>
            </a:xfrm>
            <a:custGeom>
              <a:avLst/>
              <a:gdLst/>
              <a:ahLst/>
              <a:cxnLst/>
              <a:rect r="r" b="b" t="t" l="l"/>
              <a:pathLst>
                <a:path h="19050" w="5482209">
                  <a:moveTo>
                    <a:pt x="0" y="0"/>
                  </a:moveTo>
                  <a:lnTo>
                    <a:pt x="5482209" y="0"/>
                  </a:lnTo>
                  <a:lnTo>
                    <a:pt x="5482209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5111801" y="7064273"/>
            <a:ext cx="1704232" cy="14288"/>
            <a:chOff x="0" y="0"/>
            <a:chExt cx="2272309" cy="1905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272284" cy="19050"/>
            </a:xfrm>
            <a:custGeom>
              <a:avLst/>
              <a:gdLst/>
              <a:ahLst/>
              <a:cxnLst/>
              <a:rect r="r" b="b" t="t" l="l"/>
              <a:pathLst>
                <a:path h="19050" w="2272284">
                  <a:moveTo>
                    <a:pt x="0" y="0"/>
                  </a:moveTo>
                  <a:lnTo>
                    <a:pt x="2272284" y="0"/>
                  </a:lnTo>
                  <a:lnTo>
                    <a:pt x="2272284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6816033" y="7064273"/>
            <a:ext cx="2332882" cy="14288"/>
            <a:chOff x="0" y="0"/>
            <a:chExt cx="3110509" cy="1905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3110484" cy="19050"/>
            </a:xfrm>
            <a:custGeom>
              <a:avLst/>
              <a:gdLst/>
              <a:ahLst/>
              <a:cxnLst/>
              <a:rect r="r" b="b" t="t" l="l"/>
              <a:pathLst>
                <a:path h="19050" w="3110484">
                  <a:moveTo>
                    <a:pt x="0" y="0"/>
                  </a:moveTo>
                  <a:lnTo>
                    <a:pt x="3110484" y="0"/>
                  </a:lnTo>
                  <a:lnTo>
                    <a:pt x="3110484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9148915" y="7064273"/>
            <a:ext cx="3131639" cy="14288"/>
            <a:chOff x="0" y="0"/>
            <a:chExt cx="4175519" cy="1905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4175506" cy="19050"/>
            </a:xfrm>
            <a:custGeom>
              <a:avLst/>
              <a:gdLst/>
              <a:ahLst/>
              <a:cxnLst/>
              <a:rect r="r" b="b" t="t" l="l"/>
              <a:pathLst>
                <a:path h="19050" w="4175506">
                  <a:moveTo>
                    <a:pt x="0" y="0"/>
                  </a:moveTo>
                  <a:lnTo>
                    <a:pt x="4175506" y="0"/>
                  </a:lnTo>
                  <a:lnTo>
                    <a:pt x="4175506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2280554" y="7064273"/>
            <a:ext cx="5007321" cy="14288"/>
            <a:chOff x="0" y="0"/>
            <a:chExt cx="6676428" cy="1905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6676390" cy="19050"/>
            </a:xfrm>
            <a:custGeom>
              <a:avLst/>
              <a:gdLst/>
              <a:ahLst/>
              <a:cxnLst/>
              <a:rect r="r" b="b" t="t" l="l"/>
              <a:pathLst>
                <a:path h="19050" w="6676390">
                  <a:moveTo>
                    <a:pt x="0" y="0"/>
                  </a:moveTo>
                  <a:lnTo>
                    <a:pt x="6676390" y="0"/>
                  </a:lnTo>
                  <a:lnTo>
                    <a:pt x="667639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1000125" y="7895625"/>
            <a:ext cx="4111676" cy="14288"/>
            <a:chOff x="0" y="0"/>
            <a:chExt cx="5482234" cy="1905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5482209" cy="19050"/>
            </a:xfrm>
            <a:custGeom>
              <a:avLst/>
              <a:gdLst/>
              <a:ahLst/>
              <a:cxnLst/>
              <a:rect r="r" b="b" t="t" l="l"/>
              <a:pathLst>
                <a:path h="19050" w="5482209">
                  <a:moveTo>
                    <a:pt x="0" y="0"/>
                  </a:moveTo>
                  <a:lnTo>
                    <a:pt x="5482209" y="0"/>
                  </a:lnTo>
                  <a:lnTo>
                    <a:pt x="5482209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5111801" y="7895625"/>
            <a:ext cx="1704232" cy="14288"/>
            <a:chOff x="0" y="0"/>
            <a:chExt cx="2272309" cy="1905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272284" cy="19050"/>
            </a:xfrm>
            <a:custGeom>
              <a:avLst/>
              <a:gdLst/>
              <a:ahLst/>
              <a:cxnLst/>
              <a:rect r="r" b="b" t="t" l="l"/>
              <a:pathLst>
                <a:path h="19050" w="2272284">
                  <a:moveTo>
                    <a:pt x="0" y="0"/>
                  </a:moveTo>
                  <a:lnTo>
                    <a:pt x="2272284" y="0"/>
                  </a:lnTo>
                  <a:lnTo>
                    <a:pt x="2272284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6816033" y="7895625"/>
            <a:ext cx="2332882" cy="14288"/>
            <a:chOff x="0" y="0"/>
            <a:chExt cx="3110509" cy="1905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3110484" cy="19050"/>
            </a:xfrm>
            <a:custGeom>
              <a:avLst/>
              <a:gdLst/>
              <a:ahLst/>
              <a:cxnLst/>
              <a:rect r="r" b="b" t="t" l="l"/>
              <a:pathLst>
                <a:path h="19050" w="3110484">
                  <a:moveTo>
                    <a:pt x="0" y="0"/>
                  </a:moveTo>
                  <a:lnTo>
                    <a:pt x="3110484" y="0"/>
                  </a:lnTo>
                  <a:lnTo>
                    <a:pt x="3110484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9148915" y="7895625"/>
            <a:ext cx="3131639" cy="14288"/>
            <a:chOff x="0" y="0"/>
            <a:chExt cx="4175519" cy="1905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4175506" cy="19050"/>
            </a:xfrm>
            <a:custGeom>
              <a:avLst/>
              <a:gdLst/>
              <a:ahLst/>
              <a:cxnLst/>
              <a:rect r="r" b="b" t="t" l="l"/>
              <a:pathLst>
                <a:path h="19050" w="4175506">
                  <a:moveTo>
                    <a:pt x="0" y="0"/>
                  </a:moveTo>
                  <a:lnTo>
                    <a:pt x="4175506" y="0"/>
                  </a:lnTo>
                  <a:lnTo>
                    <a:pt x="4175506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12280554" y="7895625"/>
            <a:ext cx="5007321" cy="14288"/>
            <a:chOff x="0" y="0"/>
            <a:chExt cx="6676428" cy="1905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6676390" cy="19050"/>
            </a:xfrm>
            <a:custGeom>
              <a:avLst/>
              <a:gdLst/>
              <a:ahLst/>
              <a:cxnLst/>
              <a:rect r="r" b="b" t="t" l="l"/>
              <a:pathLst>
                <a:path h="19050" w="6676390">
                  <a:moveTo>
                    <a:pt x="0" y="0"/>
                  </a:moveTo>
                  <a:lnTo>
                    <a:pt x="6676390" y="0"/>
                  </a:lnTo>
                  <a:lnTo>
                    <a:pt x="667639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sp>
        <p:nvSpPr>
          <p:cNvPr name="TextBox 80" id="80"/>
          <p:cNvSpPr txBox="true"/>
          <p:nvPr/>
        </p:nvSpPr>
        <p:spPr>
          <a:xfrm rot="0">
            <a:off x="1000125" y="714375"/>
            <a:ext cx="17102138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0"/>
              </a:lnSpc>
            </a:pPr>
            <a:r>
              <a:rPr lang="en-US" b="true" sz="4275">
                <a:solidFill>
                  <a:srgbClr val="0F172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TỪ ĐIỂN DỮ LIỆU (16 THUỘC TÍNH CHÍNH)</a:t>
            </a:r>
          </a:p>
        </p:txBody>
      </p:sp>
      <p:grpSp>
        <p:nvGrpSpPr>
          <p:cNvPr name="Group 81" id="81"/>
          <p:cNvGrpSpPr/>
          <p:nvPr/>
        </p:nvGrpSpPr>
        <p:grpSpPr>
          <a:xfrm rot="0">
            <a:off x="1000125" y="1528762"/>
            <a:ext cx="16287750" cy="42862"/>
            <a:chOff x="0" y="0"/>
            <a:chExt cx="21717000" cy="5715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21717000" cy="57150"/>
            </a:xfrm>
            <a:custGeom>
              <a:avLst/>
              <a:gdLst/>
              <a:ahLst/>
              <a:cxnLst/>
              <a:rect r="r" b="b" t="t" l="l"/>
              <a:pathLst>
                <a:path h="57150" w="21717000">
                  <a:moveTo>
                    <a:pt x="0" y="0"/>
                  </a:moveTo>
                  <a:lnTo>
                    <a:pt x="21717000" y="0"/>
                  </a:lnTo>
                  <a:lnTo>
                    <a:pt x="217170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0284C7"/>
            </a:solid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00125" y="5289052"/>
            <a:ext cx="16287750" cy="1394374"/>
            <a:chOff x="0" y="0"/>
            <a:chExt cx="21717000" cy="1859166"/>
          </a:xfrm>
        </p:grpSpPr>
        <p:sp>
          <p:nvSpPr>
            <p:cNvPr name="Freeform 4" id="4" descr="image.png"/>
            <p:cNvSpPr/>
            <p:nvPr/>
          </p:nvSpPr>
          <p:spPr>
            <a:xfrm flipH="false" flipV="false" rot="0">
              <a:off x="0" y="0"/>
              <a:ext cx="21717000" cy="1859153"/>
            </a:xfrm>
            <a:custGeom>
              <a:avLst/>
              <a:gdLst/>
              <a:ahLst/>
              <a:cxnLst/>
              <a:rect r="r" b="b" t="t" l="l"/>
              <a:pathLst>
                <a:path h="1859153" w="21717000">
                  <a:moveTo>
                    <a:pt x="0" y="0"/>
                  </a:moveTo>
                  <a:lnTo>
                    <a:pt x="21717000" y="0"/>
                  </a:lnTo>
                  <a:lnTo>
                    <a:pt x="21717000" y="1859153"/>
                  </a:lnTo>
                  <a:lnTo>
                    <a:pt x="0" y="18591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416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00125" y="9515475"/>
            <a:ext cx="16287750" cy="414338"/>
            <a:chOff x="0" y="0"/>
            <a:chExt cx="21717000" cy="552450"/>
          </a:xfrm>
        </p:grpSpPr>
        <p:sp>
          <p:nvSpPr>
            <p:cNvPr name="Freeform 6" id="6" descr="image.png"/>
            <p:cNvSpPr/>
            <p:nvPr/>
          </p:nvSpPr>
          <p:spPr>
            <a:xfrm flipH="false" flipV="false" rot="0">
              <a:off x="0" y="0"/>
              <a:ext cx="21717000" cy="552450"/>
            </a:xfrm>
            <a:custGeom>
              <a:avLst/>
              <a:gdLst/>
              <a:ahLst/>
              <a:cxnLst/>
              <a:rect r="r" b="b" t="t" l="l"/>
              <a:pathLst>
                <a:path h="552450" w="21717000">
                  <a:moveTo>
                    <a:pt x="0" y="0"/>
                  </a:moveTo>
                  <a:lnTo>
                    <a:pt x="21717000" y="0"/>
                  </a:lnTo>
                  <a:lnTo>
                    <a:pt x="21717000" y="552450"/>
                  </a:lnTo>
                  <a:lnTo>
                    <a:pt x="0" y="552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000125" y="9672638"/>
            <a:ext cx="3271838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Nguyễn Minh Huy - 2582003023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144875" y="9672638"/>
            <a:ext cx="1143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Slide 9 / 24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00125" y="3071812"/>
            <a:ext cx="16287750" cy="57150"/>
            <a:chOff x="0" y="0"/>
            <a:chExt cx="21717000" cy="76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717000" cy="76200"/>
            </a:xfrm>
            <a:custGeom>
              <a:avLst/>
              <a:gdLst/>
              <a:ahLst/>
              <a:cxnLst/>
              <a:rect r="r" b="b" t="t" l="l"/>
              <a:pathLst>
                <a:path h="76200" w="21717000">
                  <a:moveTo>
                    <a:pt x="0" y="0"/>
                  </a:moveTo>
                  <a:lnTo>
                    <a:pt x="21717000" y="0"/>
                  </a:lnTo>
                  <a:lnTo>
                    <a:pt x="21717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357312" y="5431927"/>
            <a:ext cx="15644812" cy="965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7"/>
              </a:lnSpc>
            </a:pPr>
            <a:r>
              <a:rPr lang="en-US" sz="2025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Chi tiết 5 bước làm sạch (Clean): (1) Parse giá text thành số, (2) Chuẩn hóa tên quận, (3) Decode hướng nhà 1-8, (4) Decode nội thất &amp; pháp lý, (5) Lọc Outlier (giới hạn 3 Area + 17 Bedrooms).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2157412" y="2900362"/>
            <a:ext cx="400050" cy="400050"/>
            <a:chOff x="0" y="0"/>
            <a:chExt cx="533400" cy="533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33400" cy="533400"/>
            </a:xfrm>
            <a:custGeom>
              <a:avLst/>
              <a:gdLst/>
              <a:ahLst/>
              <a:cxnLst/>
              <a:rect r="r" b="b" t="t" l="l"/>
              <a:pathLst>
                <a:path h="533400" w="533400">
                  <a:moveTo>
                    <a:pt x="0" y="266700"/>
                  </a:moveTo>
                  <a:cubicBezTo>
                    <a:pt x="0" y="119380"/>
                    <a:pt x="119380" y="0"/>
                    <a:pt x="266700" y="0"/>
                  </a:cubicBezTo>
                  <a:cubicBezTo>
                    <a:pt x="414020" y="0"/>
                    <a:pt x="533400" y="119380"/>
                    <a:pt x="533400" y="266700"/>
                  </a:cubicBezTo>
                  <a:cubicBezTo>
                    <a:pt x="533400" y="414020"/>
                    <a:pt x="414020" y="533400"/>
                    <a:pt x="266700" y="533400"/>
                  </a:cubicBezTo>
                  <a:cubicBezTo>
                    <a:pt x="119380" y="533400"/>
                    <a:pt x="0" y="414020"/>
                    <a:pt x="0" y="266700"/>
                  </a:cubicBezTo>
                  <a:close/>
                </a:path>
              </a:pathLst>
            </a:custGeom>
            <a:solidFill>
              <a:srgbClr val="0284C7"/>
            </a:solidFill>
            <a:ln w="57150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932259" y="3557588"/>
            <a:ext cx="2850356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2025">
                <a:solidFill>
                  <a:srgbClr val="0284C7"/>
                </a:solidFill>
                <a:latin typeface="Montserrat"/>
                <a:ea typeface="Montserrat"/>
                <a:cs typeface="Montserrat"/>
                <a:sym typeface="Montserrat"/>
              </a:rPr>
              <a:t>1. Crawl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00125" y="3938587"/>
            <a:ext cx="2714625" cy="642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77"/>
              </a:lnSpc>
            </a:pPr>
            <a:r>
              <a:rPr lang="en-US" sz="1575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API chotot</a:t>
            </a:r>
          </a:p>
          <a:p>
            <a:pPr algn="ctr">
              <a:lnSpc>
                <a:spcPts val="2677"/>
              </a:lnSpc>
            </a:pPr>
            <a:r>
              <a:rPr lang="en-US" sz="1575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→ 1.799 tin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4872038" y="2900362"/>
            <a:ext cx="400050" cy="400050"/>
            <a:chOff x="0" y="0"/>
            <a:chExt cx="533400" cy="533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33400" cy="533400"/>
            </a:xfrm>
            <a:custGeom>
              <a:avLst/>
              <a:gdLst/>
              <a:ahLst/>
              <a:cxnLst/>
              <a:rect r="r" b="b" t="t" l="l"/>
              <a:pathLst>
                <a:path h="533400" w="533400">
                  <a:moveTo>
                    <a:pt x="0" y="266700"/>
                  </a:moveTo>
                  <a:cubicBezTo>
                    <a:pt x="0" y="119380"/>
                    <a:pt x="119380" y="0"/>
                    <a:pt x="266700" y="0"/>
                  </a:cubicBezTo>
                  <a:cubicBezTo>
                    <a:pt x="414020" y="0"/>
                    <a:pt x="533400" y="119380"/>
                    <a:pt x="533400" y="266700"/>
                  </a:cubicBezTo>
                  <a:cubicBezTo>
                    <a:pt x="533400" y="414020"/>
                    <a:pt x="414020" y="533400"/>
                    <a:pt x="266700" y="533400"/>
                  </a:cubicBezTo>
                  <a:cubicBezTo>
                    <a:pt x="119380" y="533400"/>
                    <a:pt x="0" y="414020"/>
                    <a:pt x="0" y="266700"/>
                  </a:cubicBezTo>
                  <a:close/>
                </a:path>
              </a:pathLst>
            </a:custGeom>
            <a:solidFill>
              <a:srgbClr val="0284C7"/>
            </a:solidFill>
            <a:ln w="57150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3646884" y="3557588"/>
            <a:ext cx="2850356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2025">
                <a:solidFill>
                  <a:srgbClr val="0284C7"/>
                </a:solidFill>
                <a:latin typeface="Montserrat"/>
                <a:ea typeface="Montserrat"/>
                <a:cs typeface="Montserrat"/>
                <a:sym typeface="Montserrat"/>
              </a:rPr>
              <a:t>2. Clean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714750" y="3938587"/>
            <a:ext cx="2714625" cy="642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77"/>
              </a:lnSpc>
            </a:pPr>
            <a:r>
              <a:rPr lang="en-US" sz="1575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5 bước chuẩn hóa</a:t>
            </a:r>
          </a:p>
          <a:p>
            <a:pPr algn="ctr">
              <a:lnSpc>
                <a:spcPts val="2677"/>
              </a:lnSpc>
            </a:pPr>
            <a:r>
              <a:rPr lang="en-US" sz="1575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→ 1.773 tin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7586662" y="2900362"/>
            <a:ext cx="400050" cy="400050"/>
            <a:chOff x="0" y="0"/>
            <a:chExt cx="533400" cy="5334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33400" cy="533400"/>
            </a:xfrm>
            <a:custGeom>
              <a:avLst/>
              <a:gdLst/>
              <a:ahLst/>
              <a:cxnLst/>
              <a:rect r="r" b="b" t="t" l="l"/>
              <a:pathLst>
                <a:path h="533400" w="533400">
                  <a:moveTo>
                    <a:pt x="0" y="266700"/>
                  </a:moveTo>
                  <a:cubicBezTo>
                    <a:pt x="0" y="119380"/>
                    <a:pt x="119380" y="0"/>
                    <a:pt x="266700" y="0"/>
                  </a:cubicBezTo>
                  <a:cubicBezTo>
                    <a:pt x="414020" y="0"/>
                    <a:pt x="533400" y="119380"/>
                    <a:pt x="533400" y="266700"/>
                  </a:cubicBezTo>
                  <a:cubicBezTo>
                    <a:pt x="533400" y="414020"/>
                    <a:pt x="414020" y="533400"/>
                    <a:pt x="266700" y="533400"/>
                  </a:cubicBezTo>
                  <a:cubicBezTo>
                    <a:pt x="119380" y="533400"/>
                    <a:pt x="0" y="414020"/>
                    <a:pt x="0" y="266700"/>
                  </a:cubicBezTo>
                  <a:close/>
                </a:path>
              </a:pathLst>
            </a:custGeom>
            <a:solidFill>
              <a:srgbClr val="0284C7"/>
            </a:solidFill>
            <a:ln w="57150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6361509" y="3557588"/>
            <a:ext cx="2850356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2025">
                <a:solidFill>
                  <a:srgbClr val="0284C7"/>
                </a:solidFill>
                <a:latin typeface="Montserrat"/>
                <a:ea typeface="Montserrat"/>
                <a:cs typeface="Montserrat"/>
                <a:sym typeface="Montserrat"/>
              </a:rPr>
              <a:t>3. EDA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429375" y="3938587"/>
            <a:ext cx="2714625" cy="642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77"/>
              </a:lnSpc>
            </a:pPr>
            <a:r>
              <a:rPr lang="en-US" sz="1575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Trực quan hóa</a:t>
            </a:r>
          </a:p>
          <a:p>
            <a:pPr algn="ctr">
              <a:lnSpc>
                <a:spcPts val="2677"/>
              </a:lnSpc>
            </a:pPr>
            <a:r>
              <a:rPr lang="en-US" sz="1575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10 biểu đồ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0301288" y="2900362"/>
            <a:ext cx="400050" cy="400050"/>
            <a:chOff x="0" y="0"/>
            <a:chExt cx="533400" cy="5334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33400" cy="533400"/>
            </a:xfrm>
            <a:custGeom>
              <a:avLst/>
              <a:gdLst/>
              <a:ahLst/>
              <a:cxnLst/>
              <a:rect r="r" b="b" t="t" l="l"/>
              <a:pathLst>
                <a:path h="533400" w="533400">
                  <a:moveTo>
                    <a:pt x="0" y="266700"/>
                  </a:moveTo>
                  <a:cubicBezTo>
                    <a:pt x="0" y="119380"/>
                    <a:pt x="119380" y="0"/>
                    <a:pt x="266700" y="0"/>
                  </a:cubicBezTo>
                  <a:cubicBezTo>
                    <a:pt x="414020" y="0"/>
                    <a:pt x="533400" y="119380"/>
                    <a:pt x="533400" y="266700"/>
                  </a:cubicBezTo>
                  <a:cubicBezTo>
                    <a:pt x="533400" y="414020"/>
                    <a:pt x="414020" y="533400"/>
                    <a:pt x="266700" y="533400"/>
                  </a:cubicBezTo>
                  <a:cubicBezTo>
                    <a:pt x="119380" y="533400"/>
                    <a:pt x="0" y="414020"/>
                    <a:pt x="0" y="266700"/>
                  </a:cubicBezTo>
                  <a:close/>
                </a:path>
              </a:pathLst>
            </a:custGeom>
            <a:solidFill>
              <a:srgbClr val="0284C7"/>
            </a:solidFill>
            <a:ln w="57150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26" id="26"/>
          <p:cNvSpPr txBox="true"/>
          <p:nvPr/>
        </p:nvSpPr>
        <p:spPr>
          <a:xfrm rot="0">
            <a:off x="9076134" y="3557588"/>
            <a:ext cx="2850356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2025">
                <a:solidFill>
                  <a:srgbClr val="0284C7"/>
                </a:solidFill>
                <a:latin typeface="Montserrat"/>
                <a:ea typeface="Montserrat"/>
                <a:cs typeface="Montserrat"/>
                <a:sym typeface="Montserrat"/>
              </a:rPr>
              <a:t>4. Machine Learning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144000" y="3938587"/>
            <a:ext cx="2714625" cy="642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77"/>
              </a:lnSpc>
            </a:pPr>
            <a:r>
              <a:rPr lang="en-US" sz="1575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4 Mô hình</a:t>
            </a:r>
          </a:p>
          <a:p>
            <a:pPr algn="ctr">
              <a:lnSpc>
                <a:spcPts val="2677"/>
              </a:lnSpc>
            </a:pPr>
            <a:r>
              <a:rPr lang="en-US" sz="1575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RF (R²=0.169)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3015912" y="2900362"/>
            <a:ext cx="400050" cy="400050"/>
            <a:chOff x="0" y="0"/>
            <a:chExt cx="533400" cy="5334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33400" cy="533400"/>
            </a:xfrm>
            <a:custGeom>
              <a:avLst/>
              <a:gdLst/>
              <a:ahLst/>
              <a:cxnLst/>
              <a:rect r="r" b="b" t="t" l="l"/>
              <a:pathLst>
                <a:path h="533400" w="533400">
                  <a:moveTo>
                    <a:pt x="0" y="266700"/>
                  </a:moveTo>
                  <a:cubicBezTo>
                    <a:pt x="0" y="119380"/>
                    <a:pt x="119380" y="0"/>
                    <a:pt x="266700" y="0"/>
                  </a:cubicBezTo>
                  <a:cubicBezTo>
                    <a:pt x="414020" y="0"/>
                    <a:pt x="533400" y="119380"/>
                    <a:pt x="533400" y="266700"/>
                  </a:cubicBezTo>
                  <a:cubicBezTo>
                    <a:pt x="533400" y="414020"/>
                    <a:pt x="414020" y="533400"/>
                    <a:pt x="266700" y="533400"/>
                  </a:cubicBezTo>
                  <a:cubicBezTo>
                    <a:pt x="119380" y="533400"/>
                    <a:pt x="0" y="414020"/>
                    <a:pt x="0" y="266700"/>
                  </a:cubicBezTo>
                  <a:close/>
                </a:path>
              </a:pathLst>
            </a:custGeom>
            <a:solidFill>
              <a:srgbClr val="0284C7"/>
            </a:solidFill>
            <a:ln w="57150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30" id="30"/>
          <p:cNvSpPr txBox="true"/>
          <p:nvPr/>
        </p:nvSpPr>
        <p:spPr>
          <a:xfrm rot="0">
            <a:off x="11790759" y="3557588"/>
            <a:ext cx="2850356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2025">
                <a:solidFill>
                  <a:srgbClr val="0284C7"/>
                </a:solidFill>
                <a:latin typeface="Montserrat"/>
                <a:ea typeface="Montserrat"/>
                <a:cs typeface="Montserrat"/>
                <a:sym typeface="Montserrat"/>
              </a:rPr>
              <a:t>5. Phân Cụm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858625" y="3938587"/>
            <a:ext cx="2714625" cy="642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77"/>
              </a:lnSpc>
            </a:pPr>
            <a:r>
              <a:rPr lang="en-US" sz="1575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K-Means</a:t>
            </a:r>
          </a:p>
          <a:p>
            <a:pPr algn="ctr">
              <a:lnSpc>
                <a:spcPts val="2677"/>
              </a:lnSpc>
            </a:pPr>
            <a:r>
              <a:rPr lang="en-US" sz="1575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Tối ưu K=4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5730538" y="2900362"/>
            <a:ext cx="400050" cy="400050"/>
            <a:chOff x="0" y="0"/>
            <a:chExt cx="533400" cy="5334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33400" cy="533400"/>
            </a:xfrm>
            <a:custGeom>
              <a:avLst/>
              <a:gdLst/>
              <a:ahLst/>
              <a:cxnLst/>
              <a:rect r="r" b="b" t="t" l="l"/>
              <a:pathLst>
                <a:path h="533400" w="533400">
                  <a:moveTo>
                    <a:pt x="0" y="266700"/>
                  </a:moveTo>
                  <a:cubicBezTo>
                    <a:pt x="0" y="119380"/>
                    <a:pt x="119380" y="0"/>
                    <a:pt x="266700" y="0"/>
                  </a:cubicBezTo>
                  <a:cubicBezTo>
                    <a:pt x="414020" y="0"/>
                    <a:pt x="533400" y="119380"/>
                    <a:pt x="533400" y="266700"/>
                  </a:cubicBezTo>
                  <a:cubicBezTo>
                    <a:pt x="533400" y="414020"/>
                    <a:pt x="414020" y="533400"/>
                    <a:pt x="266700" y="533400"/>
                  </a:cubicBezTo>
                  <a:cubicBezTo>
                    <a:pt x="119380" y="533400"/>
                    <a:pt x="0" y="414020"/>
                    <a:pt x="0" y="266700"/>
                  </a:cubicBezTo>
                  <a:close/>
                </a:path>
              </a:pathLst>
            </a:custGeom>
            <a:solidFill>
              <a:srgbClr val="0284C7"/>
            </a:solidFill>
            <a:ln w="57150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34" id="34"/>
          <p:cNvSpPr txBox="true"/>
          <p:nvPr/>
        </p:nvSpPr>
        <p:spPr>
          <a:xfrm rot="0">
            <a:off x="14505384" y="3557588"/>
            <a:ext cx="2850356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2025">
                <a:solidFill>
                  <a:srgbClr val="0284C7"/>
                </a:solidFill>
                <a:latin typeface="Montserrat"/>
                <a:ea typeface="Montserrat"/>
                <a:cs typeface="Montserrat"/>
                <a:sym typeface="Montserrat"/>
              </a:rPr>
              <a:t>6. Gợi Ý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4573250" y="3938587"/>
            <a:ext cx="2714625" cy="642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77"/>
              </a:lnSpc>
            </a:pPr>
            <a:r>
              <a:rPr lang="en-US" sz="1575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Hybrid Filter</a:t>
            </a:r>
          </a:p>
          <a:p>
            <a:pPr algn="ctr">
              <a:lnSpc>
                <a:spcPts val="2677"/>
              </a:lnSpc>
            </a:pPr>
            <a:r>
              <a:rPr lang="en-US" sz="1575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→ Top 5 KQ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00125" y="714375"/>
            <a:ext cx="17102138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0"/>
              </a:lnSpc>
            </a:pPr>
            <a:r>
              <a:rPr lang="en-US" b="true" sz="4275">
                <a:solidFill>
                  <a:srgbClr val="0F172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QUY TRÌNH XỬ LÝ &amp; LÀM SẠCH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000125" y="1528762"/>
            <a:ext cx="16287750" cy="42862"/>
            <a:chOff x="0" y="0"/>
            <a:chExt cx="21717000" cy="5715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1717000" cy="57150"/>
            </a:xfrm>
            <a:custGeom>
              <a:avLst/>
              <a:gdLst/>
              <a:ahLst/>
              <a:cxnLst/>
              <a:rect r="r" b="b" t="t" l="l"/>
              <a:pathLst>
                <a:path h="57150" w="21717000">
                  <a:moveTo>
                    <a:pt x="0" y="0"/>
                  </a:moveTo>
                  <a:lnTo>
                    <a:pt x="21717000" y="0"/>
                  </a:lnTo>
                  <a:lnTo>
                    <a:pt x="217170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0284C7"/>
            </a:solid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00125" y="3318643"/>
            <a:ext cx="16287750" cy="739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82"/>
              </a:lnSpc>
            </a:pPr>
            <a:r>
              <a:rPr lang="en-US" sz="270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CHƯƠNG 2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286750" y="4486275"/>
            <a:ext cx="1714500" cy="85725"/>
            <a:chOff x="0" y="0"/>
            <a:chExt cx="2286000" cy="1143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86000" cy="114300"/>
            </a:xfrm>
            <a:custGeom>
              <a:avLst/>
              <a:gdLst/>
              <a:ahLst/>
              <a:cxnLst/>
              <a:rect r="r" b="b" t="t" l="l"/>
              <a:pathLst>
                <a:path h="114300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11430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0284C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4685333" y="5000625"/>
            <a:ext cx="8917335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89"/>
              </a:lnSpc>
            </a:pPr>
            <a:r>
              <a:rPr lang="en-US" b="true" sz="6075">
                <a:solidFill>
                  <a:srgbClr val="0F172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LÝ THUYẾT NỀN TẢNG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00125" y="6038850"/>
            <a:ext cx="16287750" cy="739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82"/>
              </a:lnSpc>
            </a:pPr>
            <a:r>
              <a:rPr lang="en-US" sz="270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Cơ sở toán học của các mô hình dự đoán và thuật toán phân cụm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00125" y="9515475"/>
            <a:ext cx="16287750" cy="414338"/>
            <a:chOff x="0" y="0"/>
            <a:chExt cx="21717000" cy="55245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21717000" cy="552450"/>
            </a:xfrm>
            <a:custGeom>
              <a:avLst/>
              <a:gdLst/>
              <a:ahLst/>
              <a:cxnLst/>
              <a:rect r="r" b="b" t="t" l="l"/>
              <a:pathLst>
                <a:path h="552450" w="21717000">
                  <a:moveTo>
                    <a:pt x="0" y="0"/>
                  </a:moveTo>
                  <a:lnTo>
                    <a:pt x="21717000" y="0"/>
                  </a:lnTo>
                  <a:lnTo>
                    <a:pt x="21717000" y="552450"/>
                  </a:lnTo>
                  <a:lnTo>
                    <a:pt x="0" y="552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00125" y="9672638"/>
            <a:ext cx="3271838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Nguyễn Minh Huy - 2582003023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144875" y="9672638"/>
            <a:ext cx="1161752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Slide 10 / 24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00125" y="1666394"/>
            <a:ext cx="7858125" cy="3497313"/>
            <a:chOff x="0" y="0"/>
            <a:chExt cx="10477500" cy="4663084"/>
          </a:xfrm>
        </p:grpSpPr>
        <p:sp>
          <p:nvSpPr>
            <p:cNvPr name="Freeform 4" id="4" descr="image.png"/>
            <p:cNvSpPr/>
            <p:nvPr/>
          </p:nvSpPr>
          <p:spPr>
            <a:xfrm flipH="false" flipV="false" rot="0">
              <a:off x="0" y="0"/>
              <a:ext cx="10477500" cy="4663059"/>
            </a:xfrm>
            <a:custGeom>
              <a:avLst/>
              <a:gdLst/>
              <a:ahLst/>
              <a:cxnLst/>
              <a:rect r="r" b="b" t="t" l="l"/>
              <a:pathLst>
                <a:path h="4663059" w="10477500">
                  <a:moveTo>
                    <a:pt x="0" y="0"/>
                  </a:moveTo>
                  <a:lnTo>
                    <a:pt x="10477500" y="0"/>
                  </a:lnTo>
                  <a:lnTo>
                    <a:pt x="10477500" y="4663059"/>
                  </a:lnTo>
                  <a:lnTo>
                    <a:pt x="0" y="46630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498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00125" y="5815122"/>
            <a:ext cx="7858125" cy="3497313"/>
            <a:chOff x="0" y="0"/>
            <a:chExt cx="10477500" cy="4663084"/>
          </a:xfrm>
        </p:grpSpPr>
        <p:sp>
          <p:nvSpPr>
            <p:cNvPr name="Freeform 6" id="6" descr="image.png"/>
            <p:cNvSpPr/>
            <p:nvPr/>
          </p:nvSpPr>
          <p:spPr>
            <a:xfrm flipH="false" flipV="false" rot="0">
              <a:off x="0" y="0"/>
              <a:ext cx="10477500" cy="4663059"/>
            </a:xfrm>
            <a:custGeom>
              <a:avLst/>
              <a:gdLst/>
              <a:ahLst/>
              <a:cxnLst/>
              <a:rect r="r" b="b" t="t" l="l"/>
              <a:pathLst>
                <a:path h="4663059" w="10477500">
                  <a:moveTo>
                    <a:pt x="0" y="0"/>
                  </a:moveTo>
                  <a:lnTo>
                    <a:pt x="10477500" y="0"/>
                  </a:lnTo>
                  <a:lnTo>
                    <a:pt x="10477500" y="4663059"/>
                  </a:lnTo>
                  <a:lnTo>
                    <a:pt x="0" y="46630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498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429750" y="5815122"/>
            <a:ext cx="7858125" cy="3497313"/>
            <a:chOff x="0" y="0"/>
            <a:chExt cx="10477500" cy="4663084"/>
          </a:xfrm>
        </p:grpSpPr>
        <p:sp>
          <p:nvSpPr>
            <p:cNvPr name="Freeform 8" id="8" descr="image.png"/>
            <p:cNvSpPr/>
            <p:nvPr/>
          </p:nvSpPr>
          <p:spPr>
            <a:xfrm flipH="false" flipV="false" rot="0">
              <a:off x="0" y="0"/>
              <a:ext cx="10477500" cy="4663059"/>
            </a:xfrm>
            <a:custGeom>
              <a:avLst/>
              <a:gdLst/>
              <a:ahLst/>
              <a:cxnLst/>
              <a:rect r="r" b="b" t="t" l="l"/>
              <a:pathLst>
                <a:path h="4663059" w="10477500">
                  <a:moveTo>
                    <a:pt x="0" y="0"/>
                  </a:moveTo>
                  <a:lnTo>
                    <a:pt x="10477500" y="0"/>
                  </a:lnTo>
                  <a:lnTo>
                    <a:pt x="10477500" y="4663059"/>
                  </a:lnTo>
                  <a:lnTo>
                    <a:pt x="0" y="46630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498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000125" y="9515475"/>
            <a:ext cx="16287750" cy="414338"/>
            <a:chOff x="0" y="0"/>
            <a:chExt cx="21717000" cy="55245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21717000" cy="552450"/>
            </a:xfrm>
            <a:custGeom>
              <a:avLst/>
              <a:gdLst/>
              <a:ahLst/>
              <a:cxnLst/>
              <a:rect r="r" b="b" t="t" l="l"/>
              <a:pathLst>
                <a:path h="552450" w="21717000">
                  <a:moveTo>
                    <a:pt x="0" y="0"/>
                  </a:moveTo>
                  <a:lnTo>
                    <a:pt x="21717000" y="0"/>
                  </a:lnTo>
                  <a:lnTo>
                    <a:pt x="21717000" y="552450"/>
                  </a:lnTo>
                  <a:lnTo>
                    <a:pt x="0" y="552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000125" y="9672638"/>
            <a:ext cx="3271838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Nguyễn Minh Huy - 2582003023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130588" y="9672638"/>
            <a:ext cx="1157288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Slide 11 / 24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43037" y="3057044"/>
            <a:ext cx="7320915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Linear Regression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43038" y="3509481"/>
            <a:ext cx="6972300" cy="1211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6"/>
              </a:lnSpc>
            </a:pPr>
            <a:r>
              <a:rPr lang="en-US" sz="180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Tìm hàm tuyến tính f(x) = w·x + b tối thiểu hóa tổng bình phương sai số. Áp dụng log1p transform lên target để giảm skewness, sau đó inverse bằng expm1 để dự đoán.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872662" y="3057044"/>
            <a:ext cx="7320915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Random Forest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429750" y="1646187"/>
            <a:ext cx="7858125" cy="3497313"/>
            <a:chOff x="0" y="0"/>
            <a:chExt cx="10477500" cy="4663084"/>
          </a:xfrm>
        </p:grpSpPr>
        <p:sp>
          <p:nvSpPr>
            <p:cNvPr name="Freeform 17" id="17" descr="image.png"/>
            <p:cNvSpPr/>
            <p:nvPr/>
          </p:nvSpPr>
          <p:spPr>
            <a:xfrm flipH="false" flipV="false" rot="0">
              <a:off x="0" y="0"/>
              <a:ext cx="10477500" cy="4663059"/>
            </a:xfrm>
            <a:custGeom>
              <a:avLst/>
              <a:gdLst/>
              <a:ahLst/>
              <a:cxnLst/>
              <a:rect r="r" b="b" t="t" l="l"/>
              <a:pathLst>
                <a:path h="4663059" w="10477500">
                  <a:moveTo>
                    <a:pt x="0" y="0"/>
                  </a:moveTo>
                  <a:lnTo>
                    <a:pt x="10477500" y="0"/>
                  </a:lnTo>
                  <a:lnTo>
                    <a:pt x="10477500" y="4663059"/>
                  </a:lnTo>
                  <a:lnTo>
                    <a:pt x="0" y="46630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498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9872662" y="3509481"/>
            <a:ext cx="7209834" cy="1264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6"/>
              </a:lnSpc>
            </a:pPr>
            <a:r>
              <a:rPr lang="en-US" sz="180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Ensemble nhiều cây quyết định (200 cây), mỗi cây fit trên bootstrap sample + random features. Cấu hình: n_estimators=200, min_samples_leaf=2. Giúp tự động nắm bắt tương tác phi tuyến.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43037" y="7205772"/>
            <a:ext cx="7320915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Gradient Boosting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43038" y="7658210"/>
            <a:ext cx="6972300" cy="1211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6"/>
              </a:lnSpc>
            </a:pPr>
            <a:r>
              <a:rPr lang="en-US" sz="180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Xây dựng cây tuần tự, mỗi cây sửa sai số của cây trước (stage-wise). Cấu hình: n_estimators=200, max_depth=4, lr=0.05. Thường cho CV R² cao nhưng nhạy cảm với overfitting.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872662" y="7205772"/>
            <a:ext cx="7320915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K-Means Clustering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872662" y="7658210"/>
            <a:ext cx="6972300" cy="1211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6"/>
              </a:lnSpc>
            </a:pPr>
            <a:r>
              <a:rPr lang="en-US" sz="180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Thuật toán Unsupervised, tối ưu WCSS. Chọn số cụm K tự động bằng hệ số Silhouette: </a:t>
            </a:r>
            <a:r>
              <a:rPr lang="en-US" sz="1800" i="true">
                <a:solidFill>
                  <a:srgbClr val="334155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s = (b - a) / max(a, b)</a:t>
            </a:r>
            <a:r>
              <a:rPr lang="en-US" sz="180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, giá trị thuộc [-1, 1]. Kết hợp Hybrid Recommender để gợi ý.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443038" y="2252181"/>
            <a:ext cx="514350" cy="514350"/>
            <a:chOff x="0" y="0"/>
            <a:chExt cx="685800" cy="685800"/>
          </a:xfrm>
        </p:grpSpPr>
        <p:sp>
          <p:nvSpPr>
            <p:cNvPr name="Freeform 24" id="24" descr="image.png"/>
            <p:cNvSpPr/>
            <p:nvPr/>
          </p:nvSpPr>
          <p:spPr>
            <a:xfrm flipH="false" flipV="false" rot="0">
              <a:off x="0" y="0"/>
              <a:ext cx="685800" cy="685800"/>
            </a:xfrm>
            <a:custGeom>
              <a:avLst/>
              <a:gdLst/>
              <a:ahLst/>
              <a:cxnLst/>
              <a:rect r="r" b="b" t="t" l="l"/>
              <a:pathLst>
                <a:path h="685800" w="685800">
                  <a:moveTo>
                    <a:pt x="0" y="0"/>
                  </a:moveTo>
                  <a:lnTo>
                    <a:pt x="685800" y="0"/>
                  </a:lnTo>
                  <a:lnTo>
                    <a:pt x="6858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-2777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9872662" y="2252181"/>
            <a:ext cx="642938" cy="514350"/>
            <a:chOff x="0" y="0"/>
            <a:chExt cx="857250" cy="685800"/>
          </a:xfrm>
        </p:grpSpPr>
        <p:sp>
          <p:nvSpPr>
            <p:cNvPr name="Freeform 26" id="26" descr="image.png"/>
            <p:cNvSpPr/>
            <p:nvPr/>
          </p:nvSpPr>
          <p:spPr>
            <a:xfrm flipH="false" flipV="false" rot="0">
              <a:off x="0" y="0"/>
              <a:ext cx="857250" cy="685800"/>
            </a:xfrm>
            <a:custGeom>
              <a:avLst/>
              <a:gdLst/>
              <a:ahLst/>
              <a:cxnLst/>
              <a:rect r="r" b="b" t="t" l="l"/>
              <a:pathLst>
                <a:path h="685800" w="857250">
                  <a:moveTo>
                    <a:pt x="0" y="0"/>
                  </a:moveTo>
                  <a:lnTo>
                    <a:pt x="857250" y="0"/>
                  </a:lnTo>
                  <a:lnTo>
                    <a:pt x="85725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-2777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443038" y="6400910"/>
            <a:ext cx="585788" cy="514350"/>
            <a:chOff x="0" y="0"/>
            <a:chExt cx="781050" cy="685800"/>
          </a:xfrm>
        </p:grpSpPr>
        <p:sp>
          <p:nvSpPr>
            <p:cNvPr name="Freeform 28" id="28" descr="image.png"/>
            <p:cNvSpPr/>
            <p:nvPr/>
          </p:nvSpPr>
          <p:spPr>
            <a:xfrm flipH="false" flipV="false" rot="0">
              <a:off x="0" y="0"/>
              <a:ext cx="781050" cy="685800"/>
            </a:xfrm>
            <a:custGeom>
              <a:avLst/>
              <a:gdLst/>
              <a:ahLst/>
              <a:cxnLst/>
              <a:rect r="r" b="b" t="t" l="l"/>
              <a:pathLst>
                <a:path h="685800" w="781050">
                  <a:moveTo>
                    <a:pt x="0" y="0"/>
                  </a:moveTo>
                  <a:lnTo>
                    <a:pt x="781050" y="0"/>
                  </a:lnTo>
                  <a:lnTo>
                    <a:pt x="78105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-2777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9872662" y="6400910"/>
            <a:ext cx="585788" cy="514350"/>
            <a:chOff x="0" y="0"/>
            <a:chExt cx="781050" cy="685800"/>
          </a:xfrm>
        </p:grpSpPr>
        <p:sp>
          <p:nvSpPr>
            <p:cNvPr name="Freeform 30" id="30" descr="image.png"/>
            <p:cNvSpPr/>
            <p:nvPr/>
          </p:nvSpPr>
          <p:spPr>
            <a:xfrm flipH="false" flipV="false" rot="0">
              <a:off x="0" y="0"/>
              <a:ext cx="781050" cy="685800"/>
            </a:xfrm>
            <a:custGeom>
              <a:avLst/>
              <a:gdLst/>
              <a:ahLst/>
              <a:cxnLst/>
              <a:rect r="r" b="b" t="t" l="l"/>
              <a:pathLst>
                <a:path h="685800" w="781050">
                  <a:moveTo>
                    <a:pt x="0" y="0"/>
                  </a:moveTo>
                  <a:lnTo>
                    <a:pt x="781050" y="0"/>
                  </a:lnTo>
                  <a:lnTo>
                    <a:pt x="78105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-2777"/>
              </a:stretch>
            </a:blip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1000125" y="606104"/>
            <a:ext cx="17102138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0"/>
              </a:lnSpc>
            </a:pPr>
            <a:r>
              <a:rPr lang="en-US" b="true" sz="4275">
                <a:solidFill>
                  <a:srgbClr val="0F172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CƠ SỞ LÝ THUYẾT THUẬT TOÁN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000125" y="1420492"/>
            <a:ext cx="16287750" cy="42862"/>
            <a:chOff x="0" y="0"/>
            <a:chExt cx="21717000" cy="5715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1717000" cy="57150"/>
            </a:xfrm>
            <a:custGeom>
              <a:avLst/>
              <a:gdLst/>
              <a:ahLst/>
              <a:cxnLst/>
              <a:rect r="r" b="b" t="t" l="l"/>
              <a:pathLst>
                <a:path h="57150" w="21717000">
                  <a:moveTo>
                    <a:pt x="0" y="0"/>
                  </a:moveTo>
                  <a:lnTo>
                    <a:pt x="21717000" y="0"/>
                  </a:lnTo>
                  <a:lnTo>
                    <a:pt x="217170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0284C7"/>
            </a:solid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00125" y="3318643"/>
            <a:ext cx="16287750" cy="739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82"/>
              </a:lnSpc>
            </a:pPr>
            <a:r>
              <a:rPr lang="en-US" sz="270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CHƯƠNG 3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286750" y="4486275"/>
            <a:ext cx="1714500" cy="85725"/>
            <a:chOff x="0" y="0"/>
            <a:chExt cx="2286000" cy="1143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86000" cy="114300"/>
            </a:xfrm>
            <a:custGeom>
              <a:avLst/>
              <a:gdLst/>
              <a:ahLst/>
              <a:cxnLst/>
              <a:rect r="r" b="b" t="t" l="l"/>
              <a:pathLst>
                <a:path h="114300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11430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0284C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4019141" y="5000625"/>
            <a:ext cx="10249719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89"/>
              </a:lnSpc>
            </a:pPr>
            <a:r>
              <a:rPr lang="en-US" b="true" sz="6075">
                <a:solidFill>
                  <a:srgbClr val="0F172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TRIỂN KHAI THUẬT TOÁN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00125" y="6038850"/>
            <a:ext cx="16287750" cy="739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82"/>
              </a:lnSpc>
            </a:pPr>
            <a:r>
              <a:rPr lang="en-US" sz="270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Kiến trúc hệ thống, Feature Pipeline và Thiết kế Module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00125" y="9515475"/>
            <a:ext cx="16287750" cy="414338"/>
            <a:chOff x="0" y="0"/>
            <a:chExt cx="21717000" cy="55245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21717000" cy="552450"/>
            </a:xfrm>
            <a:custGeom>
              <a:avLst/>
              <a:gdLst/>
              <a:ahLst/>
              <a:cxnLst/>
              <a:rect r="r" b="b" t="t" l="l"/>
              <a:pathLst>
                <a:path h="552450" w="21717000">
                  <a:moveTo>
                    <a:pt x="0" y="0"/>
                  </a:moveTo>
                  <a:lnTo>
                    <a:pt x="21717000" y="0"/>
                  </a:lnTo>
                  <a:lnTo>
                    <a:pt x="21717000" y="552450"/>
                  </a:lnTo>
                  <a:lnTo>
                    <a:pt x="0" y="552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00125" y="9672638"/>
            <a:ext cx="3271838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Nguyễn Minh Huy - 2582003023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144875" y="9672638"/>
            <a:ext cx="114300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Slide 12 / 24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00125" y="7915056"/>
            <a:ext cx="16287750" cy="982932"/>
            <a:chOff x="0" y="0"/>
            <a:chExt cx="21717000" cy="1310576"/>
          </a:xfrm>
        </p:grpSpPr>
        <p:sp>
          <p:nvSpPr>
            <p:cNvPr name="Freeform 4" id="4" descr="image.png"/>
            <p:cNvSpPr/>
            <p:nvPr/>
          </p:nvSpPr>
          <p:spPr>
            <a:xfrm flipH="false" flipV="false" rot="0">
              <a:off x="0" y="0"/>
              <a:ext cx="21717000" cy="1310640"/>
            </a:xfrm>
            <a:custGeom>
              <a:avLst/>
              <a:gdLst/>
              <a:ahLst/>
              <a:cxnLst/>
              <a:rect r="r" b="b" t="t" l="l"/>
              <a:pathLst>
                <a:path h="1310640" w="21717000">
                  <a:moveTo>
                    <a:pt x="0" y="0"/>
                  </a:moveTo>
                  <a:lnTo>
                    <a:pt x="21717000" y="0"/>
                  </a:lnTo>
                  <a:lnTo>
                    <a:pt x="21717000" y="1310640"/>
                  </a:lnTo>
                  <a:lnTo>
                    <a:pt x="0" y="1310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744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00125" y="2926032"/>
            <a:ext cx="7858125" cy="4560389"/>
            <a:chOff x="0" y="0"/>
            <a:chExt cx="10477500" cy="6080519"/>
          </a:xfrm>
        </p:grpSpPr>
        <p:sp>
          <p:nvSpPr>
            <p:cNvPr name="Freeform 6" id="6" descr="image.png"/>
            <p:cNvSpPr/>
            <p:nvPr/>
          </p:nvSpPr>
          <p:spPr>
            <a:xfrm flipH="false" flipV="false" rot="0">
              <a:off x="0" y="0"/>
              <a:ext cx="10477500" cy="6080506"/>
            </a:xfrm>
            <a:custGeom>
              <a:avLst/>
              <a:gdLst/>
              <a:ahLst/>
              <a:cxnLst/>
              <a:rect r="r" b="b" t="t" l="l"/>
              <a:pathLst>
                <a:path h="6080506" w="10477500">
                  <a:moveTo>
                    <a:pt x="0" y="0"/>
                  </a:moveTo>
                  <a:lnTo>
                    <a:pt x="10477500" y="0"/>
                  </a:lnTo>
                  <a:lnTo>
                    <a:pt x="10477500" y="6080506"/>
                  </a:lnTo>
                  <a:lnTo>
                    <a:pt x="0" y="60805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3296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429750" y="2926032"/>
            <a:ext cx="7858125" cy="4560389"/>
            <a:chOff x="0" y="0"/>
            <a:chExt cx="10477500" cy="6080519"/>
          </a:xfrm>
        </p:grpSpPr>
        <p:sp>
          <p:nvSpPr>
            <p:cNvPr name="Freeform 8" id="8" descr="image.png"/>
            <p:cNvSpPr/>
            <p:nvPr/>
          </p:nvSpPr>
          <p:spPr>
            <a:xfrm flipH="false" flipV="false" rot="0">
              <a:off x="0" y="0"/>
              <a:ext cx="10477500" cy="6080506"/>
            </a:xfrm>
            <a:custGeom>
              <a:avLst/>
              <a:gdLst/>
              <a:ahLst/>
              <a:cxnLst/>
              <a:rect r="r" b="b" t="t" l="l"/>
              <a:pathLst>
                <a:path h="6080506" w="10477500">
                  <a:moveTo>
                    <a:pt x="0" y="0"/>
                  </a:moveTo>
                  <a:lnTo>
                    <a:pt x="10477500" y="0"/>
                  </a:lnTo>
                  <a:lnTo>
                    <a:pt x="10477500" y="6080506"/>
                  </a:lnTo>
                  <a:lnTo>
                    <a:pt x="0" y="60805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3296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000125" y="9515475"/>
            <a:ext cx="16287750" cy="414338"/>
            <a:chOff x="0" y="0"/>
            <a:chExt cx="21717000" cy="55245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21717000" cy="552450"/>
            </a:xfrm>
            <a:custGeom>
              <a:avLst/>
              <a:gdLst/>
              <a:ahLst/>
              <a:cxnLst/>
              <a:rect r="r" b="b" t="t" l="l"/>
              <a:pathLst>
                <a:path h="552450" w="21717000">
                  <a:moveTo>
                    <a:pt x="0" y="0"/>
                  </a:moveTo>
                  <a:lnTo>
                    <a:pt x="21717000" y="0"/>
                  </a:lnTo>
                  <a:lnTo>
                    <a:pt x="21717000" y="552450"/>
                  </a:lnTo>
                  <a:lnTo>
                    <a:pt x="0" y="552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000125" y="2000250"/>
            <a:ext cx="16287750" cy="568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87"/>
              </a:lnSpc>
            </a:pPr>
            <a:r>
              <a:rPr lang="en-US" sz="2025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Sử dụng Pipeline chuẩn của scikit-learn để ngăn ngừa Data Leakage và dễ dàng tái sử dụng.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00125" y="9672638"/>
            <a:ext cx="3271838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Nguyễn Minh Huy - 2582003023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087725" y="9672638"/>
            <a:ext cx="120015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Slide 13 / 24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57312" y="8057931"/>
            <a:ext cx="15644812" cy="554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87"/>
              </a:lnSpc>
            </a:pPr>
            <a:r>
              <a:rPr lang="en-US" sz="2025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Tổng cộng (Fit trên Train): 9 Numeric + 38 OHE Categorical = 47 Features đầu vào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30655" y="3402282"/>
            <a:ext cx="7158990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Nhánh Numeric (9 Features)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43038" y="6243418"/>
            <a:ext cx="6972300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687" i="true">
                <a:solidFill>
                  <a:srgbClr val="334155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* Chọn Median thay vì Mean giúp giảm thiểu ảnh hưởng của Outliers trong diện tích, phòng.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869805" y="3402282"/>
            <a:ext cx="7149465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>
                <a:solidFill>
                  <a:srgbClr val="047857"/>
                </a:solidFill>
                <a:latin typeface="Montserrat"/>
                <a:ea typeface="Montserrat"/>
                <a:cs typeface="Montserrat"/>
                <a:sym typeface="Montserrat"/>
              </a:rPr>
              <a:t>Nhánh Categorical (3 Features)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872662" y="6243418"/>
            <a:ext cx="6972300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687" i="true">
                <a:solidFill>
                  <a:srgbClr val="334155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* Gộp các category quá hiếm (&lt; 10 lần xuất hiện) thành 1 dummy feature để tránh nhiễu.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2671762" y="3440382"/>
            <a:ext cx="242888" cy="285750"/>
            <a:chOff x="0" y="0"/>
            <a:chExt cx="323850" cy="381000"/>
          </a:xfrm>
        </p:grpSpPr>
        <p:sp>
          <p:nvSpPr>
            <p:cNvPr name="Freeform 20" id="20" descr="image.png"/>
            <p:cNvSpPr/>
            <p:nvPr/>
          </p:nvSpPr>
          <p:spPr>
            <a:xfrm flipH="false" flipV="false" rot="0">
              <a:off x="0" y="0"/>
              <a:ext cx="323850" cy="381000"/>
            </a:xfrm>
            <a:custGeom>
              <a:avLst/>
              <a:gdLst/>
              <a:ahLst/>
              <a:cxnLst/>
              <a:rect r="r" b="b" t="t" l="l"/>
              <a:pathLst>
                <a:path h="381000" w="323850">
                  <a:moveTo>
                    <a:pt x="0" y="0"/>
                  </a:moveTo>
                  <a:lnTo>
                    <a:pt x="323850" y="0"/>
                  </a:lnTo>
                  <a:lnTo>
                    <a:pt x="32385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-500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443038" y="4254770"/>
            <a:ext cx="6972300" cy="651424"/>
            <a:chOff x="0" y="0"/>
            <a:chExt cx="9296400" cy="868566"/>
          </a:xfrm>
        </p:grpSpPr>
        <p:sp>
          <p:nvSpPr>
            <p:cNvPr name="Freeform 22" id="22" descr="image.png"/>
            <p:cNvSpPr/>
            <p:nvPr/>
          </p:nvSpPr>
          <p:spPr>
            <a:xfrm flipH="false" flipV="false" rot="0">
              <a:off x="0" y="0"/>
              <a:ext cx="9296400" cy="868553"/>
            </a:xfrm>
            <a:custGeom>
              <a:avLst/>
              <a:gdLst/>
              <a:ahLst/>
              <a:cxnLst/>
              <a:rect r="r" b="b" t="t" l="l"/>
              <a:pathLst>
                <a:path h="868553" w="9296400">
                  <a:moveTo>
                    <a:pt x="0" y="0"/>
                  </a:moveTo>
                  <a:lnTo>
                    <a:pt x="9296400" y="0"/>
                  </a:lnTo>
                  <a:lnTo>
                    <a:pt x="9296400" y="868553"/>
                  </a:lnTo>
                  <a:lnTo>
                    <a:pt x="0" y="8685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-2664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4843462" y="5049069"/>
            <a:ext cx="171450" cy="228600"/>
            <a:chOff x="0" y="0"/>
            <a:chExt cx="228600" cy="304800"/>
          </a:xfrm>
        </p:grpSpPr>
        <p:sp>
          <p:nvSpPr>
            <p:cNvPr name="Freeform 24" id="24" descr="image.png"/>
            <p:cNvSpPr/>
            <p:nvPr/>
          </p:nvSpPr>
          <p:spPr>
            <a:xfrm flipH="false" flipV="false" rot="0">
              <a:off x="0" y="0"/>
              <a:ext cx="228600" cy="304800"/>
            </a:xfrm>
            <a:custGeom>
              <a:avLst/>
              <a:gdLst/>
              <a:ahLst/>
              <a:cxnLst/>
              <a:rect r="r" b="b" t="t" l="l"/>
              <a:pathLst>
                <a:path h="304800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-625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443038" y="5420544"/>
            <a:ext cx="6972300" cy="651424"/>
            <a:chOff x="0" y="0"/>
            <a:chExt cx="9296400" cy="868566"/>
          </a:xfrm>
        </p:grpSpPr>
        <p:sp>
          <p:nvSpPr>
            <p:cNvPr name="Freeform 26" id="26" descr="image.png"/>
            <p:cNvSpPr/>
            <p:nvPr/>
          </p:nvSpPr>
          <p:spPr>
            <a:xfrm flipH="false" flipV="false" rot="0">
              <a:off x="0" y="0"/>
              <a:ext cx="9296400" cy="868553"/>
            </a:xfrm>
            <a:custGeom>
              <a:avLst/>
              <a:gdLst/>
              <a:ahLst/>
              <a:cxnLst/>
              <a:rect r="r" b="b" t="t" l="l"/>
              <a:pathLst>
                <a:path h="868553" w="9296400">
                  <a:moveTo>
                    <a:pt x="0" y="0"/>
                  </a:moveTo>
                  <a:lnTo>
                    <a:pt x="9296400" y="0"/>
                  </a:lnTo>
                  <a:lnTo>
                    <a:pt x="9296400" y="868553"/>
                  </a:lnTo>
                  <a:lnTo>
                    <a:pt x="0" y="8685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-479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0901362" y="3440382"/>
            <a:ext cx="257175" cy="285750"/>
            <a:chOff x="0" y="0"/>
            <a:chExt cx="342900" cy="381000"/>
          </a:xfrm>
        </p:grpSpPr>
        <p:sp>
          <p:nvSpPr>
            <p:cNvPr name="Freeform 28" id="28" descr="image.png"/>
            <p:cNvSpPr/>
            <p:nvPr/>
          </p:nvSpPr>
          <p:spPr>
            <a:xfrm flipH="false" flipV="false" rot="0">
              <a:off x="0" y="0"/>
              <a:ext cx="342900" cy="381000"/>
            </a:xfrm>
            <a:custGeom>
              <a:avLst/>
              <a:gdLst/>
              <a:ahLst/>
              <a:cxnLst/>
              <a:rect r="r" b="b" t="t" l="l"/>
              <a:pathLst>
                <a:path h="3810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-500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9872662" y="4254770"/>
            <a:ext cx="6972300" cy="651424"/>
            <a:chOff x="0" y="0"/>
            <a:chExt cx="9296400" cy="868566"/>
          </a:xfrm>
        </p:grpSpPr>
        <p:sp>
          <p:nvSpPr>
            <p:cNvPr name="Freeform 30" id="30" descr="image.png"/>
            <p:cNvSpPr/>
            <p:nvPr/>
          </p:nvSpPr>
          <p:spPr>
            <a:xfrm flipH="false" flipV="false" rot="0">
              <a:off x="0" y="0"/>
              <a:ext cx="9296400" cy="868553"/>
            </a:xfrm>
            <a:custGeom>
              <a:avLst/>
              <a:gdLst/>
              <a:ahLst/>
              <a:cxnLst/>
              <a:rect r="r" b="b" t="t" l="l"/>
              <a:pathLst>
                <a:path h="868553" w="9296400">
                  <a:moveTo>
                    <a:pt x="0" y="0"/>
                  </a:moveTo>
                  <a:lnTo>
                    <a:pt x="9296400" y="0"/>
                  </a:lnTo>
                  <a:lnTo>
                    <a:pt x="9296400" y="868553"/>
                  </a:lnTo>
                  <a:lnTo>
                    <a:pt x="0" y="8685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-2664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3273088" y="5049069"/>
            <a:ext cx="171450" cy="228600"/>
            <a:chOff x="0" y="0"/>
            <a:chExt cx="228600" cy="304800"/>
          </a:xfrm>
        </p:grpSpPr>
        <p:sp>
          <p:nvSpPr>
            <p:cNvPr name="Freeform 32" id="32" descr="image.png"/>
            <p:cNvSpPr/>
            <p:nvPr/>
          </p:nvSpPr>
          <p:spPr>
            <a:xfrm flipH="false" flipV="false" rot="0">
              <a:off x="0" y="0"/>
              <a:ext cx="228600" cy="304800"/>
            </a:xfrm>
            <a:custGeom>
              <a:avLst/>
              <a:gdLst/>
              <a:ahLst/>
              <a:cxnLst/>
              <a:rect r="r" b="b" t="t" l="l"/>
              <a:pathLst>
                <a:path h="304800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-625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9872662" y="5420544"/>
            <a:ext cx="6972300" cy="651424"/>
            <a:chOff x="0" y="0"/>
            <a:chExt cx="9296400" cy="868566"/>
          </a:xfrm>
        </p:grpSpPr>
        <p:sp>
          <p:nvSpPr>
            <p:cNvPr name="Freeform 34" id="34" descr="image.png"/>
            <p:cNvSpPr/>
            <p:nvPr/>
          </p:nvSpPr>
          <p:spPr>
            <a:xfrm flipH="false" flipV="false" rot="0">
              <a:off x="0" y="0"/>
              <a:ext cx="9296400" cy="868553"/>
            </a:xfrm>
            <a:custGeom>
              <a:avLst/>
              <a:gdLst/>
              <a:ahLst/>
              <a:cxnLst/>
              <a:rect r="r" b="b" t="t" l="l"/>
              <a:pathLst>
                <a:path h="868553" w="9296400">
                  <a:moveTo>
                    <a:pt x="0" y="0"/>
                  </a:moveTo>
                  <a:lnTo>
                    <a:pt x="9296400" y="0"/>
                  </a:lnTo>
                  <a:lnTo>
                    <a:pt x="9296400" y="868553"/>
                  </a:lnTo>
                  <a:lnTo>
                    <a:pt x="0" y="8685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-479"/>
              </a:stretch>
            </a:blip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1000125" y="714375"/>
            <a:ext cx="17102138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0"/>
              </a:lnSpc>
            </a:pPr>
            <a:r>
              <a:rPr lang="en-US" b="true" sz="4275">
                <a:solidFill>
                  <a:srgbClr val="0F172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FEATURE PIPELINE (COLUMNTRANSFORMER)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000125" y="1528762"/>
            <a:ext cx="16287750" cy="42862"/>
            <a:chOff x="0" y="0"/>
            <a:chExt cx="21717000" cy="5715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1717000" cy="57150"/>
            </a:xfrm>
            <a:custGeom>
              <a:avLst/>
              <a:gdLst/>
              <a:ahLst/>
              <a:cxnLst/>
              <a:rect r="r" b="b" t="t" l="l"/>
              <a:pathLst>
                <a:path h="57150" w="21717000">
                  <a:moveTo>
                    <a:pt x="0" y="0"/>
                  </a:moveTo>
                  <a:lnTo>
                    <a:pt x="21717000" y="0"/>
                  </a:lnTo>
                  <a:lnTo>
                    <a:pt x="217170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0284C7"/>
            </a:solidFill>
          </p:spPr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00125" y="3318643"/>
            <a:ext cx="16287750" cy="739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82"/>
              </a:lnSpc>
            </a:pPr>
            <a:r>
              <a:rPr lang="en-US" sz="270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CHƯƠNG 4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286750" y="4486275"/>
            <a:ext cx="1714500" cy="85725"/>
            <a:chOff x="0" y="0"/>
            <a:chExt cx="2286000" cy="1143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86000" cy="114300"/>
            </a:xfrm>
            <a:custGeom>
              <a:avLst/>
              <a:gdLst/>
              <a:ahLst/>
              <a:cxnLst/>
              <a:rect r="r" b="b" t="t" l="l"/>
              <a:pathLst>
                <a:path h="114300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11430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0284C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3902236" y="5000625"/>
            <a:ext cx="10483528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89"/>
              </a:lnSpc>
            </a:pPr>
            <a:r>
              <a:rPr lang="en-US" b="true" sz="6075">
                <a:solidFill>
                  <a:srgbClr val="0F172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THỰC NGHIỆM &amp; KẾT QUẢ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00125" y="6038850"/>
            <a:ext cx="16287750" cy="739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82"/>
              </a:lnSpc>
            </a:pPr>
            <a:r>
              <a:rPr lang="en-US" sz="270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Giải quyết 6 câu hỏi nghiên cứu thông qua phân tích dữ liệu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00125" y="9515475"/>
            <a:ext cx="16287750" cy="414338"/>
            <a:chOff x="0" y="0"/>
            <a:chExt cx="21717000" cy="55245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21717000" cy="552450"/>
            </a:xfrm>
            <a:custGeom>
              <a:avLst/>
              <a:gdLst/>
              <a:ahLst/>
              <a:cxnLst/>
              <a:rect r="r" b="b" t="t" l="l"/>
              <a:pathLst>
                <a:path h="552450" w="21717000">
                  <a:moveTo>
                    <a:pt x="0" y="0"/>
                  </a:moveTo>
                  <a:lnTo>
                    <a:pt x="21717000" y="0"/>
                  </a:lnTo>
                  <a:lnTo>
                    <a:pt x="21717000" y="552450"/>
                  </a:lnTo>
                  <a:lnTo>
                    <a:pt x="0" y="552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00125" y="9672638"/>
            <a:ext cx="3271838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Nguyễn Minh Huy - 2582003023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144875" y="9672638"/>
            <a:ext cx="1161604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Slide 14 / 24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00125" y="6872288"/>
            <a:ext cx="16287750" cy="1394374"/>
            <a:chOff x="0" y="0"/>
            <a:chExt cx="21717000" cy="1859166"/>
          </a:xfrm>
        </p:grpSpPr>
        <p:sp>
          <p:nvSpPr>
            <p:cNvPr name="Freeform 4" id="4" descr="image.png"/>
            <p:cNvSpPr/>
            <p:nvPr/>
          </p:nvSpPr>
          <p:spPr>
            <a:xfrm flipH="false" flipV="false" rot="0">
              <a:off x="0" y="0"/>
              <a:ext cx="21717000" cy="1859153"/>
            </a:xfrm>
            <a:custGeom>
              <a:avLst/>
              <a:gdLst/>
              <a:ahLst/>
              <a:cxnLst/>
              <a:rect r="r" b="b" t="t" l="l"/>
              <a:pathLst>
                <a:path h="1859153" w="21717000">
                  <a:moveTo>
                    <a:pt x="0" y="0"/>
                  </a:moveTo>
                  <a:lnTo>
                    <a:pt x="21717000" y="0"/>
                  </a:lnTo>
                  <a:lnTo>
                    <a:pt x="21717000" y="1859153"/>
                  </a:lnTo>
                  <a:lnTo>
                    <a:pt x="0" y="18591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416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00125" y="2000250"/>
            <a:ext cx="16287750" cy="7572375"/>
            <a:chOff x="0" y="0"/>
            <a:chExt cx="21717000" cy="10096500"/>
          </a:xfrm>
        </p:grpSpPr>
        <p:sp>
          <p:nvSpPr>
            <p:cNvPr name="Freeform 6" id="6" descr="image.png"/>
            <p:cNvSpPr/>
            <p:nvPr/>
          </p:nvSpPr>
          <p:spPr>
            <a:xfrm flipH="false" flipV="false" rot="0">
              <a:off x="0" y="0"/>
              <a:ext cx="21717000" cy="10096500"/>
            </a:xfrm>
            <a:custGeom>
              <a:avLst/>
              <a:gdLst/>
              <a:ahLst/>
              <a:cxnLst/>
              <a:rect r="r" b="b" t="t" l="l"/>
              <a:pathLst>
                <a:path h="10096500" w="21717000">
                  <a:moveTo>
                    <a:pt x="0" y="0"/>
                  </a:moveTo>
                  <a:lnTo>
                    <a:pt x="21717000" y="0"/>
                  </a:lnTo>
                  <a:lnTo>
                    <a:pt x="21717000" y="10096500"/>
                  </a:lnTo>
                  <a:lnTo>
                    <a:pt x="0" y="10096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00125" y="9515475"/>
            <a:ext cx="16287750" cy="414338"/>
            <a:chOff x="0" y="0"/>
            <a:chExt cx="21717000" cy="552450"/>
          </a:xfrm>
        </p:grpSpPr>
        <p:sp>
          <p:nvSpPr>
            <p:cNvPr name="Freeform 8" id="8" descr="image.png"/>
            <p:cNvSpPr/>
            <p:nvPr/>
          </p:nvSpPr>
          <p:spPr>
            <a:xfrm flipH="false" flipV="false" rot="0">
              <a:off x="0" y="0"/>
              <a:ext cx="21717000" cy="552450"/>
            </a:xfrm>
            <a:custGeom>
              <a:avLst/>
              <a:gdLst/>
              <a:ahLst/>
              <a:cxnLst/>
              <a:rect r="r" b="b" t="t" l="l"/>
              <a:pathLst>
                <a:path h="552450" w="21717000">
                  <a:moveTo>
                    <a:pt x="0" y="0"/>
                  </a:moveTo>
                  <a:lnTo>
                    <a:pt x="21717000" y="0"/>
                  </a:lnTo>
                  <a:lnTo>
                    <a:pt x="21717000" y="552450"/>
                  </a:lnTo>
                  <a:lnTo>
                    <a:pt x="0" y="552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000125" y="9672638"/>
            <a:ext cx="3271838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Nguyễn Minh Huy - 2582003023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087725" y="9672638"/>
            <a:ext cx="120015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Slide 15 / 24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57312" y="7015163"/>
            <a:ext cx="15644812" cy="965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7"/>
              </a:lnSpc>
            </a:pPr>
            <a:r>
              <a:rPr lang="en-US" sz="2025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Kết luận: Quận Bình Thạnh dẫn đầu mức giá (71.4 triệu/m²) nhờ vị trí giáp trung tâm và các dự án cao cấp (view sông). Quận Bình Tân có mức giá dễ tiếp cận nhất (42.8 triệu/m²).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00125" y="714375"/>
            <a:ext cx="17102138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0"/>
              </a:lnSpc>
            </a:pPr>
            <a:r>
              <a:rPr lang="en-US" b="true" sz="4275">
                <a:solidFill>
                  <a:srgbClr val="0F172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C1: QUẬN NÀO CÓ GIÁ/M² CAO NHẤT?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000125" y="1528762"/>
            <a:ext cx="16287750" cy="42862"/>
            <a:chOff x="0" y="0"/>
            <a:chExt cx="21717000" cy="571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717000" cy="57150"/>
            </a:xfrm>
            <a:custGeom>
              <a:avLst/>
              <a:gdLst/>
              <a:ahLst/>
              <a:cxnLst/>
              <a:rect r="r" b="b" t="t" l="l"/>
              <a:pathLst>
                <a:path h="57150" w="21717000">
                  <a:moveTo>
                    <a:pt x="0" y="0"/>
                  </a:moveTo>
                  <a:lnTo>
                    <a:pt x="21717000" y="0"/>
                  </a:lnTo>
                  <a:lnTo>
                    <a:pt x="217170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0284C7"/>
            </a:solidFill>
          </p:spPr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429750" y="2143125"/>
            <a:ext cx="7858125" cy="4154538"/>
            <a:chOff x="0" y="0"/>
            <a:chExt cx="10477500" cy="5539384"/>
          </a:xfrm>
        </p:grpSpPr>
        <p:sp>
          <p:nvSpPr>
            <p:cNvPr name="Freeform 4" id="4" descr="image.png"/>
            <p:cNvSpPr/>
            <p:nvPr/>
          </p:nvSpPr>
          <p:spPr>
            <a:xfrm flipH="false" flipV="false" rot="0">
              <a:off x="0" y="0"/>
              <a:ext cx="10477500" cy="5539359"/>
            </a:xfrm>
            <a:custGeom>
              <a:avLst/>
              <a:gdLst/>
              <a:ahLst/>
              <a:cxnLst/>
              <a:rect r="r" b="b" t="t" l="l"/>
              <a:pathLst>
                <a:path h="5539359" w="10477500">
                  <a:moveTo>
                    <a:pt x="0" y="0"/>
                  </a:moveTo>
                  <a:lnTo>
                    <a:pt x="10477500" y="0"/>
                  </a:lnTo>
                  <a:lnTo>
                    <a:pt x="10477500" y="5539359"/>
                  </a:lnTo>
                  <a:lnTo>
                    <a:pt x="0" y="55393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75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00125" y="9515475"/>
            <a:ext cx="16287750" cy="414338"/>
            <a:chOff x="0" y="0"/>
            <a:chExt cx="21717000" cy="552450"/>
          </a:xfrm>
        </p:grpSpPr>
        <p:sp>
          <p:nvSpPr>
            <p:cNvPr name="Freeform 6" id="6" descr="image.png"/>
            <p:cNvSpPr/>
            <p:nvPr/>
          </p:nvSpPr>
          <p:spPr>
            <a:xfrm flipH="false" flipV="false" rot="0">
              <a:off x="0" y="0"/>
              <a:ext cx="21717000" cy="552450"/>
            </a:xfrm>
            <a:custGeom>
              <a:avLst/>
              <a:gdLst/>
              <a:ahLst/>
              <a:cxnLst/>
              <a:rect r="r" b="b" t="t" l="l"/>
              <a:pathLst>
                <a:path h="552450" w="21717000">
                  <a:moveTo>
                    <a:pt x="0" y="0"/>
                  </a:moveTo>
                  <a:lnTo>
                    <a:pt x="21717000" y="0"/>
                  </a:lnTo>
                  <a:lnTo>
                    <a:pt x="21717000" y="552450"/>
                  </a:lnTo>
                  <a:lnTo>
                    <a:pt x="0" y="552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000125" y="9672638"/>
            <a:ext cx="3271838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Nguyễn Minh Huy - 2582003023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073438" y="9672638"/>
            <a:ext cx="1214438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Slide 16 / 24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71625" y="2071687"/>
            <a:ext cx="8251031" cy="414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284C7"/>
                </a:solidFill>
                <a:latin typeface="Montserrat"/>
                <a:ea typeface="Montserrat"/>
                <a:cs typeface="Montserrat"/>
                <a:sym typeface="Montserrat"/>
              </a:rPr>
              <a:t>Tương quan Tuyến tính (Pearson)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858375" y="2562225"/>
            <a:ext cx="7350919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D97706"/>
                </a:solidFill>
                <a:latin typeface="Montserrat"/>
                <a:ea typeface="Montserrat"/>
                <a:cs typeface="Montserrat"/>
                <a:sym typeface="Montserrat"/>
              </a:rPr>
              <a:t>Heatmap Insight (Đúc kết)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858375" y="3086100"/>
            <a:ext cx="7000875" cy="845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6"/>
              </a:lnSpc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Dữ liệu BĐS mang tính đặc thù cao. Giá trị thực tế phụ thuộc lớn vào: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858375" y="5068938"/>
            <a:ext cx="7000875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687" i="true">
                <a:solidFill>
                  <a:srgbClr val="E0F2FE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* Đây là nguyên nhân khiến việc dự đoán chính xác bằng Numeric Features gặp nhiều giới hạn.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71625" y="2619375"/>
            <a:ext cx="7286625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2250">
                <a:solidFill>
                  <a:srgbClr val="0F172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Diện tích &amp; Tổng giá:</a:t>
            </a:r>
            <a:r>
              <a:rPr lang="en-US" sz="225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Quan hệ tuyến tính rất mạnh (corr = 0.70).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71625" y="3819525"/>
            <a:ext cx="7286625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2250">
                <a:solidFill>
                  <a:srgbClr val="0F172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Diện tích &amp; Giá/m²:</a:t>
            </a:r>
            <a:r>
              <a:rPr lang="en-US" sz="225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Ít phụ thuộc (corr = 0.29). Căn hộ lớn không đồng nghĩa với giá mỗi mét vuông đắt hơn.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71625" y="5019675"/>
            <a:ext cx="7286625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2250">
                <a:solidFill>
                  <a:srgbClr val="0F172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Số phòng ngủ:</a:t>
            </a:r>
            <a:r>
              <a:rPr lang="en-US" sz="225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Phân bố tập trung vào loại 2PN (chiếm 67%, 1.189 tin). Loại 1PN và 3PN chia đều ~16%.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71625" y="6219825"/>
            <a:ext cx="7286625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2250">
                <a:solidFill>
                  <a:srgbClr val="0F172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Thuộc tính phụ:</a:t>
            </a:r>
            <a:r>
              <a:rPr lang="en-US" sz="225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Hướng nhà, ban công, nội thất, pháp lý có ảnh hưởng RẤT YẾU đến giá (corr &lt; 0.1).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858375" y="4135079"/>
            <a:ext cx="100012" cy="423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025062" y="4003157"/>
            <a:ext cx="6648450" cy="554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7"/>
              </a:lnSpc>
            </a:pPr>
            <a:r>
              <a:rPr lang="en-US" sz="202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Vị trí vi mô (Mặt tiền, hẻm, dự án nào)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858375" y="4546511"/>
            <a:ext cx="100012" cy="423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025062" y="4414599"/>
            <a:ext cx="6648450" cy="554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7"/>
              </a:lnSpc>
            </a:pPr>
            <a:r>
              <a:rPr lang="en-US" sz="202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Các yếu tố Vô hình (View sông, tầng cao)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00125" y="714375"/>
            <a:ext cx="17102138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0"/>
              </a:lnSpc>
            </a:pPr>
            <a:r>
              <a:rPr lang="en-US" b="true" sz="4275">
                <a:solidFill>
                  <a:srgbClr val="0F172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C2 &amp; C3: ẢNH HƯỞNG CỦA DIỆN TÍCH &amp; HƯỚNG NHÀ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000125" y="1528762"/>
            <a:ext cx="16287750" cy="42862"/>
            <a:chOff x="0" y="0"/>
            <a:chExt cx="21717000" cy="5715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717000" cy="57150"/>
            </a:xfrm>
            <a:custGeom>
              <a:avLst/>
              <a:gdLst/>
              <a:ahLst/>
              <a:cxnLst/>
              <a:rect r="r" b="b" t="t" l="l"/>
              <a:pathLst>
                <a:path h="57150" w="21717000">
                  <a:moveTo>
                    <a:pt x="0" y="0"/>
                  </a:moveTo>
                  <a:lnTo>
                    <a:pt x="21717000" y="0"/>
                  </a:lnTo>
                  <a:lnTo>
                    <a:pt x="217170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0284C7"/>
            </a:solidFill>
          </p:spPr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00125" y="6525816"/>
            <a:ext cx="16287750" cy="1805807"/>
            <a:chOff x="0" y="0"/>
            <a:chExt cx="21717000" cy="2407742"/>
          </a:xfrm>
        </p:grpSpPr>
        <p:sp>
          <p:nvSpPr>
            <p:cNvPr name="Freeform 4" id="4" descr="image.png"/>
            <p:cNvSpPr/>
            <p:nvPr/>
          </p:nvSpPr>
          <p:spPr>
            <a:xfrm flipH="false" flipV="false" rot="0">
              <a:off x="0" y="0"/>
              <a:ext cx="21717000" cy="2407793"/>
            </a:xfrm>
            <a:custGeom>
              <a:avLst/>
              <a:gdLst/>
              <a:ahLst/>
              <a:cxnLst/>
              <a:rect r="r" b="b" t="t" l="l"/>
              <a:pathLst>
                <a:path h="2407793" w="21717000">
                  <a:moveTo>
                    <a:pt x="0" y="0"/>
                  </a:moveTo>
                  <a:lnTo>
                    <a:pt x="21717000" y="0"/>
                  </a:lnTo>
                  <a:lnTo>
                    <a:pt x="21717000" y="2407793"/>
                  </a:lnTo>
                  <a:lnTo>
                    <a:pt x="0" y="2407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271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00125" y="9515475"/>
            <a:ext cx="16287750" cy="414338"/>
            <a:chOff x="0" y="0"/>
            <a:chExt cx="21717000" cy="552450"/>
          </a:xfrm>
        </p:grpSpPr>
        <p:sp>
          <p:nvSpPr>
            <p:cNvPr name="Freeform 6" id="6" descr="image.png"/>
            <p:cNvSpPr/>
            <p:nvPr/>
          </p:nvSpPr>
          <p:spPr>
            <a:xfrm flipH="false" flipV="false" rot="0">
              <a:off x="0" y="0"/>
              <a:ext cx="21717000" cy="552450"/>
            </a:xfrm>
            <a:custGeom>
              <a:avLst/>
              <a:gdLst/>
              <a:ahLst/>
              <a:cxnLst/>
              <a:rect r="r" b="b" t="t" l="l"/>
              <a:pathLst>
                <a:path h="552450" w="21717000">
                  <a:moveTo>
                    <a:pt x="0" y="0"/>
                  </a:moveTo>
                  <a:lnTo>
                    <a:pt x="21717000" y="0"/>
                  </a:lnTo>
                  <a:lnTo>
                    <a:pt x="21717000" y="552450"/>
                  </a:lnTo>
                  <a:lnTo>
                    <a:pt x="0" y="552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000125" y="9672638"/>
            <a:ext cx="3271838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Nguyễn Minh Huy - 2582003023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073438" y="9672638"/>
            <a:ext cx="1214438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Slide 17 / 24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92981" y="2135981"/>
            <a:ext cx="16302038" cy="4111228"/>
            <a:chOff x="0" y="0"/>
            <a:chExt cx="21736050" cy="548163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736050" cy="5481574"/>
            </a:xfrm>
            <a:custGeom>
              <a:avLst/>
              <a:gdLst/>
              <a:ahLst/>
              <a:cxnLst/>
              <a:rect r="r" b="b" t="t" l="l"/>
              <a:pathLst>
                <a:path h="5481574" w="21736050">
                  <a:moveTo>
                    <a:pt x="0" y="0"/>
                  </a:moveTo>
                  <a:lnTo>
                    <a:pt x="21736050" y="0"/>
                  </a:lnTo>
                  <a:lnTo>
                    <a:pt x="21736050" y="5481574"/>
                  </a:lnTo>
                  <a:lnTo>
                    <a:pt x="0" y="5481574"/>
                  </a:lnTo>
                </a:path>
              </a:pathLst>
            </a:custGeom>
            <a:solidFill>
              <a:srgbClr val="FFFFFF"/>
            </a:solidFill>
            <a:ln w="14288" cap="sq">
              <a:solidFill>
                <a:srgbClr val="4A7DBA"/>
              </a:solidFill>
              <a:prstDash val="solid"/>
              <a:miter/>
            </a:ln>
          </p:spPr>
        </p:sp>
      </p:grpSp>
      <p:graphicFrame>
        <p:nvGraphicFramePr>
          <p:cNvPr name="Table 11" id="11"/>
          <p:cNvGraphicFramePr>
            <a:graphicFrameLocks noGrp="true"/>
          </p:cNvGraphicFramePr>
          <p:nvPr/>
        </p:nvGraphicFramePr>
        <p:xfrm>
          <a:off x="1000125" y="2143125"/>
          <a:ext cx="16230600" cy="4095750"/>
        </p:xfrm>
        <a:graphic>
          <a:graphicData uri="http://schemas.openxmlformats.org/drawingml/2006/table">
            <a:tbl>
              <a:tblPr/>
              <a:tblGrid>
                <a:gridCol w="4136896"/>
                <a:gridCol w="2313232"/>
                <a:gridCol w="1983489"/>
                <a:gridCol w="2664830"/>
                <a:gridCol w="2873503"/>
                <a:gridCol w="2258651"/>
              </a:tblGrid>
              <a:tr h="8191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25"/>
                        </a:lnSpc>
                        <a:defRPr/>
                      </a:pPr>
                      <a:r>
                        <a:rPr lang="en-US" sz="1687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Mô hình</a:t>
                      </a:r>
                      <a:endParaRPr lang="en-US" sz="1100"/>
                    </a:p>
                  </a:txBody>
                  <a:tcPr marL="67363" marR="67363" marT="67363" marB="67363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25"/>
                        </a:lnSpc>
                        <a:defRPr/>
                      </a:pPr>
                      <a:r>
                        <a:rPr lang="en-US" sz="1687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CV MAE</a:t>
                      </a:r>
                      <a:endParaRPr lang="en-US" sz="1100"/>
                    </a:p>
                  </a:txBody>
                  <a:tcPr marL="67363" marR="67363" marT="67363" marB="67363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25"/>
                        </a:lnSpc>
                        <a:defRPr/>
                      </a:pPr>
                      <a:r>
                        <a:rPr lang="en-US" sz="1687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CV R²</a:t>
                      </a:r>
                      <a:endParaRPr lang="en-US" sz="1100"/>
                    </a:p>
                  </a:txBody>
                  <a:tcPr marL="67363" marR="67363" marT="67363" marB="67363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25"/>
                        </a:lnSpc>
                        <a:defRPr/>
                      </a:pPr>
                      <a:r>
                        <a:rPr lang="en-US" sz="1687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Test MAE</a:t>
                      </a:r>
                      <a:endParaRPr lang="en-US" sz="1100"/>
                    </a:p>
                  </a:txBody>
                  <a:tcPr marL="67363" marR="67363" marT="67363" marB="67363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25"/>
                        </a:lnSpc>
                        <a:defRPr/>
                      </a:pPr>
                      <a:r>
                        <a:rPr lang="en-US" sz="1687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Test RMSE</a:t>
                      </a:r>
                      <a:endParaRPr lang="en-US" sz="1100"/>
                    </a:p>
                  </a:txBody>
                  <a:tcPr marL="67363" marR="67363" marT="67363" marB="67363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25"/>
                        </a:lnSpc>
                        <a:defRPr/>
                      </a:pPr>
                      <a:r>
                        <a:rPr lang="en-US" sz="1687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Test R²</a:t>
                      </a:r>
                      <a:endParaRPr lang="en-US" sz="1100"/>
                    </a:p>
                  </a:txBody>
                  <a:tcPr marL="67363" marR="67363" marT="67363" marB="67363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8191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95"/>
                        </a:lnSpc>
                        <a:defRPr/>
                      </a:pPr>
                      <a:r>
                        <a:rPr lang="en-US" sz="1912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Dummy (Baseline)</a:t>
                      </a:r>
                      <a:endParaRPr lang="en-US" sz="1100"/>
                    </a:p>
                  </a:txBody>
                  <a:tcPr marL="67363" marR="67363" marT="67363" marB="67363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95"/>
                        </a:lnSpc>
                        <a:defRPr/>
                      </a:pPr>
                      <a:r>
                        <a:rPr lang="en-US" sz="1912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18.8 M</a:t>
                      </a:r>
                      <a:endParaRPr lang="en-US" sz="1100"/>
                    </a:p>
                  </a:txBody>
                  <a:tcPr marL="67363" marR="67363" marT="67363" marB="67363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95"/>
                        </a:lnSpc>
                        <a:defRPr/>
                      </a:pPr>
                      <a:r>
                        <a:rPr lang="en-US" sz="1912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-0.048</a:t>
                      </a:r>
                      <a:endParaRPr lang="en-US" sz="1100"/>
                    </a:p>
                  </a:txBody>
                  <a:tcPr marL="67363" marR="67363" marT="67363" marB="67363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95"/>
                        </a:lnSpc>
                        <a:defRPr/>
                      </a:pPr>
                      <a:r>
                        <a:rPr lang="en-US" sz="1912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18.5 M</a:t>
                      </a:r>
                      <a:endParaRPr lang="en-US" sz="1100"/>
                    </a:p>
                  </a:txBody>
                  <a:tcPr marL="67363" marR="67363" marT="67363" marB="67363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95"/>
                        </a:lnSpc>
                        <a:defRPr/>
                      </a:pPr>
                      <a:r>
                        <a:rPr lang="en-US" sz="1912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37.1 M</a:t>
                      </a:r>
                      <a:endParaRPr lang="en-US" sz="1100"/>
                    </a:p>
                  </a:txBody>
                  <a:tcPr marL="67363" marR="67363" marT="67363" marB="67363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95"/>
                        </a:lnSpc>
                        <a:defRPr/>
                      </a:pPr>
                      <a:r>
                        <a:rPr lang="en-US" sz="1912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-0.041</a:t>
                      </a:r>
                      <a:endParaRPr lang="en-US" sz="1100"/>
                    </a:p>
                  </a:txBody>
                  <a:tcPr marL="67363" marR="67363" marT="67363" marB="67363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</a:tr>
              <a:tr h="8191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95"/>
                        </a:lnSpc>
                        <a:defRPr/>
                      </a:pPr>
                      <a:r>
                        <a:rPr lang="en-US" sz="1912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Linear Regression</a:t>
                      </a:r>
                      <a:endParaRPr lang="en-US" sz="1100"/>
                    </a:p>
                  </a:txBody>
                  <a:tcPr marL="67363" marR="67363" marT="67363" marB="67363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95"/>
                        </a:lnSpc>
                        <a:defRPr/>
                      </a:pPr>
                      <a:r>
                        <a:rPr lang="en-US" sz="1912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14.1 M</a:t>
                      </a:r>
                      <a:endParaRPr lang="en-US" sz="1100"/>
                    </a:p>
                  </a:txBody>
                  <a:tcPr marL="67363" marR="67363" marT="67363" marB="67363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95"/>
                        </a:lnSpc>
                        <a:defRPr/>
                      </a:pPr>
                      <a:r>
                        <a:rPr lang="en-US" sz="1912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0.294</a:t>
                      </a:r>
                      <a:endParaRPr lang="en-US" sz="1100"/>
                    </a:p>
                  </a:txBody>
                  <a:tcPr marL="67363" marR="67363" marT="67363" marB="67363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95"/>
                        </a:lnSpc>
                        <a:defRPr/>
                      </a:pPr>
                      <a:r>
                        <a:rPr lang="en-US" sz="1912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14.9 M</a:t>
                      </a:r>
                      <a:endParaRPr lang="en-US" sz="1100"/>
                    </a:p>
                  </a:txBody>
                  <a:tcPr marL="67363" marR="67363" marT="67363" marB="67363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95"/>
                        </a:lnSpc>
                        <a:defRPr/>
                      </a:pPr>
                      <a:r>
                        <a:rPr lang="en-US" sz="1912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33.7 M</a:t>
                      </a:r>
                      <a:endParaRPr lang="en-US" sz="1100"/>
                    </a:p>
                  </a:txBody>
                  <a:tcPr marL="67363" marR="67363" marT="67363" marB="67363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95"/>
                        </a:lnSpc>
                        <a:defRPr/>
                      </a:pPr>
                      <a:r>
                        <a:rPr lang="en-US" sz="1912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0.143</a:t>
                      </a:r>
                      <a:endParaRPr lang="en-US" sz="1100"/>
                    </a:p>
                  </a:txBody>
                  <a:tcPr marL="67363" marR="67363" marT="67363" marB="67363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8191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95"/>
                        </a:lnSpc>
                        <a:defRPr/>
                      </a:pPr>
                      <a:r>
                        <a:rPr lang="en-US" sz="1912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Random Forest</a:t>
                      </a:r>
                      <a:endParaRPr lang="en-US" sz="1100"/>
                    </a:p>
                  </a:txBody>
                  <a:tcPr marL="67363" marR="67363" marT="67363" marB="67363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95"/>
                        </a:lnSpc>
                        <a:defRPr/>
                      </a:pPr>
                      <a:r>
                        <a:rPr lang="en-US" sz="1912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13.0 M</a:t>
                      </a:r>
                      <a:endParaRPr lang="en-US" sz="1100"/>
                    </a:p>
                  </a:txBody>
                  <a:tcPr marL="67363" marR="67363" marT="67363" marB="67363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95"/>
                        </a:lnSpc>
                        <a:defRPr/>
                      </a:pPr>
                      <a:r>
                        <a:rPr lang="en-US" sz="1912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0.357</a:t>
                      </a:r>
                      <a:endParaRPr lang="en-US" sz="1100"/>
                    </a:p>
                  </a:txBody>
                  <a:tcPr marL="67363" marR="67363" marT="67363" marB="67363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95"/>
                        </a:lnSpc>
                        <a:defRPr/>
                      </a:pPr>
                      <a:r>
                        <a:rPr lang="en-US" sz="1912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13.9 M</a:t>
                      </a:r>
                      <a:endParaRPr lang="en-US" sz="1100"/>
                    </a:p>
                  </a:txBody>
                  <a:tcPr marL="67363" marR="67363" marT="67363" marB="67363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95"/>
                        </a:lnSpc>
                        <a:defRPr/>
                      </a:pPr>
                      <a:r>
                        <a:rPr lang="en-US" sz="1912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33.2 M</a:t>
                      </a:r>
                      <a:endParaRPr lang="en-US" sz="1100"/>
                    </a:p>
                  </a:txBody>
                  <a:tcPr marL="67363" marR="67363" marT="67363" marB="67363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95"/>
                        </a:lnSpc>
                        <a:defRPr/>
                      </a:pPr>
                      <a:r>
                        <a:rPr lang="en-US" sz="1912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0.169</a:t>
                      </a:r>
                      <a:endParaRPr lang="en-US" sz="1100"/>
                    </a:p>
                  </a:txBody>
                  <a:tcPr marL="67363" marR="67363" marT="67363" marB="67363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8191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95"/>
                        </a:lnSpc>
                        <a:defRPr/>
                      </a:pPr>
                      <a:r>
                        <a:rPr lang="en-US" sz="1912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Gradient Boosting</a:t>
                      </a:r>
                      <a:endParaRPr lang="en-US" sz="1100"/>
                    </a:p>
                  </a:txBody>
                  <a:tcPr marL="67363" marR="67363" marT="67363" marB="67363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95"/>
                        </a:lnSpc>
                        <a:defRPr/>
                      </a:pPr>
                      <a:r>
                        <a:rPr lang="en-US" sz="1912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13.4 M</a:t>
                      </a:r>
                      <a:endParaRPr lang="en-US" sz="1100"/>
                    </a:p>
                  </a:txBody>
                  <a:tcPr marL="67363" marR="67363" marT="67363" marB="67363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95"/>
                        </a:lnSpc>
                        <a:defRPr/>
                      </a:pPr>
                      <a:r>
                        <a:rPr lang="en-US" sz="1912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0.366</a:t>
                      </a:r>
                      <a:endParaRPr lang="en-US" sz="1100"/>
                    </a:p>
                  </a:txBody>
                  <a:tcPr marL="67363" marR="67363" marT="67363" marB="67363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95"/>
                        </a:lnSpc>
                        <a:defRPr/>
                      </a:pPr>
                      <a:r>
                        <a:rPr lang="en-US" sz="1912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14.4 M</a:t>
                      </a:r>
                      <a:endParaRPr lang="en-US" sz="1100"/>
                    </a:p>
                  </a:txBody>
                  <a:tcPr marL="67363" marR="67363" marT="67363" marB="67363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95"/>
                        </a:lnSpc>
                        <a:defRPr/>
                      </a:pPr>
                      <a:r>
                        <a:rPr lang="en-US" sz="1912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33.3 M</a:t>
                      </a:r>
                      <a:endParaRPr lang="en-US" sz="1100"/>
                    </a:p>
                  </a:txBody>
                  <a:tcPr marL="67363" marR="67363" marT="67363" marB="67363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95"/>
                        </a:lnSpc>
                        <a:defRPr/>
                      </a:pPr>
                      <a:r>
                        <a:rPr lang="en-US" sz="1912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0.162</a:t>
                      </a:r>
                      <a:endParaRPr lang="en-US" sz="1100"/>
                    </a:p>
                  </a:txBody>
                  <a:tcPr marL="67363" marR="67363" marT="67363" marB="67363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name="TextBox 12" id="12"/>
          <p:cNvSpPr txBox="true"/>
          <p:nvPr/>
        </p:nvSpPr>
        <p:spPr>
          <a:xfrm rot="0">
            <a:off x="1357312" y="6668691"/>
            <a:ext cx="15644812" cy="1377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7"/>
              </a:lnSpc>
            </a:pPr>
            <a:r>
              <a:rPr lang="en-US" sz="2025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Kết luận: Random Forest là mô hình tối ưu nhất. MAE Test đạt 13.9 triệu/m² (sai số khoảng ~26% so với median 53 triệu/m²). R² thấp (0.169) phản ánh thực tế thị trường BĐS: giá bị chi phối bởi các biến ẩn (view, chất lượng nội thất) không có trong bộ dữ liệu crawl.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000125" y="2907506"/>
            <a:ext cx="4166587" cy="14288"/>
            <a:chOff x="0" y="0"/>
            <a:chExt cx="5555450" cy="190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555488" cy="19050"/>
            </a:xfrm>
            <a:custGeom>
              <a:avLst/>
              <a:gdLst/>
              <a:ahLst/>
              <a:cxnLst/>
              <a:rect r="r" b="b" t="t" l="l"/>
              <a:pathLst>
                <a:path h="19050" w="5555488">
                  <a:moveTo>
                    <a:pt x="0" y="0"/>
                  </a:moveTo>
                  <a:lnTo>
                    <a:pt x="5555488" y="0"/>
                  </a:lnTo>
                  <a:lnTo>
                    <a:pt x="5555488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5166712" y="2907506"/>
            <a:ext cx="2317252" cy="14288"/>
            <a:chOff x="0" y="0"/>
            <a:chExt cx="3089669" cy="190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089656" cy="19050"/>
            </a:xfrm>
            <a:custGeom>
              <a:avLst/>
              <a:gdLst/>
              <a:ahLst/>
              <a:cxnLst/>
              <a:rect r="r" b="b" t="t" l="l"/>
              <a:pathLst>
                <a:path h="19050" w="3089656">
                  <a:moveTo>
                    <a:pt x="0" y="0"/>
                  </a:moveTo>
                  <a:lnTo>
                    <a:pt x="3089656" y="0"/>
                  </a:lnTo>
                  <a:lnTo>
                    <a:pt x="3089656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7483973" y="2907506"/>
            <a:ext cx="1982838" cy="14288"/>
            <a:chOff x="0" y="0"/>
            <a:chExt cx="2643784" cy="1905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643759" cy="19050"/>
            </a:xfrm>
            <a:custGeom>
              <a:avLst/>
              <a:gdLst/>
              <a:ahLst/>
              <a:cxnLst/>
              <a:rect r="r" b="b" t="t" l="l"/>
              <a:pathLst>
                <a:path h="19050" w="2643759">
                  <a:moveTo>
                    <a:pt x="0" y="0"/>
                  </a:moveTo>
                  <a:lnTo>
                    <a:pt x="2643759" y="0"/>
                  </a:lnTo>
                  <a:lnTo>
                    <a:pt x="2643759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466812" y="2907506"/>
            <a:ext cx="2673772" cy="14288"/>
            <a:chOff x="0" y="0"/>
            <a:chExt cx="3565030" cy="1905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565017" cy="19050"/>
            </a:xfrm>
            <a:custGeom>
              <a:avLst/>
              <a:gdLst/>
              <a:ahLst/>
              <a:cxnLst/>
              <a:rect r="r" b="b" t="t" l="l"/>
              <a:pathLst>
                <a:path h="19050" w="3565017">
                  <a:moveTo>
                    <a:pt x="0" y="0"/>
                  </a:moveTo>
                  <a:lnTo>
                    <a:pt x="3565017" y="0"/>
                  </a:lnTo>
                  <a:lnTo>
                    <a:pt x="3565017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2140575" y="2907506"/>
            <a:ext cx="2885408" cy="14288"/>
            <a:chOff x="0" y="0"/>
            <a:chExt cx="3847211" cy="1905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847211" cy="19050"/>
            </a:xfrm>
            <a:custGeom>
              <a:avLst/>
              <a:gdLst/>
              <a:ahLst/>
              <a:cxnLst/>
              <a:rect r="r" b="b" t="t" l="l"/>
              <a:pathLst>
                <a:path h="19050" w="3847211">
                  <a:moveTo>
                    <a:pt x="0" y="0"/>
                  </a:moveTo>
                  <a:lnTo>
                    <a:pt x="3847211" y="0"/>
                  </a:lnTo>
                  <a:lnTo>
                    <a:pt x="3847211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5025983" y="2907506"/>
            <a:ext cx="2261892" cy="14288"/>
            <a:chOff x="0" y="0"/>
            <a:chExt cx="3015856" cy="190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015869" cy="19050"/>
            </a:xfrm>
            <a:custGeom>
              <a:avLst/>
              <a:gdLst/>
              <a:ahLst/>
              <a:cxnLst/>
              <a:rect r="r" b="b" t="t" l="l"/>
              <a:pathLst>
                <a:path h="19050" w="3015869">
                  <a:moveTo>
                    <a:pt x="0" y="0"/>
                  </a:moveTo>
                  <a:lnTo>
                    <a:pt x="3015869" y="0"/>
                  </a:lnTo>
                  <a:lnTo>
                    <a:pt x="3015869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000125" y="3738858"/>
            <a:ext cx="4166587" cy="14288"/>
            <a:chOff x="0" y="0"/>
            <a:chExt cx="5555450" cy="1905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555488" cy="19050"/>
            </a:xfrm>
            <a:custGeom>
              <a:avLst/>
              <a:gdLst/>
              <a:ahLst/>
              <a:cxnLst/>
              <a:rect r="r" b="b" t="t" l="l"/>
              <a:pathLst>
                <a:path h="19050" w="5555488">
                  <a:moveTo>
                    <a:pt x="0" y="0"/>
                  </a:moveTo>
                  <a:lnTo>
                    <a:pt x="5555488" y="0"/>
                  </a:lnTo>
                  <a:lnTo>
                    <a:pt x="5555488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5166712" y="3738858"/>
            <a:ext cx="2317252" cy="14288"/>
            <a:chOff x="0" y="0"/>
            <a:chExt cx="3089669" cy="1905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089656" cy="19050"/>
            </a:xfrm>
            <a:custGeom>
              <a:avLst/>
              <a:gdLst/>
              <a:ahLst/>
              <a:cxnLst/>
              <a:rect r="r" b="b" t="t" l="l"/>
              <a:pathLst>
                <a:path h="19050" w="3089656">
                  <a:moveTo>
                    <a:pt x="0" y="0"/>
                  </a:moveTo>
                  <a:lnTo>
                    <a:pt x="3089656" y="0"/>
                  </a:lnTo>
                  <a:lnTo>
                    <a:pt x="3089656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7483973" y="3738858"/>
            <a:ext cx="1982838" cy="14288"/>
            <a:chOff x="0" y="0"/>
            <a:chExt cx="2643784" cy="1905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643759" cy="19050"/>
            </a:xfrm>
            <a:custGeom>
              <a:avLst/>
              <a:gdLst/>
              <a:ahLst/>
              <a:cxnLst/>
              <a:rect r="r" b="b" t="t" l="l"/>
              <a:pathLst>
                <a:path h="19050" w="2643759">
                  <a:moveTo>
                    <a:pt x="0" y="0"/>
                  </a:moveTo>
                  <a:lnTo>
                    <a:pt x="2643759" y="0"/>
                  </a:lnTo>
                  <a:lnTo>
                    <a:pt x="2643759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9466812" y="3738858"/>
            <a:ext cx="2673772" cy="14288"/>
            <a:chOff x="0" y="0"/>
            <a:chExt cx="3565030" cy="1905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565017" cy="19050"/>
            </a:xfrm>
            <a:custGeom>
              <a:avLst/>
              <a:gdLst/>
              <a:ahLst/>
              <a:cxnLst/>
              <a:rect r="r" b="b" t="t" l="l"/>
              <a:pathLst>
                <a:path h="19050" w="3565017">
                  <a:moveTo>
                    <a:pt x="0" y="0"/>
                  </a:moveTo>
                  <a:lnTo>
                    <a:pt x="3565017" y="0"/>
                  </a:lnTo>
                  <a:lnTo>
                    <a:pt x="3565017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2140575" y="3738858"/>
            <a:ext cx="2885408" cy="14288"/>
            <a:chOff x="0" y="0"/>
            <a:chExt cx="3847211" cy="1905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847211" cy="19050"/>
            </a:xfrm>
            <a:custGeom>
              <a:avLst/>
              <a:gdLst/>
              <a:ahLst/>
              <a:cxnLst/>
              <a:rect r="r" b="b" t="t" l="l"/>
              <a:pathLst>
                <a:path h="19050" w="3847211">
                  <a:moveTo>
                    <a:pt x="0" y="0"/>
                  </a:moveTo>
                  <a:lnTo>
                    <a:pt x="3847211" y="0"/>
                  </a:lnTo>
                  <a:lnTo>
                    <a:pt x="3847211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5025983" y="3738858"/>
            <a:ext cx="2261892" cy="14288"/>
            <a:chOff x="0" y="0"/>
            <a:chExt cx="3015856" cy="1905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015869" cy="19050"/>
            </a:xfrm>
            <a:custGeom>
              <a:avLst/>
              <a:gdLst/>
              <a:ahLst/>
              <a:cxnLst/>
              <a:rect r="r" b="b" t="t" l="l"/>
              <a:pathLst>
                <a:path h="19050" w="3015869">
                  <a:moveTo>
                    <a:pt x="0" y="0"/>
                  </a:moveTo>
                  <a:lnTo>
                    <a:pt x="3015869" y="0"/>
                  </a:lnTo>
                  <a:lnTo>
                    <a:pt x="3015869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000125" y="4570209"/>
            <a:ext cx="4166587" cy="14288"/>
            <a:chOff x="0" y="0"/>
            <a:chExt cx="5555450" cy="1905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555488" cy="19050"/>
            </a:xfrm>
            <a:custGeom>
              <a:avLst/>
              <a:gdLst/>
              <a:ahLst/>
              <a:cxnLst/>
              <a:rect r="r" b="b" t="t" l="l"/>
              <a:pathLst>
                <a:path h="19050" w="5555488">
                  <a:moveTo>
                    <a:pt x="0" y="0"/>
                  </a:moveTo>
                  <a:lnTo>
                    <a:pt x="5555488" y="0"/>
                  </a:lnTo>
                  <a:lnTo>
                    <a:pt x="5555488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5166712" y="4570209"/>
            <a:ext cx="2317252" cy="14288"/>
            <a:chOff x="0" y="0"/>
            <a:chExt cx="3089669" cy="1905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089656" cy="19050"/>
            </a:xfrm>
            <a:custGeom>
              <a:avLst/>
              <a:gdLst/>
              <a:ahLst/>
              <a:cxnLst/>
              <a:rect r="r" b="b" t="t" l="l"/>
              <a:pathLst>
                <a:path h="19050" w="3089656">
                  <a:moveTo>
                    <a:pt x="0" y="0"/>
                  </a:moveTo>
                  <a:lnTo>
                    <a:pt x="3089656" y="0"/>
                  </a:lnTo>
                  <a:lnTo>
                    <a:pt x="3089656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7483973" y="4570209"/>
            <a:ext cx="1982838" cy="14288"/>
            <a:chOff x="0" y="0"/>
            <a:chExt cx="2643784" cy="1905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643759" cy="19050"/>
            </a:xfrm>
            <a:custGeom>
              <a:avLst/>
              <a:gdLst/>
              <a:ahLst/>
              <a:cxnLst/>
              <a:rect r="r" b="b" t="t" l="l"/>
              <a:pathLst>
                <a:path h="19050" w="2643759">
                  <a:moveTo>
                    <a:pt x="0" y="0"/>
                  </a:moveTo>
                  <a:lnTo>
                    <a:pt x="2643759" y="0"/>
                  </a:lnTo>
                  <a:lnTo>
                    <a:pt x="2643759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9466812" y="4570209"/>
            <a:ext cx="2673772" cy="14288"/>
            <a:chOff x="0" y="0"/>
            <a:chExt cx="3565030" cy="1905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565017" cy="19050"/>
            </a:xfrm>
            <a:custGeom>
              <a:avLst/>
              <a:gdLst/>
              <a:ahLst/>
              <a:cxnLst/>
              <a:rect r="r" b="b" t="t" l="l"/>
              <a:pathLst>
                <a:path h="19050" w="3565017">
                  <a:moveTo>
                    <a:pt x="0" y="0"/>
                  </a:moveTo>
                  <a:lnTo>
                    <a:pt x="3565017" y="0"/>
                  </a:lnTo>
                  <a:lnTo>
                    <a:pt x="3565017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2140575" y="4570209"/>
            <a:ext cx="2885408" cy="14288"/>
            <a:chOff x="0" y="0"/>
            <a:chExt cx="3847211" cy="1905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847211" cy="19050"/>
            </a:xfrm>
            <a:custGeom>
              <a:avLst/>
              <a:gdLst/>
              <a:ahLst/>
              <a:cxnLst/>
              <a:rect r="r" b="b" t="t" l="l"/>
              <a:pathLst>
                <a:path h="19050" w="3847211">
                  <a:moveTo>
                    <a:pt x="0" y="0"/>
                  </a:moveTo>
                  <a:lnTo>
                    <a:pt x="3847211" y="0"/>
                  </a:lnTo>
                  <a:lnTo>
                    <a:pt x="3847211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5025983" y="4570209"/>
            <a:ext cx="2261892" cy="14288"/>
            <a:chOff x="0" y="0"/>
            <a:chExt cx="3015856" cy="1905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015869" cy="19050"/>
            </a:xfrm>
            <a:custGeom>
              <a:avLst/>
              <a:gdLst/>
              <a:ahLst/>
              <a:cxnLst/>
              <a:rect r="r" b="b" t="t" l="l"/>
              <a:pathLst>
                <a:path h="19050" w="3015869">
                  <a:moveTo>
                    <a:pt x="0" y="0"/>
                  </a:moveTo>
                  <a:lnTo>
                    <a:pt x="3015869" y="0"/>
                  </a:lnTo>
                  <a:lnTo>
                    <a:pt x="3015869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000125" y="5401570"/>
            <a:ext cx="4166587" cy="14288"/>
            <a:chOff x="0" y="0"/>
            <a:chExt cx="5555450" cy="1905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5555488" cy="19050"/>
            </a:xfrm>
            <a:custGeom>
              <a:avLst/>
              <a:gdLst/>
              <a:ahLst/>
              <a:cxnLst/>
              <a:rect r="r" b="b" t="t" l="l"/>
              <a:pathLst>
                <a:path h="19050" w="5555488">
                  <a:moveTo>
                    <a:pt x="0" y="0"/>
                  </a:moveTo>
                  <a:lnTo>
                    <a:pt x="5555488" y="0"/>
                  </a:lnTo>
                  <a:lnTo>
                    <a:pt x="5555488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5166712" y="5401570"/>
            <a:ext cx="2317252" cy="14288"/>
            <a:chOff x="0" y="0"/>
            <a:chExt cx="3089669" cy="1905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089656" cy="19050"/>
            </a:xfrm>
            <a:custGeom>
              <a:avLst/>
              <a:gdLst/>
              <a:ahLst/>
              <a:cxnLst/>
              <a:rect r="r" b="b" t="t" l="l"/>
              <a:pathLst>
                <a:path h="19050" w="3089656">
                  <a:moveTo>
                    <a:pt x="0" y="0"/>
                  </a:moveTo>
                  <a:lnTo>
                    <a:pt x="3089656" y="0"/>
                  </a:lnTo>
                  <a:lnTo>
                    <a:pt x="3089656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7483973" y="5401570"/>
            <a:ext cx="1982838" cy="14288"/>
            <a:chOff x="0" y="0"/>
            <a:chExt cx="2643784" cy="1905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643759" cy="19050"/>
            </a:xfrm>
            <a:custGeom>
              <a:avLst/>
              <a:gdLst/>
              <a:ahLst/>
              <a:cxnLst/>
              <a:rect r="r" b="b" t="t" l="l"/>
              <a:pathLst>
                <a:path h="19050" w="2643759">
                  <a:moveTo>
                    <a:pt x="0" y="0"/>
                  </a:moveTo>
                  <a:lnTo>
                    <a:pt x="2643759" y="0"/>
                  </a:lnTo>
                  <a:lnTo>
                    <a:pt x="2643759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9466812" y="5401570"/>
            <a:ext cx="2673772" cy="14288"/>
            <a:chOff x="0" y="0"/>
            <a:chExt cx="3565030" cy="1905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3565017" cy="19050"/>
            </a:xfrm>
            <a:custGeom>
              <a:avLst/>
              <a:gdLst/>
              <a:ahLst/>
              <a:cxnLst/>
              <a:rect r="r" b="b" t="t" l="l"/>
              <a:pathLst>
                <a:path h="19050" w="3565017">
                  <a:moveTo>
                    <a:pt x="0" y="0"/>
                  </a:moveTo>
                  <a:lnTo>
                    <a:pt x="3565017" y="0"/>
                  </a:lnTo>
                  <a:lnTo>
                    <a:pt x="3565017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2140575" y="5401570"/>
            <a:ext cx="2885408" cy="14288"/>
            <a:chOff x="0" y="0"/>
            <a:chExt cx="3847211" cy="1905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3847211" cy="19050"/>
            </a:xfrm>
            <a:custGeom>
              <a:avLst/>
              <a:gdLst/>
              <a:ahLst/>
              <a:cxnLst/>
              <a:rect r="r" b="b" t="t" l="l"/>
              <a:pathLst>
                <a:path h="19050" w="3847211">
                  <a:moveTo>
                    <a:pt x="0" y="0"/>
                  </a:moveTo>
                  <a:lnTo>
                    <a:pt x="3847211" y="0"/>
                  </a:lnTo>
                  <a:lnTo>
                    <a:pt x="3847211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5025983" y="5401570"/>
            <a:ext cx="2261892" cy="14288"/>
            <a:chOff x="0" y="0"/>
            <a:chExt cx="3015856" cy="1905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3015869" cy="19050"/>
            </a:xfrm>
            <a:custGeom>
              <a:avLst/>
              <a:gdLst/>
              <a:ahLst/>
              <a:cxnLst/>
              <a:rect r="r" b="b" t="t" l="l"/>
              <a:pathLst>
                <a:path h="19050" w="3015869">
                  <a:moveTo>
                    <a:pt x="0" y="0"/>
                  </a:moveTo>
                  <a:lnTo>
                    <a:pt x="3015869" y="0"/>
                  </a:lnTo>
                  <a:lnTo>
                    <a:pt x="3015869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sp>
        <p:nvSpPr>
          <p:cNvPr name="TextBox 61" id="61"/>
          <p:cNvSpPr txBox="true"/>
          <p:nvPr/>
        </p:nvSpPr>
        <p:spPr>
          <a:xfrm rot="0">
            <a:off x="1000125" y="714375"/>
            <a:ext cx="17102138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0"/>
              </a:lnSpc>
            </a:pPr>
            <a:r>
              <a:rPr lang="en-US" b="true" sz="4275">
                <a:solidFill>
                  <a:srgbClr val="0F172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C4: HIỆU SUẤT MÔ HÌNH (MODEL PERFORMANCE)</a:t>
            </a:r>
          </a:p>
        </p:txBody>
      </p:sp>
      <p:grpSp>
        <p:nvGrpSpPr>
          <p:cNvPr name="Group 62" id="62"/>
          <p:cNvGrpSpPr/>
          <p:nvPr/>
        </p:nvGrpSpPr>
        <p:grpSpPr>
          <a:xfrm rot="0">
            <a:off x="1000125" y="1528762"/>
            <a:ext cx="16287750" cy="42862"/>
            <a:chOff x="0" y="0"/>
            <a:chExt cx="21717000" cy="5715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1717000" cy="57150"/>
            </a:xfrm>
            <a:custGeom>
              <a:avLst/>
              <a:gdLst/>
              <a:ahLst/>
              <a:cxnLst/>
              <a:rect r="r" b="b" t="t" l="l"/>
              <a:pathLst>
                <a:path h="57150" w="21717000">
                  <a:moveTo>
                    <a:pt x="0" y="0"/>
                  </a:moveTo>
                  <a:lnTo>
                    <a:pt x="21717000" y="0"/>
                  </a:lnTo>
                  <a:lnTo>
                    <a:pt x="217170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0284C7"/>
            </a:solidFill>
          </p:spPr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00125" y="9515475"/>
            <a:ext cx="16287750" cy="414338"/>
            <a:chOff x="0" y="0"/>
            <a:chExt cx="21717000" cy="552450"/>
          </a:xfrm>
        </p:grpSpPr>
        <p:sp>
          <p:nvSpPr>
            <p:cNvPr name="Freeform 4" id="4" descr="image.png"/>
            <p:cNvSpPr/>
            <p:nvPr/>
          </p:nvSpPr>
          <p:spPr>
            <a:xfrm flipH="false" flipV="false" rot="0">
              <a:off x="0" y="0"/>
              <a:ext cx="21717000" cy="552450"/>
            </a:xfrm>
            <a:custGeom>
              <a:avLst/>
              <a:gdLst/>
              <a:ahLst/>
              <a:cxnLst/>
              <a:rect r="r" b="b" t="t" l="l"/>
              <a:pathLst>
                <a:path h="552450" w="21717000">
                  <a:moveTo>
                    <a:pt x="0" y="0"/>
                  </a:moveTo>
                  <a:lnTo>
                    <a:pt x="21717000" y="0"/>
                  </a:lnTo>
                  <a:lnTo>
                    <a:pt x="21717000" y="552450"/>
                  </a:lnTo>
                  <a:lnTo>
                    <a:pt x="0" y="552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00125" y="9672638"/>
            <a:ext cx="3271838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Nguyễn Minh Huy - 2582003023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073438" y="9672638"/>
            <a:ext cx="1214438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Slide 18 / 24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001250" y="2135981"/>
            <a:ext cx="3684836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700">
                <a:solidFill>
                  <a:srgbClr val="0284C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Kết Quả &amp; Phân Tích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92981" y="2135981"/>
            <a:ext cx="7872412" cy="4111228"/>
            <a:chOff x="0" y="0"/>
            <a:chExt cx="10496550" cy="548163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496550" cy="5481574"/>
            </a:xfrm>
            <a:custGeom>
              <a:avLst/>
              <a:gdLst/>
              <a:ahLst/>
              <a:cxnLst/>
              <a:rect r="r" b="b" t="t" l="l"/>
              <a:pathLst>
                <a:path h="5481574" w="10496550">
                  <a:moveTo>
                    <a:pt x="0" y="0"/>
                  </a:moveTo>
                  <a:lnTo>
                    <a:pt x="10496550" y="0"/>
                  </a:lnTo>
                  <a:lnTo>
                    <a:pt x="10496550" y="5481574"/>
                  </a:lnTo>
                  <a:lnTo>
                    <a:pt x="0" y="5481574"/>
                  </a:lnTo>
                </a:path>
              </a:pathLst>
            </a:custGeom>
            <a:solidFill>
              <a:srgbClr val="FFFFFF"/>
            </a:solidFill>
            <a:ln w="14288" cap="sq">
              <a:solidFill>
                <a:srgbClr val="4A7DBA"/>
              </a:solidFill>
              <a:prstDash val="solid"/>
              <a:miter/>
            </a:ln>
          </p:spPr>
        </p:sp>
      </p:grpSp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1000125" y="2143125"/>
          <a:ext cx="7829550" cy="4095750"/>
        </p:xfrm>
        <a:graphic>
          <a:graphicData uri="http://schemas.openxmlformats.org/drawingml/2006/table">
            <a:tbl>
              <a:tblPr/>
              <a:tblGrid>
                <a:gridCol w="3781883"/>
                <a:gridCol w="2077519"/>
                <a:gridCol w="1970148"/>
              </a:tblGrid>
              <a:tr h="8191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25"/>
                        </a:lnSpc>
                        <a:defRPr/>
                      </a:pPr>
                      <a:r>
                        <a:rPr lang="en-US" sz="1687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Cụm (Cluster)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25"/>
                        </a:lnSpc>
                        <a:defRPr/>
                      </a:pPr>
                      <a:r>
                        <a:rPr lang="en-US" sz="1687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Số tin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25"/>
                        </a:lnSpc>
                        <a:defRPr/>
                      </a:pPr>
                      <a:r>
                        <a:rPr lang="en-US" sz="1687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Tỷ lệ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8191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95"/>
                        </a:lnSpc>
                        <a:defRPr/>
                      </a:pPr>
                      <a:r>
                        <a:rPr lang="en-US" sz="1912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 (Hướng Đông)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95"/>
                        </a:lnSpc>
                        <a:defRPr/>
                      </a:pPr>
                      <a:r>
                        <a:rPr lang="en-US" sz="1912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165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95"/>
                        </a:lnSpc>
                        <a:defRPr/>
                      </a:pPr>
                      <a:r>
                        <a:rPr lang="en-US" sz="1912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9.3%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</a:tr>
              <a:tr h="8191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95"/>
                        </a:lnSpc>
                        <a:defRPr/>
                      </a:pPr>
                      <a:r>
                        <a:rPr lang="en-US" b="true" sz="1912">
                          <a:solidFill>
                            <a:srgbClr val="334155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1 (Đại Trà - 2PN)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95"/>
                        </a:lnSpc>
                        <a:defRPr/>
                      </a:pPr>
                      <a:r>
                        <a:rPr lang="en-US" b="true" sz="1912">
                          <a:solidFill>
                            <a:srgbClr val="334155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1,396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95"/>
                        </a:lnSpc>
                        <a:defRPr/>
                      </a:pPr>
                      <a:r>
                        <a:rPr lang="en-US" b="true" sz="1912">
                          <a:solidFill>
                            <a:srgbClr val="334155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78.7%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</a:tr>
              <a:tr h="8191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95"/>
                        </a:lnSpc>
                        <a:defRPr/>
                      </a:pPr>
                      <a:r>
                        <a:rPr lang="en-US" sz="1912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 (Nhỏ - Thủ Đức)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95"/>
                        </a:lnSpc>
                        <a:defRPr/>
                      </a:pPr>
                      <a:r>
                        <a:rPr lang="en-US" sz="1912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47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95"/>
                        </a:lnSpc>
                        <a:defRPr/>
                      </a:pPr>
                      <a:r>
                        <a:rPr lang="en-US" sz="1912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2.6%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</a:tr>
              <a:tr h="8191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95"/>
                        </a:lnSpc>
                        <a:defRPr/>
                      </a:pPr>
                      <a:r>
                        <a:rPr lang="en-US" sz="1912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 (Hướng Tây/TB)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95"/>
                        </a:lnSpc>
                        <a:defRPr/>
                      </a:pPr>
                      <a:r>
                        <a:rPr lang="en-US" sz="1912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165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95"/>
                        </a:lnSpc>
                        <a:defRPr/>
                      </a:pPr>
                      <a:r>
                        <a:rPr lang="en-US" sz="1912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9.3%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grpSp>
        <p:nvGrpSpPr>
          <p:cNvPr name="Group 11" id="11"/>
          <p:cNvGrpSpPr/>
          <p:nvPr/>
        </p:nvGrpSpPr>
        <p:grpSpPr>
          <a:xfrm rot="0">
            <a:off x="1000125" y="2907506"/>
            <a:ext cx="3808514" cy="14288"/>
            <a:chOff x="0" y="0"/>
            <a:chExt cx="5078019" cy="190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077968" cy="19050"/>
            </a:xfrm>
            <a:custGeom>
              <a:avLst/>
              <a:gdLst/>
              <a:ahLst/>
              <a:cxnLst/>
              <a:rect r="r" b="b" t="t" l="l"/>
              <a:pathLst>
                <a:path h="19050" w="5077968">
                  <a:moveTo>
                    <a:pt x="0" y="0"/>
                  </a:moveTo>
                  <a:lnTo>
                    <a:pt x="5077968" y="0"/>
                  </a:lnTo>
                  <a:lnTo>
                    <a:pt x="5077968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4808639" y="2907506"/>
            <a:ext cx="2079279" cy="14288"/>
            <a:chOff x="0" y="0"/>
            <a:chExt cx="2772372" cy="190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772410" cy="19050"/>
            </a:xfrm>
            <a:custGeom>
              <a:avLst/>
              <a:gdLst/>
              <a:ahLst/>
              <a:cxnLst/>
              <a:rect r="r" b="b" t="t" l="l"/>
              <a:pathLst>
                <a:path h="19050" w="2772410">
                  <a:moveTo>
                    <a:pt x="0" y="0"/>
                  </a:moveTo>
                  <a:lnTo>
                    <a:pt x="2772410" y="0"/>
                  </a:lnTo>
                  <a:lnTo>
                    <a:pt x="277241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887908" y="2907506"/>
            <a:ext cx="1970332" cy="14288"/>
            <a:chOff x="0" y="0"/>
            <a:chExt cx="2627109" cy="190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627122" cy="19050"/>
            </a:xfrm>
            <a:custGeom>
              <a:avLst/>
              <a:gdLst/>
              <a:ahLst/>
              <a:cxnLst/>
              <a:rect r="r" b="b" t="t" l="l"/>
              <a:pathLst>
                <a:path h="19050" w="2627122">
                  <a:moveTo>
                    <a:pt x="0" y="0"/>
                  </a:moveTo>
                  <a:lnTo>
                    <a:pt x="2627122" y="0"/>
                  </a:lnTo>
                  <a:lnTo>
                    <a:pt x="2627122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001250" y="2619375"/>
            <a:ext cx="7286625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Thuật toán chọn tự động </a:t>
            </a:r>
            <a:r>
              <a:rPr lang="en-US" b="true" sz="2250">
                <a:solidFill>
                  <a:srgbClr val="0F172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 = 4</a:t>
            </a:r>
            <a:r>
              <a:rPr lang="en-US" sz="225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dựa trên Silhouette Score (0.083).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001250" y="3819525"/>
            <a:ext cx="7286625" cy="1524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2250">
                <a:solidFill>
                  <a:srgbClr val="0F172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Đặc thù phân cụm:</a:t>
            </a:r>
            <a:r>
              <a:rPr lang="en-US" sz="225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Dữ liệu tự động gom cụm dựa theo </a:t>
            </a:r>
            <a:r>
              <a:rPr lang="en-US" sz="2250" i="true">
                <a:solidFill>
                  <a:srgbClr val="334155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Hướng nhà (Direction)</a:t>
            </a:r>
            <a:r>
              <a:rPr lang="en-US" sz="225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thay vì phân khúc Giá (Median các cụm đều dao động 50-54 triệu/m²).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001250" y="5476875"/>
            <a:ext cx="7286625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2250">
                <a:solidFill>
                  <a:srgbClr val="0F172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Thị trường tập trung:</a:t>
            </a:r>
            <a:r>
              <a:rPr lang="en-US" sz="225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Cluster 1 chiếm đa số (gần 80%), đại diện cho căn hộ tiêu chuẩn 2PN tại TP.HCM.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001250" y="6677025"/>
            <a:ext cx="7286625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Điểm Silhouette thấp phản ánh các phân khúc thị trường bị chồng lấn (overlap) mạnh.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00125" y="3738858"/>
            <a:ext cx="3808514" cy="14288"/>
            <a:chOff x="0" y="0"/>
            <a:chExt cx="5078019" cy="1905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077968" cy="19050"/>
            </a:xfrm>
            <a:custGeom>
              <a:avLst/>
              <a:gdLst/>
              <a:ahLst/>
              <a:cxnLst/>
              <a:rect r="r" b="b" t="t" l="l"/>
              <a:pathLst>
                <a:path h="19050" w="5077968">
                  <a:moveTo>
                    <a:pt x="0" y="0"/>
                  </a:moveTo>
                  <a:lnTo>
                    <a:pt x="5077968" y="0"/>
                  </a:lnTo>
                  <a:lnTo>
                    <a:pt x="5077968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4808639" y="3738858"/>
            <a:ext cx="2079279" cy="14288"/>
            <a:chOff x="0" y="0"/>
            <a:chExt cx="2772372" cy="190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772410" cy="19050"/>
            </a:xfrm>
            <a:custGeom>
              <a:avLst/>
              <a:gdLst/>
              <a:ahLst/>
              <a:cxnLst/>
              <a:rect r="r" b="b" t="t" l="l"/>
              <a:pathLst>
                <a:path h="19050" w="2772410">
                  <a:moveTo>
                    <a:pt x="0" y="0"/>
                  </a:moveTo>
                  <a:lnTo>
                    <a:pt x="2772410" y="0"/>
                  </a:lnTo>
                  <a:lnTo>
                    <a:pt x="277241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6887908" y="3738858"/>
            <a:ext cx="1970332" cy="14288"/>
            <a:chOff x="0" y="0"/>
            <a:chExt cx="2627109" cy="1905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627122" cy="19050"/>
            </a:xfrm>
            <a:custGeom>
              <a:avLst/>
              <a:gdLst/>
              <a:ahLst/>
              <a:cxnLst/>
              <a:rect r="r" b="b" t="t" l="l"/>
              <a:pathLst>
                <a:path h="19050" w="2627122">
                  <a:moveTo>
                    <a:pt x="0" y="0"/>
                  </a:moveTo>
                  <a:lnTo>
                    <a:pt x="2627122" y="0"/>
                  </a:lnTo>
                  <a:lnTo>
                    <a:pt x="2627122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000125" y="4570209"/>
            <a:ext cx="3808514" cy="14288"/>
            <a:chOff x="0" y="0"/>
            <a:chExt cx="5078019" cy="1905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077968" cy="19050"/>
            </a:xfrm>
            <a:custGeom>
              <a:avLst/>
              <a:gdLst/>
              <a:ahLst/>
              <a:cxnLst/>
              <a:rect r="r" b="b" t="t" l="l"/>
              <a:pathLst>
                <a:path h="19050" w="5077968">
                  <a:moveTo>
                    <a:pt x="0" y="0"/>
                  </a:moveTo>
                  <a:lnTo>
                    <a:pt x="5077968" y="0"/>
                  </a:lnTo>
                  <a:lnTo>
                    <a:pt x="5077968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4808639" y="4570209"/>
            <a:ext cx="2079279" cy="14288"/>
            <a:chOff x="0" y="0"/>
            <a:chExt cx="2772372" cy="1905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772410" cy="19050"/>
            </a:xfrm>
            <a:custGeom>
              <a:avLst/>
              <a:gdLst/>
              <a:ahLst/>
              <a:cxnLst/>
              <a:rect r="r" b="b" t="t" l="l"/>
              <a:pathLst>
                <a:path h="19050" w="2772410">
                  <a:moveTo>
                    <a:pt x="0" y="0"/>
                  </a:moveTo>
                  <a:lnTo>
                    <a:pt x="2772410" y="0"/>
                  </a:lnTo>
                  <a:lnTo>
                    <a:pt x="277241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6887908" y="4570209"/>
            <a:ext cx="1970332" cy="14288"/>
            <a:chOff x="0" y="0"/>
            <a:chExt cx="2627109" cy="1905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627122" cy="19050"/>
            </a:xfrm>
            <a:custGeom>
              <a:avLst/>
              <a:gdLst/>
              <a:ahLst/>
              <a:cxnLst/>
              <a:rect r="r" b="b" t="t" l="l"/>
              <a:pathLst>
                <a:path h="19050" w="2627122">
                  <a:moveTo>
                    <a:pt x="0" y="0"/>
                  </a:moveTo>
                  <a:lnTo>
                    <a:pt x="2627122" y="0"/>
                  </a:lnTo>
                  <a:lnTo>
                    <a:pt x="2627122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000125" y="5401570"/>
            <a:ext cx="3808514" cy="14288"/>
            <a:chOff x="0" y="0"/>
            <a:chExt cx="5078019" cy="1905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077968" cy="19050"/>
            </a:xfrm>
            <a:custGeom>
              <a:avLst/>
              <a:gdLst/>
              <a:ahLst/>
              <a:cxnLst/>
              <a:rect r="r" b="b" t="t" l="l"/>
              <a:pathLst>
                <a:path h="19050" w="5077968">
                  <a:moveTo>
                    <a:pt x="0" y="0"/>
                  </a:moveTo>
                  <a:lnTo>
                    <a:pt x="5077968" y="0"/>
                  </a:lnTo>
                  <a:lnTo>
                    <a:pt x="5077968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4808639" y="5401570"/>
            <a:ext cx="2079279" cy="14288"/>
            <a:chOff x="0" y="0"/>
            <a:chExt cx="2772372" cy="1905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772410" cy="19050"/>
            </a:xfrm>
            <a:custGeom>
              <a:avLst/>
              <a:gdLst/>
              <a:ahLst/>
              <a:cxnLst/>
              <a:rect r="r" b="b" t="t" l="l"/>
              <a:pathLst>
                <a:path h="19050" w="2772410">
                  <a:moveTo>
                    <a:pt x="0" y="0"/>
                  </a:moveTo>
                  <a:lnTo>
                    <a:pt x="2772410" y="0"/>
                  </a:lnTo>
                  <a:lnTo>
                    <a:pt x="277241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6887908" y="5401570"/>
            <a:ext cx="1970332" cy="14288"/>
            <a:chOff x="0" y="0"/>
            <a:chExt cx="2627109" cy="1905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627122" cy="19050"/>
            </a:xfrm>
            <a:custGeom>
              <a:avLst/>
              <a:gdLst/>
              <a:ahLst/>
              <a:cxnLst/>
              <a:rect r="r" b="b" t="t" l="l"/>
              <a:pathLst>
                <a:path h="19050" w="2627122">
                  <a:moveTo>
                    <a:pt x="0" y="0"/>
                  </a:moveTo>
                  <a:lnTo>
                    <a:pt x="2627122" y="0"/>
                  </a:lnTo>
                  <a:lnTo>
                    <a:pt x="2627122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1000125" y="714375"/>
            <a:ext cx="17102138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0"/>
              </a:lnSpc>
            </a:pPr>
            <a:r>
              <a:rPr lang="en-US" b="true" sz="4275">
                <a:solidFill>
                  <a:srgbClr val="0F172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C5: PHÂN KHÚC THỊ TRƯỜNG (K-MEANS)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1000125" y="1528762"/>
            <a:ext cx="16287750" cy="42862"/>
            <a:chOff x="0" y="0"/>
            <a:chExt cx="21717000" cy="5715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1717000" cy="57150"/>
            </a:xfrm>
            <a:custGeom>
              <a:avLst/>
              <a:gdLst/>
              <a:ahLst/>
              <a:cxnLst/>
              <a:rect r="r" b="b" t="t" l="l"/>
              <a:pathLst>
                <a:path h="57150" w="21717000">
                  <a:moveTo>
                    <a:pt x="0" y="0"/>
                  </a:moveTo>
                  <a:lnTo>
                    <a:pt x="21717000" y="0"/>
                  </a:lnTo>
                  <a:lnTo>
                    <a:pt x="217170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0284C7"/>
            </a:solidFill>
          </p:spPr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00125" y="5694464"/>
            <a:ext cx="16287750" cy="1820094"/>
            <a:chOff x="0" y="0"/>
            <a:chExt cx="21717000" cy="2426792"/>
          </a:xfrm>
        </p:grpSpPr>
        <p:sp>
          <p:nvSpPr>
            <p:cNvPr name="Freeform 4" id="4" descr="image.png"/>
            <p:cNvSpPr/>
            <p:nvPr/>
          </p:nvSpPr>
          <p:spPr>
            <a:xfrm flipH="false" flipV="false" rot="0">
              <a:off x="0" y="0"/>
              <a:ext cx="21717000" cy="2426843"/>
            </a:xfrm>
            <a:custGeom>
              <a:avLst/>
              <a:gdLst/>
              <a:ahLst/>
              <a:cxnLst/>
              <a:rect r="r" b="b" t="t" l="l"/>
              <a:pathLst>
                <a:path h="2426843" w="21717000">
                  <a:moveTo>
                    <a:pt x="0" y="0"/>
                  </a:moveTo>
                  <a:lnTo>
                    <a:pt x="21717000" y="0"/>
                  </a:lnTo>
                  <a:lnTo>
                    <a:pt x="21717000" y="2426843"/>
                  </a:lnTo>
                  <a:lnTo>
                    <a:pt x="0" y="24268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476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00125" y="9515475"/>
            <a:ext cx="16287750" cy="414338"/>
            <a:chOff x="0" y="0"/>
            <a:chExt cx="21717000" cy="552450"/>
          </a:xfrm>
        </p:grpSpPr>
        <p:sp>
          <p:nvSpPr>
            <p:cNvPr name="Freeform 6" id="6" descr="image.png"/>
            <p:cNvSpPr/>
            <p:nvPr/>
          </p:nvSpPr>
          <p:spPr>
            <a:xfrm flipH="false" flipV="false" rot="0">
              <a:off x="0" y="0"/>
              <a:ext cx="21717000" cy="552450"/>
            </a:xfrm>
            <a:custGeom>
              <a:avLst/>
              <a:gdLst/>
              <a:ahLst/>
              <a:cxnLst/>
              <a:rect r="r" b="b" t="t" l="l"/>
              <a:pathLst>
                <a:path h="552450" w="21717000">
                  <a:moveTo>
                    <a:pt x="0" y="0"/>
                  </a:moveTo>
                  <a:lnTo>
                    <a:pt x="21717000" y="0"/>
                  </a:lnTo>
                  <a:lnTo>
                    <a:pt x="21717000" y="552450"/>
                  </a:lnTo>
                  <a:lnTo>
                    <a:pt x="0" y="552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000125" y="9672638"/>
            <a:ext cx="3271838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Nguyễn Minh Huy - 2582003023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073438" y="9672638"/>
            <a:ext cx="1214438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Slide 19 / 24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92981" y="2135981"/>
            <a:ext cx="16302038" cy="3279877"/>
            <a:chOff x="0" y="0"/>
            <a:chExt cx="21736050" cy="437316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736050" cy="4373118"/>
            </a:xfrm>
            <a:custGeom>
              <a:avLst/>
              <a:gdLst/>
              <a:ahLst/>
              <a:cxnLst/>
              <a:rect r="r" b="b" t="t" l="l"/>
              <a:pathLst>
                <a:path h="4373118" w="21736050">
                  <a:moveTo>
                    <a:pt x="0" y="0"/>
                  </a:moveTo>
                  <a:lnTo>
                    <a:pt x="21736050" y="0"/>
                  </a:lnTo>
                  <a:lnTo>
                    <a:pt x="21736050" y="4373118"/>
                  </a:lnTo>
                  <a:lnTo>
                    <a:pt x="0" y="4373118"/>
                  </a:lnTo>
                </a:path>
              </a:pathLst>
            </a:custGeom>
            <a:solidFill>
              <a:srgbClr val="FFFFFF"/>
            </a:solidFill>
            <a:ln w="14288" cap="sq">
              <a:solidFill>
                <a:srgbClr val="4A7DBA"/>
              </a:solidFill>
              <a:prstDash val="solid"/>
              <a:miter/>
            </a:ln>
          </p:spPr>
        </p:sp>
      </p:grpSp>
      <p:graphicFrame>
        <p:nvGraphicFramePr>
          <p:cNvPr name="Table 11" id="11"/>
          <p:cNvGraphicFramePr>
            <a:graphicFrameLocks noGrp="true"/>
          </p:cNvGraphicFramePr>
          <p:nvPr/>
        </p:nvGraphicFramePr>
        <p:xfrm>
          <a:off x="1000125" y="2143125"/>
          <a:ext cx="16230600" cy="3200400"/>
        </p:xfrm>
        <a:graphic>
          <a:graphicData uri="http://schemas.openxmlformats.org/drawingml/2006/table">
            <a:tbl>
              <a:tblPr/>
              <a:tblGrid>
                <a:gridCol w="4816249"/>
                <a:gridCol w="2544868"/>
                <a:gridCol w="3208025"/>
                <a:gridCol w="5661458"/>
              </a:tblGrid>
              <a:tr h="8001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25"/>
                        </a:lnSpc>
                        <a:defRPr/>
                      </a:pPr>
                      <a:r>
                        <a:rPr lang="en-US" sz="1687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Hồ Sơ Nhu Cầu (Profile)</a:t>
                      </a:r>
                      <a:endParaRPr lang="en-US" sz="1100"/>
                    </a:p>
                  </a:txBody>
                  <a:tcPr marL="81657" marR="81657" marT="81657" marB="81657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25"/>
                        </a:lnSpc>
                        <a:defRPr/>
                      </a:pPr>
                      <a:r>
                        <a:rPr lang="en-US" sz="1687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Ngân sách</a:t>
                      </a:r>
                      <a:endParaRPr lang="en-US" sz="1100"/>
                    </a:p>
                  </a:txBody>
                  <a:tcPr marL="81657" marR="81657" marT="81657" marB="81657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25"/>
                        </a:lnSpc>
                        <a:defRPr/>
                      </a:pPr>
                      <a:r>
                        <a:rPr lang="en-US" sz="1687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Quận ưu tiên</a:t>
                      </a:r>
                      <a:endParaRPr lang="en-US" sz="1100"/>
                    </a:p>
                  </a:txBody>
                  <a:tcPr marL="81657" marR="81657" marT="81657" marB="81657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25"/>
                        </a:lnSpc>
                        <a:defRPr/>
                      </a:pPr>
                      <a:r>
                        <a:rPr lang="en-US" sz="1687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Kết quả Top-5</a:t>
                      </a:r>
                      <a:endParaRPr lang="en-US" sz="1100"/>
                    </a:p>
                  </a:txBody>
                  <a:tcPr marL="81657" marR="81657" marT="81657" marB="81657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8001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95"/>
                        </a:lnSpc>
                        <a:defRPr/>
                      </a:pPr>
                      <a:r>
                        <a:rPr lang="en-US" sz="1912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 Gia đình trẻ (2PN, 65m²)</a:t>
                      </a:r>
                      <a:endParaRPr lang="en-US" sz="1100"/>
                    </a:p>
                  </a:txBody>
                  <a:tcPr marL="81657" marR="81657" marT="81657" marB="81657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95"/>
                        </a:lnSpc>
                        <a:defRPr/>
                      </a:pPr>
                      <a:r>
                        <a:rPr lang="en-US" sz="1912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 tỷ</a:t>
                      </a:r>
                      <a:endParaRPr lang="en-US" sz="1100"/>
                    </a:p>
                  </a:txBody>
                  <a:tcPr marL="81657" marR="81657" marT="81657" marB="81657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95"/>
                        </a:lnSpc>
                        <a:defRPr/>
                      </a:pPr>
                      <a:r>
                        <a:rPr lang="en-US" sz="1912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Thủ Đức, B.Thạnh</a:t>
                      </a:r>
                      <a:endParaRPr lang="en-US" sz="1100"/>
                    </a:p>
                  </a:txBody>
                  <a:tcPr marL="81657" marR="81657" marT="81657" marB="81657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95"/>
                        </a:lnSpc>
                        <a:defRPr/>
                      </a:pPr>
                      <a:r>
                        <a:rPr lang="en-US" sz="1912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Tìm thấy 5/5 Thủ Đức (2.7-3.2 tỷ)</a:t>
                      </a:r>
                      <a:endParaRPr lang="en-US" sz="1100"/>
                    </a:p>
                  </a:txBody>
                  <a:tcPr marL="81657" marR="81657" marT="81657" marB="81657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</a:tr>
              <a:tr h="8001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95"/>
                        </a:lnSpc>
                        <a:defRPr/>
                      </a:pPr>
                      <a:r>
                        <a:rPr lang="en-US" sz="1912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 Nhà đầu tư (2PN, 70m²)</a:t>
                      </a:r>
                      <a:endParaRPr lang="en-US" sz="1100"/>
                    </a:p>
                  </a:txBody>
                  <a:tcPr marL="81657" marR="81657" marT="81657" marB="81657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95"/>
                        </a:lnSpc>
                        <a:defRPr/>
                      </a:pPr>
                      <a:r>
                        <a:rPr lang="en-US" sz="1912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5 tỷ</a:t>
                      </a:r>
                      <a:endParaRPr lang="en-US" sz="1100"/>
                    </a:p>
                  </a:txBody>
                  <a:tcPr marL="81657" marR="81657" marT="81657" marB="81657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95"/>
                        </a:lnSpc>
                        <a:defRPr/>
                      </a:pPr>
                      <a:r>
                        <a:rPr lang="en-US" sz="1912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Quận 7, B.Tân</a:t>
                      </a:r>
                      <a:endParaRPr lang="en-US" sz="1100"/>
                    </a:p>
                  </a:txBody>
                  <a:tcPr marL="81657" marR="81657" marT="81657" marB="81657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95"/>
                        </a:lnSpc>
                        <a:defRPr/>
                      </a:pPr>
                      <a:r>
                        <a:rPr lang="en-US" sz="1912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Tìm thấy 5/5 Q7 (4.8-5.1 tỷ)</a:t>
                      </a:r>
                      <a:endParaRPr lang="en-US" sz="1100"/>
                    </a:p>
                  </a:txBody>
                  <a:tcPr marL="81657" marR="81657" marT="81657" marB="81657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8001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95"/>
                        </a:lnSpc>
                        <a:defRPr/>
                      </a:pPr>
                      <a:r>
                        <a:rPr lang="en-US" sz="1912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3. Mua cao cấp (3PN, 85m²)</a:t>
                      </a:r>
                      <a:endParaRPr lang="en-US" sz="1100"/>
                    </a:p>
                  </a:txBody>
                  <a:tcPr marL="81657" marR="81657" marT="81657" marB="81657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95"/>
                        </a:lnSpc>
                        <a:defRPr/>
                      </a:pPr>
                      <a:r>
                        <a:rPr lang="en-US" sz="1912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7 tỷ</a:t>
                      </a:r>
                      <a:endParaRPr lang="en-US" sz="1100"/>
                    </a:p>
                  </a:txBody>
                  <a:tcPr marL="81657" marR="81657" marT="81657" marB="81657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95"/>
                        </a:lnSpc>
                        <a:defRPr/>
                      </a:pPr>
                      <a:r>
                        <a:rPr lang="en-US" sz="1912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Thủ Đức, Q7</a:t>
                      </a:r>
                      <a:endParaRPr lang="en-US" sz="1100"/>
                    </a:p>
                  </a:txBody>
                  <a:tcPr marL="81657" marR="81657" marT="81657" marB="81657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95"/>
                        </a:lnSpc>
                        <a:defRPr/>
                      </a:pPr>
                      <a:r>
                        <a:rPr lang="en-US" sz="1912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Auto fallback sang cụm lớn</a:t>
                      </a:r>
                      <a:endParaRPr lang="en-US" sz="1100"/>
                    </a:p>
                  </a:txBody>
                  <a:tcPr marL="81657" marR="81657" marT="81657" marB="81657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</a:tr>
            </a:tbl>
          </a:graphicData>
        </a:graphic>
      </p:graphicFrame>
      <p:sp>
        <p:nvSpPr>
          <p:cNvPr name="TextBox 12" id="12"/>
          <p:cNvSpPr txBox="true"/>
          <p:nvPr/>
        </p:nvSpPr>
        <p:spPr>
          <a:xfrm rot="0">
            <a:off x="1585912" y="5923064"/>
            <a:ext cx="15416212" cy="1081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16"/>
              </a:lnSpc>
            </a:pPr>
            <a:r>
              <a:rPr lang="en-US" sz="2025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Công thức Hybrid Score: </a:t>
            </a:r>
          </a:p>
          <a:p>
            <a:pPr algn="just">
              <a:lnSpc>
                <a:spcPts val="2916"/>
              </a:lnSpc>
            </a:pPr>
            <a:r>
              <a:rPr lang="en-US" sz="2025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Score = (Price_Score) + (Area_Score) + (Cluster_Bonus x 0.3) + (Amenity_Bonus x 0.2)</a:t>
            </a:r>
          </a:p>
          <a:p>
            <a:pPr algn="just">
              <a:lnSpc>
                <a:spcPts val="2916"/>
              </a:lnSpc>
            </a:pPr>
            <a:r>
              <a:rPr lang="en-US" sz="2025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Hệ thống tuân thủ nghiêm ngặt các Lọc cứng (Hard Filters) như Ngân sách (±20%) và Số phòng (±1) trước khi chấm điểm.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000125" y="2907506"/>
            <a:ext cx="4838548" cy="14288"/>
            <a:chOff x="0" y="0"/>
            <a:chExt cx="6451397" cy="190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451346" cy="19050"/>
            </a:xfrm>
            <a:custGeom>
              <a:avLst/>
              <a:gdLst/>
              <a:ahLst/>
              <a:cxnLst/>
              <a:rect r="r" b="b" t="t" l="l"/>
              <a:pathLst>
                <a:path h="19050" w="6451346">
                  <a:moveTo>
                    <a:pt x="0" y="0"/>
                  </a:moveTo>
                  <a:lnTo>
                    <a:pt x="6451346" y="0"/>
                  </a:lnTo>
                  <a:lnTo>
                    <a:pt x="6451346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5838673" y="2907506"/>
            <a:ext cx="2543175" cy="14288"/>
            <a:chOff x="0" y="0"/>
            <a:chExt cx="3390900" cy="190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390900" cy="19050"/>
            </a:xfrm>
            <a:custGeom>
              <a:avLst/>
              <a:gdLst/>
              <a:ahLst/>
              <a:cxnLst/>
              <a:rect r="r" b="b" t="t" l="l"/>
              <a:pathLst>
                <a:path h="19050" w="3390900">
                  <a:moveTo>
                    <a:pt x="0" y="0"/>
                  </a:moveTo>
                  <a:lnTo>
                    <a:pt x="3390900" y="0"/>
                  </a:lnTo>
                  <a:lnTo>
                    <a:pt x="33909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381848" y="2907506"/>
            <a:ext cx="3213344" cy="14288"/>
            <a:chOff x="0" y="0"/>
            <a:chExt cx="4284459" cy="1905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284472" cy="19050"/>
            </a:xfrm>
            <a:custGeom>
              <a:avLst/>
              <a:gdLst/>
              <a:ahLst/>
              <a:cxnLst/>
              <a:rect r="r" b="b" t="t" l="l"/>
              <a:pathLst>
                <a:path h="19050" w="4284472">
                  <a:moveTo>
                    <a:pt x="0" y="0"/>
                  </a:moveTo>
                  <a:lnTo>
                    <a:pt x="4284472" y="0"/>
                  </a:lnTo>
                  <a:lnTo>
                    <a:pt x="4284472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1595202" y="2907506"/>
            <a:ext cx="5692673" cy="14288"/>
            <a:chOff x="0" y="0"/>
            <a:chExt cx="7590231" cy="1905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590282" cy="19050"/>
            </a:xfrm>
            <a:custGeom>
              <a:avLst/>
              <a:gdLst/>
              <a:ahLst/>
              <a:cxnLst/>
              <a:rect r="r" b="b" t="t" l="l"/>
              <a:pathLst>
                <a:path h="19050" w="7590282">
                  <a:moveTo>
                    <a:pt x="0" y="0"/>
                  </a:moveTo>
                  <a:lnTo>
                    <a:pt x="7590282" y="0"/>
                  </a:lnTo>
                  <a:lnTo>
                    <a:pt x="7590282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000125" y="3738858"/>
            <a:ext cx="4838548" cy="14288"/>
            <a:chOff x="0" y="0"/>
            <a:chExt cx="6451397" cy="1905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451346" cy="19050"/>
            </a:xfrm>
            <a:custGeom>
              <a:avLst/>
              <a:gdLst/>
              <a:ahLst/>
              <a:cxnLst/>
              <a:rect r="r" b="b" t="t" l="l"/>
              <a:pathLst>
                <a:path h="19050" w="6451346">
                  <a:moveTo>
                    <a:pt x="0" y="0"/>
                  </a:moveTo>
                  <a:lnTo>
                    <a:pt x="6451346" y="0"/>
                  </a:lnTo>
                  <a:lnTo>
                    <a:pt x="6451346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5838673" y="3738858"/>
            <a:ext cx="2543175" cy="14288"/>
            <a:chOff x="0" y="0"/>
            <a:chExt cx="3390900" cy="190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390900" cy="19050"/>
            </a:xfrm>
            <a:custGeom>
              <a:avLst/>
              <a:gdLst/>
              <a:ahLst/>
              <a:cxnLst/>
              <a:rect r="r" b="b" t="t" l="l"/>
              <a:pathLst>
                <a:path h="19050" w="3390900">
                  <a:moveTo>
                    <a:pt x="0" y="0"/>
                  </a:moveTo>
                  <a:lnTo>
                    <a:pt x="3390900" y="0"/>
                  </a:lnTo>
                  <a:lnTo>
                    <a:pt x="33909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8381848" y="3738858"/>
            <a:ext cx="3213344" cy="14288"/>
            <a:chOff x="0" y="0"/>
            <a:chExt cx="4284459" cy="1905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284472" cy="19050"/>
            </a:xfrm>
            <a:custGeom>
              <a:avLst/>
              <a:gdLst/>
              <a:ahLst/>
              <a:cxnLst/>
              <a:rect r="r" b="b" t="t" l="l"/>
              <a:pathLst>
                <a:path h="19050" w="4284472">
                  <a:moveTo>
                    <a:pt x="0" y="0"/>
                  </a:moveTo>
                  <a:lnTo>
                    <a:pt x="4284472" y="0"/>
                  </a:lnTo>
                  <a:lnTo>
                    <a:pt x="4284472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1595202" y="3738858"/>
            <a:ext cx="5692673" cy="14288"/>
            <a:chOff x="0" y="0"/>
            <a:chExt cx="7590231" cy="1905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590282" cy="19050"/>
            </a:xfrm>
            <a:custGeom>
              <a:avLst/>
              <a:gdLst/>
              <a:ahLst/>
              <a:cxnLst/>
              <a:rect r="r" b="b" t="t" l="l"/>
              <a:pathLst>
                <a:path h="19050" w="7590282">
                  <a:moveTo>
                    <a:pt x="0" y="0"/>
                  </a:moveTo>
                  <a:lnTo>
                    <a:pt x="7590282" y="0"/>
                  </a:lnTo>
                  <a:lnTo>
                    <a:pt x="7590282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000125" y="4570209"/>
            <a:ext cx="4838548" cy="14288"/>
            <a:chOff x="0" y="0"/>
            <a:chExt cx="6451397" cy="1905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451346" cy="19050"/>
            </a:xfrm>
            <a:custGeom>
              <a:avLst/>
              <a:gdLst/>
              <a:ahLst/>
              <a:cxnLst/>
              <a:rect r="r" b="b" t="t" l="l"/>
              <a:pathLst>
                <a:path h="19050" w="6451346">
                  <a:moveTo>
                    <a:pt x="0" y="0"/>
                  </a:moveTo>
                  <a:lnTo>
                    <a:pt x="6451346" y="0"/>
                  </a:lnTo>
                  <a:lnTo>
                    <a:pt x="6451346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5838673" y="4570209"/>
            <a:ext cx="2543175" cy="14288"/>
            <a:chOff x="0" y="0"/>
            <a:chExt cx="3390900" cy="1905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390900" cy="19050"/>
            </a:xfrm>
            <a:custGeom>
              <a:avLst/>
              <a:gdLst/>
              <a:ahLst/>
              <a:cxnLst/>
              <a:rect r="r" b="b" t="t" l="l"/>
              <a:pathLst>
                <a:path h="19050" w="3390900">
                  <a:moveTo>
                    <a:pt x="0" y="0"/>
                  </a:moveTo>
                  <a:lnTo>
                    <a:pt x="3390900" y="0"/>
                  </a:lnTo>
                  <a:lnTo>
                    <a:pt x="33909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8381848" y="4570209"/>
            <a:ext cx="3213344" cy="14288"/>
            <a:chOff x="0" y="0"/>
            <a:chExt cx="4284459" cy="1905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284472" cy="19050"/>
            </a:xfrm>
            <a:custGeom>
              <a:avLst/>
              <a:gdLst/>
              <a:ahLst/>
              <a:cxnLst/>
              <a:rect r="r" b="b" t="t" l="l"/>
              <a:pathLst>
                <a:path h="19050" w="4284472">
                  <a:moveTo>
                    <a:pt x="0" y="0"/>
                  </a:moveTo>
                  <a:lnTo>
                    <a:pt x="4284472" y="0"/>
                  </a:lnTo>
                  <a:lnTo>
                    <a:pt x="4284472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1595202" y="4570209"/>
            <a:ext cx="5692673" cy="14288"/>
            <a:chOff x="0" y="0"/>
            <a:chExt cx="7590231" cy="1905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590282" cy="19050"/>
            </a:xfrm>
            <a:custGeom>
              <a:avLst/>
              <a:gdLst/>
              <a:ahLst/>
              <a:cxnLst/>
              <a:rect r="r" b="b" t="t" l="l"/>
              <a:pathLst>
                <a:path h="19050" w="7590282">
                  <a:moveTo>
                    <a:pt x="0" y="0"/>
                  </a:moveTo>
                  <a:lnTo>
                    <a:pt x="7590282" y="0"/>
                  </a:lnTo>
                  <a:lnTo>
                    <a:pt x="7590282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1880952" y="3214688"/>
            <a:ext cx="214312" cy="242888"/>
            <a:chOff x="0" y="0"/>
            <a:chExt cx="285750" cy="323850"/>
          </a:xfrm>
        </p:grpSpPr>
        <p:sp>
          <p:nvSpPr>
            <p:cNvPr name="Freeform 38" id="38" descr="image.png"/>
            <p:cNvSpPr/>
            <p:nvPr/>
          </p:nvSpPr>
          <p:spPr>
            <a:xfrm flipH="false" flipV="false" rot="0">
              <a:off x="0" y="0"/>
              <a:ext cx="285750" cy="323850"/>
            </a:xfrm>
            <a:custGeom>
              <a:avLst/>
              <a:gdLst/>
              <a:ahLst/>
              <a:cxnLst/>
              <a:rect r="r" b="b" t="t" l="l"/>
              <a:pathLst>
                <a:path h="323850" w="285750">
                  <a:moveTo>
                    <a:pt x="0" y="0"/>
                  </a:moveTo>
                  <a:lnTo>
                    <a:pt x="285750" y="0"/>
                  </a:lnTo>
                  <a:lnTo>
                    <a:pt x="285750" y="323850"/>
                  </a:lnTo>
                  <a:lnTo>
                    <a:pt x="0" y="323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6666" b="0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1880952" y="4046039"/>
            <a:ext cx="214312" cy="242888"/>
            <a:chOff x="0" y="0"/>
            <a:chExt cx="285750" cy="323850"/>
          </a:xfrm>
        </p:grpSpPr>
        <p:sp>
          <p:nvSpPr>
            <p:cNvPr name="Freeform 40" id="40" descr="image.png"/>
            <p:cNvSpPr/>
            <p:nvPr/>
          </p:nvSpPr>
          <p:spPr>
            <a:xfrm flipH="false" flipV="false" rot="0">
              <a:off x="0" y="0"/>
              <a:ext cx="285750" cy="323850"/>
            </a:xfrm>
            <a:custGeom>
              <a:avLst/>
              <a:gdLst/>
              <a:ahLst/>
              <a:cxnLst/>
              <a:rect r="r" b="b" t="t" l="l"/>
              <a:pathLst>
                <a:path h="323850" w="285750">
                  <a:moveTo>
                    <a:pt x="0" y="0"/>
                  </a:moveTo>
                  <a:lnTo>
                    <a:pt x="285750" y="0"/>
                  </a:lnTo>
                  <a:lnTo>
                    <a:pt x="285750" y="323850"/>
                  </a:lnTo>
                  <a:lnTo>
                    <a:pt x="0" y="323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742" b="0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1880952" y="4877391"/>
            <a:ext cx="214312" cy="242888"/>
            <a:chOff x="0" y="0"/>
            <a:chExt cx="285750" cy="323850"/>
          </a:xfrm>
        </p:grpSpPr>
        <p:sp>
          <p:nvSpPr>
            <p:cNvPr name="Freeform 42" id="42" descr="image.png"/>
            <p:cNvSpPr/>
            <p:nvPr/>
          </p:nvSpPr>
          <p:spPr>
            <a:xfrm flipH="false" flipV="false" rot="0">
              <a:off x="0" y="0"/>
              <a:ext cx="285750" cy="323850"/>
            </a:xfrm>
            <a:custGeom>
              <a:avLst/>
              <a:gdLst/>
              <a:ahLst/>
              <a:cxnLst/>
              <a:rect r="r" b="b" t="t" l="l"/>
              <a:pathLst>
                <a:path h="323850" w="285750">
                  <a:moveTo>
                    <a:pt x="0" y="0"/>
                  </a:moveTo>
                  <a:lnTo>
                    <a:pt x="285750" y="0"/>
                  </a:lnTo>
                  <a:lnTo>
                    <a:pt x="285750" y="323850"/>
                  </a:lnTo>
                  <a:lnTo>
                    <a:pt x="0" y="323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742" b="0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1880952" y="3214688"/>
            <a:ext cx="214312" cy="242888"/>
            <a:chOff x="0" y="0"/>
            <a:chExt cx="285750" cy="323850"/>
          </a:xfrm>
        </p:grpSpPr>
        <p:sp>
          <p:nvSpPr>
            <p:cNvPr name="Freeform 44" id="44" descr="image.png"/>
            <p:cNvSpPr/>
            <p:nvPr/>
          </p:nvSpPr>
          <p:spPr>
            <a:xfrm flipH="false" flipV="false" rot="0">
              <a:off x="0" y="0"/>
              <a:ext cx="285750" cy="323850"/>
            </a:xfrm>
            <a:custGeom>
              <a:avLst/>
              <a:gdLst/>
              <a:ahLst/>
              <a:cxnLst/>
              <a:rect r="r" b="b" t="t" l="l"/>
              <a:pathLst>
                <a:path h="323850" w="285750">
                  <a:moveTo>
                    <a:pt x="0" y="0"/>
                  </a:moveTo>
                  <a:lnTo>
                    <a:pt x="285750" y="0"/>
                  </a:lnTo>
                  <a:lnTo>
                    <a:pt x="285750" y="323850"/>
                  </a:lnTo>
                  <a:lnTo>
                    <a:pt x="0" y="323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6666" b="0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1880952" y="4046039"/>
            <a:ext cx="214312" cy="242888"/>
            <a:chOff x="0" y="0"/>
            <a:chExt cx="285750" cy="323850"/>
          </a:xfrm>
        </p:grpSpPr>
        <p:sp>
          <p:nvSpPr>
            <p:cNvPr name="Freeform 46" id="46" descr="image.png"/>
            <p:cNvSpPr/>
            <p:nvPr/>
          </p:nvSpPr>
          <p:spPr>
            <a:xfrm flipH="false" flipV="false" rot="0">
              <a:off x="0" y="0"/>
              <a:ext cx="285750" cy="323850"/>
            </a:xfrm>
            <a:custGeom>
              <a:avLst/>
              <a:gdLst/>
              <a:ahLst/>
              <a:cxnLst/>
              <a:rect r="r" b="b" t="t" l="l"/>
              <a:pathLst>
                <a:path h="323850" w="285750">
                  <a:moveTo>
                    <a:pt x="0" y="0"/>
                  </a:moveTo>
                  <a:lnTo>
                    <a:pt x="285750" y="0"/>
                  </a:lnTo>
                  <a:lnTo>
                    <a:pt x="285750" y="323850"/>
                  </a:lnTo>
                  <a:lnTo>
                    <a:pt x="0" y="323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742" b="0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1880952" y="4877391"/>
            <a:ext cx="214312" cy="242888"/>
            <a:chOff x="0" y="0"/>
            <a:chExt cx="285750" cy="323850"/>
          </a:xfrm>
        </p:grpSpPr>
        <p:sp>
          <p:nvSpPr>
            <p:cNvPr name="Freeform 48" id="48" descr="image.png"/>
            <p:cNvSpPr/>
            <p:nvPr/>
          </p:nvSpPr>
          <p:spPr>
            <a:xfrm flipH="false" flipV="false" rot="0">
              <a:off x="0" y="0"/>
              <a:ext cx="285750" cy="323850"/>
            </a:xfrm>
            <a:custGeom>
              <a:avLst/>
              <a:gdLst/>
              <a:ahLst/>
              <a:cxnLst/>
              <a:rect r="r" b="b" t="t" l="l"/>
              <a:pathLst>
                <a:path h="323850" w="285750">
                  <a:moveTo>
                    <a:pt x="0" y="0"/>
                  </a:moveTo>
                  <a:lnTo>
                    <a:pt x="285750" y="0"/>
                  </a:lnTo>
                  <a:lnTo>
                    <a:pt x="285750" y="323850"/>
                  </a:lnTo>
                  <a:lnTo>
                    <a:pt x="0" y="323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742" b="0"/>
              </a:stretch>
            </a:blipFill>
          </p:spPr>
        </p:sp>
      </p:grpSp>
      <p:sp>
        <p:nvSpPr>
          <p:cNvPr name="TextBox 49" id="49"/>
          <p:cNvSpPr txBox="true"/>
          <p:nvPr/>
        </p:nvSpPr>
        <p:spPr>
          <a:xfrm rot="0">
            <a:off x="1000125" y="714375"/>
            <a:ext cx="17102138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0"/>
              </a:lnSpc>
            </a:pPr>
            <a:r>
              <a:rPr lang="en-US" b="true" sz="4275">
                <a:solidFill>
                  <a:srgbClr val="0F172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C6: HỆ THỐNG GỢI Ý (RECOMMENDER SYSTEM)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1000125" y="1528762"/>
            <a:ext cx="16287750" cy="42862"/>
            <a:chOff x="0" y="0"/>
            <a:chExt cx="21717000" cy="5715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1717000" cy="57150"/>
            </a:xfrm>
            <a:custGeom>
              <a:avLst/>
              <a:gdLst/>
              <a:ahLst/>
              <a:cxnLst/>
              <a:rect r="r" b="b" t="t" l="l"/>
              <a:pathLst>
                <a:path h="57150" w="21717000">
                  <a:moveTo>
                    <a:pt x="0" y="0"/>
                  </a:moveTo>
                  <a:lnTo>
                    <a:pt x="21717000" y="0"/>
                  </a:lnTo>
                  <a:lnTo>
                    <a:pt x="217170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0284C7"/>
            </a:solidFill>
          </p:spPr>
        </p:sp>
      </p:grp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00125" y="9515475"/>
            <a:ext cx="16287750" cy="414338"/>
            <a:chOff x="0" y="0"/>
            <a:chExt cx="21717000" cy="552450"/>
          </a:xfrm>
        </p:grpSpPr>
        <p:sp>
          <p:nvSpPr>
            <p:cNvPr name="Freeform 4" id="4" descr="image.png"/>
            <p:cNvSpPr/>
            <p:nvPr/>
          </p:nvSpPr>
          <p:spPr>
            <a:xfrm flipH="false" flipV="false" rot="0">
              <a:off x="0" y="0"/>
              <a:ext cx="21717000" cy="552450"/>
            </a:xfrm>
            <a:custGeom>
              <a:avLst/>
              <a:gdLst/>
              <a:ahLst/>
              <a:cxnLst/>
              <a:rect r="r" b="b" t="t" l="l"/>
              <a:pathLst>
                <a:path h="552450" w="21717000">
                  <a:moveTo>
                    <a:pt x="0" y="0"/>
                  </a:moveTo>
                  <a:lnTo>
                    <a:pt x="21717000" y="0"/>
                  </a:lnTo>
                  <a:lnTo>
                    <a:pt x="21717000" y="552450"/>
                  </a:lnTo>
                  <a:lnTo>
                    <a:pt x="0" y="552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00125" y="9672638"/>
            <a:ext cx="3271838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Nguyễn Minh Huy - 2582003023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030575" y="9672638"/>
            <a:ext cx="12573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Slide 20 / 24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2981" y="2135981"/>
            <a:ext cx="16302038" cy="4942580"/>
            <a:chOff x="0" y="0"/>
            <a:chExt cx="21736050" cy="659010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736050" cy="6590157"/>
            </a:xfrm>
            <a:custGeom>
              <a:avLst/>
              <a:gdLst/>
              <a:ahLst/>
              <a:cxnLst/>
              <a:rect r="r" b="b" t="t" l="l"/>
              <a:pathLst>
                <a:path h="6590157" w="21736050">
                  <a:moveTo>
                    <a:pt x="0" y="0"/>
                  </a:moveTo>
                  <a:lnTo>
                    <a:pt x="21736050" y="0"/>
                  </a:lnTo>
                  <a:lnTo>
                    <a:pt x="21736050" y="6590157"/>
                  </a:lnTo>
                  <a:lnTo>
                    <a:pt x="0" y="6590157"/>
                  </a:lnTo>
                </a:path>
              </a:pathLst>
            </a:custGeom>
            <a:solidFill>
              <a:srgbClr val="FFFFFF"/>
            </a:solidFill>
            <a:ln w="14288" cap="sq">
              <a:solidFill>
                <a:srgbClr val="4A7DBA"/>
              </a:solidFill>
              <a:prstDash val="solid"/>
              <a:miter/>
            </a:ln>
          </p:spPr>
        </p:sp>
      </p:grpSp>
      <p:graphicFrame>
        <p:nvGraphicFramePr>
          <p:cNvPr name="Table 9" id="9"/>
          <p:cNvGraphicFramePr>
            <a:graphicFrameLocks noGrp="true"/>
          </p:cNvGraphicFramePr>
          <p:nvPr/>
        </p:nvGraphicFramePr>
        <p:xfrm>
          <a:off x="1000125" y="2143125"/>
          <a:ext cx="16230600" cy="4914900"/>
        </p:xfrm>
        <a:graphic>
          <a:graphicData uri="http://schemas.openxmlformats.org/drawingml/2006/table">
            <a:tbl>
              <a:tblPr/>
              <a:tblGrid>
                <a:gridCol w="2958481"/>
                <a:gridCol w="2231582"/>
                <a:gridCol w="1459753"/>
                <a:gridCol w="3528885"/>
                <a:gridCol w="3517865"/>
                <a:gridCol w="2534034"/>
              </a:tblGrid>
              <a:tr h="8191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25"/>
                        </a:lnSpc>
                        <a:defRPr/>
                      </a:pPr>
                      <a:r>
                        <a:rPr lang="en-US" sz="1687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Quận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25"/>
                        </a:lnSpc>
                        <a:defRPr/>
                      </a:pPr>
                      <a:r>
                        <a:rPr lang="en-US" sz="1687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DT (m²)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25"/>
                        </a:lnSpc>
                        <a:defRPr/>
                      </a:pPr>
                      <a:r>
                        <a:rPr lang="en-US" sz="1687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PN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25"/>
                        </a:lnSpc>
                        <a:defRPr/>
                      </a:pPr>
                      <a:r>
                        <a:rPr lang="en-US" sz="1687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Giá thực (tr)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25"/>
                        </a:lnSpc>
                        <a:defRPr/>
                      </a:pPr>
                      <a:r>
                        <a:rPr lang="en-US" sz="1687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Dự đoán (tr)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25"/>
                        </a:lnSpc>
                        <a:defRPr/>
                      </a:pPr>
                      <a:r>
                        <a:rPr lang="en-US" sz="1687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% Sai Số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8191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95"/>
                        </a:lnSpc>
                        <a:defRPr/>
                      </a:pPr>
                      <a:r>
                        <a:rPr lang="en-US" sz="1912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Quận 12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95"/>
                        </a:lnSpc>
                        <a:defRPr/>
                      </a:pPr>
                      <a:r>
                        <a:rPr lang="en-US" sz="1912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26.0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95"/>
                        </a:lnSpc>
                        <a:defRPr/>
                      </a:pPr>
                      <a:r>
                        <a:rPr lang="en-US" sz="1912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95"/>
                        </a:lnSpc>
                        <a:defRPr/>
                      </a:pPr>
                      <a:r>
                        <a:rPr lang="en-US" sz="1912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480.8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95"/>
                        </a:lnSpc>
                        <a:defRPr/>
                      </a:pPr>
                      <a:r>
                        <a:rPr lang="en-US" sz="1912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42.2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95"/>
                        </a:lnSpc>
                        <a:defRPr/>
                      </a:pPr>
                      <a:r>
                        <a:rPr lang="en-US" b="true" sz="1912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91.2%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</a:tr>
              <a:tr h="8191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95"/>
                        </a:lnSpc>
                        <a:defRPr/>
                      </a:pPr>
                      <a:r>
                        <a:rPr lang="en-US" sz="1912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Bình Thạnh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95"/>
                        </a:lnSpc>
                        <a:defRPr/>
                      </a:pPr>
                      <a:r>
                        <a:rPr lang="en-US" sz="1912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60.0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95"/>
                        </a:lnSpc>
                        <a:defRPr/>
                      </a:pPr>
                      <a:r>
                        <a:rPr lang="en-US" sz="1912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95"/>
                        </a:lnSpc>
                        <a:defRPr/>
                      </a:pPr>
                      <a:r>
                        <a:rPr lang="en-US" sz="1912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258.3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95"/>
                        </a:lnSpc>
                        <a:defRPr/>
                      </a:pPr>
                      <a:r>
                        <a:rPr lang="en-US" sz="1912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57.5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95"/>
                        </a:lnSpc>
                        <a:defRPr/>
                      </a:pPr>
                      <a:r>
                        <a:rPr lang="en-US" b="true" sz="1912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77.8%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8191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95"/>
                        </a:lnSpc>
                        <a:defRPr/>
                      </a:pPr>
                      <a:r>
                        <a:rPr lang="en-US" sz="1912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TP. Thủ Đức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95"/>
                        </a:lnSpc>
                        <a:defRPr/>
                      </a:pPr>
                      <a:r>
                        <a:rPr lang="en-US" sz="1912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140.0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95"/>
                        </a:lnSpc>
                        <a:defRPr/>
                      </a:pPr>
                      <a:r>
                        <a:rPr lang="en-US" sz="1912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95"/>
                        </a:lnSpc>
                        <a:defRPr/>
                      </a:pPr>
                      <a:r>
                        <a:rPr lang="en-US" sz="1912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51.4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95"/>
                        </a:lnSpc>
                        <a:defRPr/>
                      </a:pPr>
                      <a:r>
                        <a:rPr lang="en-US" sz="1912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127.3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95"/>
                        </a:lnSpc>
                        <a:defRPr/>
                      </a:pPr>
                      <a:r>
                        <a:rPr lang="en-US" b="true" sz="1912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147.4%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</a:tr>
              <a:tr h="8191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95"/>
                        </a:lnSpc>
                        <a:defRPr/>
                      </a:pPr>
                      <a:r>
                        <a:rPr lang="en-US" sz="1912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Bình Thạnh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95"/>
                        </a:lnSpc>
                        <a:defRPr/>
                      </a:pPr>
                      <a:r>
                        <a:rPr lang="en-US" sz="1912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65.0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95"/>
                        </a:lnSpc>
                        <a:defRPr/>
                      </a:pPr>
                      <a:r>
                        <a:rPr lang="en-US" sz="1912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95"/>
                        </a:lnSpc>
                        <a:defRPr/>
                      </a:pPr>
                      <a:r>
                        <a:rPr lang="en-US" sz="1912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121.5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95"/>
                        </a:lnSpc>
                        <a:defRPr/>
                      </a:pPr>
                      <a:r>
                        <a:rPr lang="en-US" sz="1912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55.9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95"/>
                        </a:lnSpc>
                        <a:defRPr/>
                      </a:pPr>
                      <a:r>
                        <a:rPr lang="en-US" b="true" sz="1912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54.0%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8191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95"/>
                        </a:lnSpc>
                        <a:defRPr/>
                      </a:pPr>
                      <a:r>
                        <a:rPr lang="en-US" sz="1912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TP. Thủ Đức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95"/>
                        </a:lnSpc>
                        <a:defRPr/>
                      </a:pPr>
                      <a:r>
                        <a:rPr lang="en-US" sz="1912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64.0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95"/>
                        </a:lnSpc>
                        <a:defRPr/>
                      </a:pPr>
                      <a:r>
                        <a:rPr lang="en-US" sz="1912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95"/>
                        </a:lnSpc>
                        <a:defRPr/>
                      </a:pPr>
                      <a:r>
                        <a:rPr lang="en-US" sz="1912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215.6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95"/>
                        </a:lnSpc>
                        <a:defRPr/>
                      </a:pPr>
                      <a:r>
                        <a:rPr lang="en-US" sz="1912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98.5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95"/>
                        </a:lnSpc>
                        <a:defRPr/>
                      </a:pPr>
                      <a:r>
                        <a:rPr lang="en-US" b="true" sz="1912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54.3%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</a:tr>
            </a:tbl>
          </a:graphicData>
        </a:graphic>
      </p:graphicFrame>
      <p:sp>
        <p:nvSpPr>
          <p:cNvPr name="TextBox 10" id="10"/>
          <p:cNvSpPr txBox="true"/>
          <p:nvPr/>
        </p:nvSpPr>
        <p:spPr>
          <a:xfrm rot="0">
            <a:off x="1000125" y="7028555"/>
            <a:ext cx="16287750" cy="434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22"/>
              </a:lnSpc>
            </a:pPr>
            <a:r>
              <a:rPr lang="en-US" sz="1575" i="true">
                <a:solidFill>
                  <a:srgbClr val="64748B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* Hiển thị Top 5 trường hợp sai lệch tiêu biểu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981" y="7760951"/>
            <a:ext cx="15631837" cy="929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7"/>
              </a:lnSpc>
            </a:pPr>
            <a:r>
              <a:rPr lang="en-US" b="true" sz="2025">
                <a:solidFill>
                  <a:srgbClr val="33415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Phân tích nguyên nhân:</a:t>
            </a:r>
            <a:r>
              <a:rPr lang="en-US" sz="2025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Các căn sai số cao hầu hết là </a:t>
            </a:r>
            <a:r>
              <a:rPr lang="en-US" sz="2025" i="true">
                <a:solidFill>
                  <a:srgbClr val="334155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Penthouse / Căn góc view đỉnh</a:t>
            </a:r>
            <a:r>
              <a:rPr lang="en-US" sz="2025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(&gt;150 tr/m²) bị mô hình đánh giá thấp do thiếu features. Hoặc có trường hợp (140m² giá 51.4 tr/m²) khả năng cao là do </a:t>
            </a:r>
            <a:r>
              <a:rPr lang="en-US" sz="2025" i="true">
                <a:solidFill>
                  <a:srgbClr val="334155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Data Entry Error</a:t>
            </a:r>
            <a:r>
              <a:rPr lang="en-US" sz="2025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từ người đăng tin.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00125" y="2907506"/>
            <a:ext cx="2971581" cy="14288"/>
            <a:chOff x="0" y="0"/>
            <a:chExt cx="3962108" cy="190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962146" cy="19050"/>
            </a:xfrm>
            <a:custGeom>
              <a:avLst/>
              <a:gdLst/>
              <a:ahLst/>
              <a:cxnLst/>
              <a:rect r="r" b="b" t="t" l="l"/>
              <a:pathLst>
                <a:path h="19050" w="3962146">
                  <a:moveTo>
                    <a:pt x="0" y="0"/>
                  </a:moveTo>
                  <a:lnTo>
                    <a:pt x="3962146" y="0"/>
                  </a:lnTo>
                  <a:lnTo>
                    <a:pt x="3962146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3971706" y="2907506"/>
            <a:ext cx="2234432" cy="14288"/>
            <a:chOff x="0" y="0"/>
            <a:chExt cx="2979242" cy="190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979293" cy="19050"/>
            </a:xfrm>
            <a:custGeom>
              <a:avLst/>
              <a:gdLst/>
              <a:ahLst/>
              <a:cxnLst/>
              <a:rect r="r" b="b" t="t" l="l"/>
              <a:pathLst>
                <a:path h="19050" w="2979293">
                  <a:moveTo>
                    <a:pt x="0" y="0"/>
                  </a:moveTo>
                  <a:lnTo>
                    <a:pt x="2979293" y="0"/>
                  </a:lnTo>
                  <a:lnTo>
                    <a:pt x="2979293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6206128" y="2907506"/>
            <a:ext cx="1451743" cy="14288"/>
            <a:chOff x="0" y="0"/>
            <a:chExt cx="1935658" cy="190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35607" cy="19050"/>
            </a:xfrm>
            <a:custGeom>
              <a:avLst/>
              <a:gdLst/>
              <a:ahLst/>
              <a:cxnLst/>
              <a:rect r="r" b="b" t="t" l="l"/>
              <a:pathLst>
                <a:path h="19050" w="1935607">
                  <a:moveTo>
                    <a:pt x="0" y="0"/>
                  </a:moveTo>
                  <a:lnTo>
                    <a:pt x="1935607" y="0"/>
                  </a:lnTo>
                  <a:lnTo>
                    <a:pt x="1935607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7657881" y="2907506"/>
            <a:ext cx="3549996" cy="14288"/>
            <a:chOff x="0" y="0"/>
            <a:chExt cx="4733328" cy="190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733290" cy="19050"/>
            </a:xfrm>
            <a:custGeom>
              <a:avLst/>
              <a:gdLst/>
              <a:ahLst/>
              <a:cxnLst/>
              <a:rect r="r" b="b" t="t" l="l"/>
              <a:pathLst>
                <a:path h="19050" w="4733290">
                  <a:moveTo>
                    <a:pt x="0" y="0"/>
                  </a:moveTo>
                  <a:lnTo>
                    <a:pt x="4733290" y="0"/>
                  </a:lnTo>
                  <a:lnTo>
                    <a:pt x="473329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1207877" y="2907506"/>
            <a:ext cx="3538833" cy="14288"/>
            <a:chOff x="0" y="0"/>
            <a:chExt cx="4718444" cy="190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718431" cy="19050"/>
            </a:xfrm>
            <a:custGeom>
              <a:avLst/>
              <a:gdLst/>
              <a:ahLst/>
              <a:cxnLst/>
              <a:rect r="r" b="b" t="t" l="l"/>
              <a:pathLst>
                <a:path h="19050" w="4718431">
                  <a:moveTo>
                    <a:pt x="0" y="0"/>
                  </a:moveTo>
                  <a:lnTo>
                    <a:pt x="4718431" y="0"/>
                  </a:lnTo>
                  <a:lnTo>
                    <a:pt x="4718431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4746710" y="2907506"/>
            <a:ext cx="2541165" cy="14288"/>
            <a:chOff x="0" y="0"/>
            <a:chExt cx="3388220" cy="1905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388233" cy="19050"/>
            </a:xfrm>
            <a:custGeom>
              <a:avLst/>
              <a:gdLst/>
              <a:ahLst/>
              <a:cxnLst/>
              <a:rect r="r" b="b" t="t" l="l"/>
              <a:pathLst>
                <a:path h="19050" w="3388233">
                  <a:moveTo>
                    <a:pt x="0" y="0"/>
                  </a:moveTo>
                  <a:lnTo>
                    <a:pt x="3388233" y="0"/>
                  </a:lnTo>
                  <a:lnTo>
                    <a:pt x="3388233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000125" y="3738858"/>
            <a:ext cx="2971581" cy="14288"/>
            <a:chOff x="0" y="0"/>
            <a:chExt cx="3962108" cy="1905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962146" cy="19050"/>
            </a:xfrm>
            <a:custGeom>
              <a:avLst/>
              <a:gdLst/>
              <a:ahLst/>
              <a:cxnLst/>
              <a:rect r="r" b="b" t="t" l="l"/>
              <a:pathLst>
                <a:path h="19050" w="3962146">
                  <a:moveTo>
                    <a:pt x="0" y="0"/>
                  </a:moveTo>
                  <a:lnTo>
                    <a:pt x="3962146" y="0"/>
                  </a:lnTo>
                  <a:lnTo>
                    <a:pt x="3962146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3971706" y="3738858"/>
            <a:ext cx="2234432" cy="14288"/>
            <a:chOff x="0" y="0"/>
            <a:chExt cx="2979242" cy="190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979293" cy="19050"/>
            </a:xfrm>
            <a:custGeom>
              <a:avLst/>
              <a:gdLst/>
              <a:ahLst/>
              <a:cxnLst/>
              <a:rect r="r" b="b" t="t" l="l"/>
              <a:pathLst>
                <a:path h="19050" w="2979293">
                  <a:moveTo>
                    <a:pt x="0" y="0"/>
                  </a:moveTo>
                  <a:lnTo>
                    <a:pt x="2979293" y="0"/>
                  </a:lnTo>
                  <a:lnTo>
                    <a:pt x="2979293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6206128" y="3738858"/>
            <a:ext cx="1451743" cy="14288"/>
            <a:chOff x="0" y="0"/>
            <a:chExt cx="1935658" cy="1905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935607" cy="19050"/>
            </a:xfrm>
            <a:custGeom>
              <a:avLst/>
              <a:gdLst/>
              <a:ahLst/>
              <a:cxnLst/>
              <a:rect r="r" b="b" t="t" l="l"/>
              <a:pathLst>
                <a:path h="19050" w="1935607">
                  <a:moveTo>
                    <a:pt x="0" y="0"/>
                  </a:moveTo>
                  <a:lnTo>
                    <a:pt x="1935607" y="0"/>
                  </a:lnTo>
                  <a:lnTo>
                    <a:pt x="1935607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7657881" y="3738858"/>
            <a:ext cx="3549996" cy="14288"/>
            <a:chOff x="0" y="0"/>
            <a:chExt cx="4733328" cy="1905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733290" cy="19050"/>
            </a:xfrm>
            <a:custGeom>
              <a:avLst/>
              <a:gdLst/>
              <a:ahLst/>
              <a:cxnLst/>
              <a:rect r="r" b="b" t="t" l="l"/>
              <a:pathLst>
                <a:path h="19050" w="4733290">
                  <a:moveTo>
                    <a:pt x="0" y="0"/>
                  </a:moveTo>
                  <a:lnTo>
                    <a:pt x="4733290" y="0"/>
                  </a:lnTo>
                  <a:lnTo>
                    <a:pt x="473329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1207877" y="3738858"/>
            <a:ext cx="3538833" cy="14288"/>
            <a:chOff x="0" y="0"/>
            <a:chExt cx="4718444" cy="1905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718431" cy="19050"/>
            </a:xfrm>
            <a:custGeom>
              <a:avLst/>
              <a:gdLst/>
              <a:ahLst/>
              <a:cxnLst/>
              <a:rect r="r" b="b" t="t" l="l"/>
              <a:pathLst>
                <a:path h="19050" w="4718431">
                  <a:moveTo>
                    <a:pt x="0" y="0"/>
                  </a:moveTo>
                  <a:lnTo>
                    <a:pt x="4718431" y="0"/>
                  </a:lnTo>
                  <a:lnTo>
                    <a:pt x="4718431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4746710" y="3738858"/>
            <a:ext cx="2541165" cy="14288"/>
            <a:chOff x="0" y="0"/>
            <a:chExt cx="3388220" cy="1905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388233" cy="19050"/>
            </a:xfrm>
            <a:custGeom>
              <a:avLst/>
              <a:gdLst/>
              <a:ahLst/>
              <a:cxnLst/>
              <a:rect r="r" b="b" t="t" l="l"/>
              <a:pathLst>
                <a:path h="19050" w="3388233">
                  <a:moveTo>
                    <a:pt x="0" y="0"/>
                  </a:moveTo>
                  <a:lnTo>
                    <a:pt x="3388233" y="0"/>
                  </a:lnTo>
                  <a:lnTo>
                    <a:pt x="3388233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000125" y="4570209"/>
            <a:ext cx="2971581" cy="14288"/>
            <a:chOff x="0" y="0"/>
            <a:chExt cx="3962108" cy="1905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962146" cy="19050"/>
            </a:xfrm>
            <a:custGeom>
              <a:avLst/>
              <a:gdLst/>
              <a:ahLst/>
              <a:cxnLst/>
              <a:rect r="r" b="b" t="t" l="l"/>
              <a:pathLst>
                <a:path h="19050" w="3962146">
                  <a:moveTo>
                    <a:pt x="0" y="0"/>
                  </a:moveTo>
                  <a:lnTo>
                    <a:pt x="3962146" y="0"/>
                  </a:lnTo>
                  <a:lnTo>
                    <a:pt x="3962146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3971706" y="4570209"/>
            <a:ext cx="2234432" cy="14288"/>
            <a:chOff x="0" y="0"/>
            <a:chExt cx="2979242" cy="1905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979293" cy="19050"/>
            </a:xfrm>
            <a:custGeom>
              <a:avLst/>
              <a:gdLst/>
              <a:ahLst/>
              <a:cxnLst/>
              <a:rect r="r" b="b" t="t" l="l"/>
              <a:pathLst>
                <a:path h="19050" w="2979293">
                  <a:moveTo>
                    <a:pt x="0" y="0"/>
                  </a:moveTo>
                  <a:lnTo>
                    <a:pt x="2979293" y="0"/>
                  </a:lnTo>
                  <a:lnTo>
                    <a:pt x="2979293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6206128" y="4570209"/>
            <a:ext cx="1451743" cy="14288"/>
            <a:chOff x="0" y="0"/>
            <a:chExt cx="1935658" cy="1905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935607" cy="19050"/>
            </a:xfrm>
            <a:custGeom>
              <a:avLst/>
              <a:gdLst/>
              <a:ahLst/>
              <a:cxnLst/>
              <a:rect r="r" b="b" t="t" l="l"/>
              <a:pathLst>
                <a:path h="19050" w="1935607">
                  <a:moveTo>
                    <a:pt x="0" y="0"/>
                  </a:moveTo>
                  <a:lnTo>
                    <a:pt x="1935607" y="0"/>
                  </a:lnTo>
                  <a:lnTo>
                    <a:pt x="1935607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7657881" y="4570209"/>
            <a:ext cx="3549996" cy="14288"/>
            <a:chOff x="0" y="0"/>
            <a:chExt cx="4733328" cy="1905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733290" cy="19050"/>
            </a:xfrm>
            <a:custGeom>
              <a:avLst/>
              <a:gdLst/>
              <a:ahLst/>
              <a:cxnLst/>
              <a:rect r="r" b="b" t="t" l="l"/>
              <a:pathLst>
                <a:path h="19050" w="4733290">
                  <a:moveTo>
                    <a:pt x="0" y="0"/>
                  </a:moveTo>
                  <a:lnTo>
                    <a:pt x="4733290" y="0"/>
                  </a:lnTo>
                  <a:lnTo>
                    <a:pt x="473329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1207877" y="4570209"/>
            <a:ext cx="3538833" cy="14288"/>
            <a:chOff x="0" y="0"/>
            <a:chExt cx="4718444" cy="1905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718431" cy="19050"/>
            </a:xfrm>
            <a:custGeom>
              <a:avLst/>
              <a:gdLst/>
              <a:ahLst/>
              <a:cxnLst/>
              <a:rect r="r" b="b" t="t" l="l"/>
              <a:pathLst>
                <a:path h="19050" w="4718431">
                  <a:moveTo>
                    <a:pt x="0" y="0"/>
                  </a:moveTo>
                  <a:lnTo>
                    <a:pt x="4718431" y="0"/>
                  </a:lnTo>
                  <a:lnTo>
                    <a:pt x="4718431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4746710" y="4570209"/>
            <a:ext cx="2541165" cy="14288"/>
            <a:chOff x="0" y="0"/>
            <a:chExt cx="3388220" cy="1905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388233" cy="19050"/>
            </a:xfrm>
            <a:custGeom>
              <a:avLst/>
              <a:gdLst/>
              <a:ahLst/>
              <a:cxnLst/>
              <a:rect r="r" b="b" t="t" l="l"/>
              <a:pathLst>
                <a:path h="19050" w="3388233">
                  <a:moveTo>
                    <a:pt x="0" y="0"/>
                  </a:moveTo>
                  <a:lnTo>
                    <a:pt x="3388233" y="0"/>
                  </a:lnTo>
                  <a:lnTo>
                    <a:pt x="3388233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000125" y="5401570"/>
            <a:ext cx="2971581" cy="14288"/>
            <a:chOff x="0" y="0"/>
            <a:chExt cx="3962108" cy="1905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962146" cy="19050"/>
            </a:xfrm>
            <a:custGeom>
              <a:avLst/>
              <a:gdLst/>
              <a:ahLst/>
              <a:cxnLst/>
              <a:rect r="r" b="b" t="t" l="l"/>
              <a:pathLst>
                <a:path h="19050" w="3962146">
                  <a:moveTo>
                    <a:pt x="0" y="0"/>
                  </a:moveTo>
                  <a:lnTo>
                    <a:pt x="3962146" y="0"/>
                  </a:lnTo>
                  <a:lnTo>
                    <a:pt x="3962146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3971706" y="5401570"/>
            <a:ext cx="2234432" cy="14288"/>
            <a:chOff x="0" y="0"/>
            <a:chExt cx="2979242" cy="1905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979293" cy="19050"/>
            </a:xfrm>
            <a:custGeom>
              <a:avLst/>
              <a:gdLst/>
              <a:ahLst/>
              <a:cxnLst/>
              <a:rect r="r" b="b" t="t" l="l"/>
              <a:pathLst>
                <a:path h="19050" w="2979293">
                  <a:moveTo>
                    <a:pt x="0" y="0"/>
                  </a:moveTo>
                  <a:lnTo>
                    <a:pt x="2979293" y="0"/>
                  </a:lnTo>
                  <a:lnTo>
                    <a:pt x="2979293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6206128" y="5401570"/>
            <a:ext cx="1451743" cy="14288"/>
            <a:chOff x="0" y="0"/>
            <a:chExt cx="1935658" cy="1905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935607" cy="19050"/>
            </a:xfrm>
            <a:custGeom>
              <a:avLst/>
              <a:gdLst/>
              <a:ahLst/>
              <a:cxnLst/>
              <a:rect r="r" b="b" t="t" l="l"/>
              <a:pathLst>
                <a:path h="19050" w="1935607">
                  <a:moveTo>
                    <a:pt x="0" y="0"/>
                  </a:moveTo>
                  <a:lnTo>
                    <a:pt x="1935607" y="0"/>
                  </a:lnTo>
                  <a:lnTo>
                    <a:pt x="1935607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7657881" y="5401570"/>
            <a:ext cx="3549996" cy="14288"/>
            <a:chOff x="0" y="0"/>
            <a:chExt cx="4733328" cy="1905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4733290" cy="19050"/>
            </a:xfrm>
            <a:custGeom>
              <a:avLst/>
              <a:gdLst/>
              <a:ahLst/>
              <a:cxnLst/>
              <a:rect r="r" b="b" t="t" l="l"/>
              <a:pathLst>
                <a:path h="19050" w="4733290">
                  <a:moveTo>
                    <a:pt x="0" y="0"/>
                  </a:moveTo>
                  <a:lnTo>
                    <a:pt x="4733290" y="0"/>
                  </a:lnTo>
                  <a:lnTo>
                    <a:pt x="473329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1207877" y="5401570"/>
            <a:ext cx="3538833" cy="14288"/>
            <a:chOff x="0" y="0"/>
            <a:chExt cx="4718444" cy="1905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718431" cy="19050"/>
            </a:xfrm>
            <a:custGeom>
              <a:avLst/>
              <a:gdLst/>
              <a:ahLst/>
              <a:cxnLst/>
              <a:rect r="r" b="b" t="t" l="l"/>
              <a:pathLst>
                <a:path h="19050" w="4718431">
                  <a:moveTo>
                    <a:pt x="0" y="0"/>
                  </a:moveTo>
                  <a:lnTo>
                    <a:pt x="4718431" y="0"/>
                  </a:lnTo>
                  <a:lnTo>
                    <a:pt x="4718431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4746710" y="5401570"/>
            <a:ext cx="2541165" cy="14288"/>
            <a:chOff x="0" y="0"/>
            <a:chExt cx="3388220" cy="1905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3388233" cy="19050"/>
            </a:xfrm>
            <a:custGeom>
              <a:avLst/>
              <a:gdLst/>
              <a:ahLst/>
              <a:cxnLst/>
              <a:rect r="r" b="b" t="t" l="l"/>
              <a:pathLst>
                <a:path h="19050" w="3388233">
                  <a:moveTo>
                    <a:pt x="0" y="0"/>
                  </a:moveTo>
                  <a:lnTo>
                    <a:pt x="3388233" y="0"/>
                  </a:lnTo>
                  <a:lnTo>
                    <a:pt x="3388233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000125" y="6232922"/>
            <a:ext cx="2971581" cy="14288"/>
            <a:chOff x="0" y="0"/>
            <a:chExt cx="3962108" cy="1905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3962146" cy="19050"/>
            </a:xfrm>
            <a:custGeom>
              <a:avLst/>
              <a:gdLst/>
              <a:ahLst/>
              <a:cxnLst/>
              <a:rect r="r" b="b" t="t" l="l"/>
              <a:pathLst>
                <a:path h="19050" w="3962146">
                  <a:moveTo>
                    <a:pt x="0" y="0"/>
                  </a:moveTo>
                  <a:lnTo>
                    <a:pt x="3962146" y="0"/>
                  </a:lnTo>
                  <a:lnTo>
                    <a:pt x="3962146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3971706" y="6232922"/>
            <a:ext cx="2234432" cy="14288"/>
            <a:chOff x="0" y="0"/>
            <a:chExt cx="2979242" cy="1905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979293" cy="19050"/>
            </a:xfrm>
            <a:custGeom>
              <a:avLst/>
              <a:gdLst/>
              <a:ahLst/>
              <a:cxnLst/>
              <a:rect r="r" b="b" t="t" l="l"/>
              <a:pathLst>
                <a:path h="19050" w="2979293">
                  <a:moveTo>
                    <a:pt x="0" y="0"/>
                  </a:moveTo>
                  <a:lnTo>
                    <a:pt x="2979293" y="0"/>
                  </a:lnTo>
                  <a:lnTo>
                    <a:pt x="2979293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6206128" y="6232922"/>
            <a:ext cx="1451743" cy="14288"/>
            <a:chOff x="0" y="0"/>
            <a:chExt cx="1935658" cy="1905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935607" cy="19050"/>
            </a:xfrm>
            <a:custGeom>
              <a:avLst/>
              <a:gdLst/>
              <a:ahLst/>
              <a:cxnLst/>
              <a:rect r="r" b="b" t="t" l="l"/>
              <a:pathLst>
                <a:path h="19050" w="1935607">
                  <a:moveTo>
                    <a:pt x="0" y="0"/>
                  </a:moveTo>
                  <a:lnTo>
                    <a:pt x="1935607" y="0"/>
                  </a:lnTo>
                  <a:lnTo>
                    <a:pt x="1935607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7657881" y="6232922"/>
            <a:ext cx="3549996" cy="14288"/>
            <a:chOff x="0" y="0"/>
            <a:chExt cx="4733328" cy="1905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4733290" cy="19050"/>
            </a:xfrm>
            <a:custGeom>
              <a:avLst/>
              <a:gdLst/>
              <a:ahLst/>
              <a:cxnLst/>
              <a:rect r="r" b="b" t="t" l="l"/>
              <a:pathLst>
                <a:path h="19050" w="4733290">
                  <a:moveTo>
                    <a:pt x="0" y="0"/>
                  </a:moveTo>
                  <a:lnTo>
                    <a:pt x="4733290" y="0"/>
                  </a:lnTo>
                  <a:lnTo>
                    <a:pt x="473329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1207877" y="6232922"/>
            <a:ext cx="3538833" cy="14288"/>
            <a:chOff x="0" y="0"/>
            <a:chExt cx="4718444" cy="1905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4718431" cy="19050"/>
            </a:xfrm>
            <a:custGeom>
              <a:avLst/>
              <a:gdLst/>
              <a:ahLst/>
              <a:cxnLst/>
              <a:rect r="r" b="b" t="t" l="l"/>
              <a:pathLst>
                <a:path h="19050" w="4718431">
                  <a:moveTo>
                    <a:pt x="0" y="0"/>
                  </a:moveTo>
                  <a:lnTo>
                    <a:pt x="4718431" y="0"/>
                  </a:lnTo>
                  <a:lnTo>
                    <a:pt x="4718431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14746710" y="6232922"/>
            <a:ext cx="2541165" cy="14288"/>
            <a:chOff x="0" y="0"/>
            <a:chExt cx="3388220" cy="1905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388233" cy="19050"/>
            </a:xfrm>
            <a:custGeom>
              <a:avLst/>
              <a:gdLst/>
              <a:ahLst/>
              <a:cxnLst/>
              <a:rect r="r" b="b" t="t" l="l"/>
              <a:pathLst>
                <a:path h="19050" w="3388233">
                  <a:moveTo>
                    <a:pt x="0" y="0"/>
                  </a:moveTo>
                  <a:lnTo>
                    <a:pt x="3388233" y="0"/>
                  </a:lnTo>
                  <a:lnTo>
                    <a:pt x="3388233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sp>
        <p:nvSpPr>
          <p:cNvPr name="TextBox 72" id="72"/>
          <p:cNvSpPr txBox="true"/>
          <p:nvPr/>
        </p:nvSpPr>
        <p:spPr>
          <a:xfrm rot="0">
            <a:off x="1000125" y="714375"/>
            <a:ext cx="17102138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0"/>
              </a:lnSpc>
            </a:pPr>
            <a:r>
              <a:rPr lang="en-US" b="true" sz="4275">
                <a:solidFill>
                  <a:srgbClr val="0F172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PHÂN TÍCH KHUYẾT ĐIỂM MÔ HÌNH (TOP SAI SỐ)</a:t>
            </a:r>
          </a:p>
        </p:txBody>
      </p:sp>
      <p:grpSp>
        <p:nvGrpSpPr>
          <p:cNvPr name="Group 73" id="73"/>
          <p:cNvGrpSpPr/>
          <p:nvPr/>
        </p:nvGrpSpPr>
        <p:grpSpPr>
          <a:xfrm rot="0">
            <a:off x="1000125" y="1528762"/>
            <a:ext cx="16287750" cy="42862"/>
            <a:chOff x="0" y="0"/>
            <a:chExt cx="21717000" cy="5715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21717000" cy="57150"/>
            </a:xfrm>
            <a:custGeom>
              <a:avLst/>
              <a:gdLst/>
              <a:ahLst/>
              <a:cxnLst/>
              <a:rect r="r" b="b" t="t" l="l"/>
              <a:pathLst>
                <a:path h="57150" w="21717000">
                  <a:moveTo>
                    <a:pt x="0" y="0"/>
                  </a:moveTo>
                  <a:lnTo>
                    <a:pt x="21717000" y="0"/>
                  </a:lnTo>
                  <a:lnTo>
                    <a:pt x="217170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0284C7"/>
            </a:solidFill>
          </p:spPr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00125" y="3318643"/>
            <a:ext cx="16287750" cy="739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82"/>
              </a:lnSpc>
            </a:pPr>
            <a:r>
              <a:rPr lang="en-US" sz="270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CHƯƠNG KẾT LUẬN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286750" y="4486275"/>
            <a:ext cx="1714500" cy="85725"/>
            <a:chOff x="0" y="0"/>
            <a:chExt cx="2286000" cy="1143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86000" cy="114300"/>
            </a:xfrm>
            <a:custGeom>
              <a:avLst/>
              <a:gdLst/>
              <a:ahLst/>
              <a:cxnLst/>
              <a:rect r="r" b="b" t="t" l="l"/>
              <a:pathLst>
                <a:path h="114300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11430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0284C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2459087" y="5000625"/>
            <a:ext cx="13369826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89"/>
              </a:lnSpc>
            </a:pPr>
            <a:r>
              <a:rPr lang="en-US" b="true" sz="6075">
                <a:solidFill>
                  <a:srgbClr val="0F172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TỔNG KẾT &amp; HƯỚNG PHÁT TRIỂN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00125" y="6038850"/>
            <a:ext cx="16287750" cy="739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82"/>
              </a:lnSpc>
            </a:pPr>
            <a:r>
              <a:rPr lang="en-US" sz="270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Đánh giá toàn diện giới hạn nghiên cứu và đề xuất mở rộng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00125" y="9515475"/>
            <a:ext cx="16287750" cy="414338"/>
            <a:chOff x="0" y="0"/>
            <a:chExt cx="21717000" cy="55245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21717000" cy="552450"/>
            </a:xfrm>
            <a:custGeom>
              <a:avLst/>
              <a:gdLst/>
              <a:ahLst/>
              <a:cxnLst/>
              <a:rect r="r" b="b" t="t" l="l"/>
              <a:pathLst>
                <a:path h="552450" w="21717000">
                  <a:moveTo>
                    <a:pt x="0" y="0"/>
                  </a:moveTo>
                  <a:lnTo>
                    <a:pt x="21717000" y="0"/>
                  </a:lnTo>
                  <a:lnTo>
                    <a:pt x="21717000" y="552450"/>
                  </a:lnTo>
                  <a:lnTo>
                    <a:pt x="0" y="552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00125" y="9672638"/>
            <a:ext cx="3271838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Nguyễn Minh Huy - 2582003023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144875" y="9672638"/>
            <a:ext cx="114300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Slide 21 / 24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00125" y="9515475"/>
            <a:ext cx="16287750" cy="414338"/>
            <a:chOff x="0" y="0"/>
            <a:chExt cx="21717000" cy="552450"/>
          </a:xfrm>
        </p:grpSpPr>
        <p:sp>
          <p:nvSpPr>
            <p:cNvPr name="Freeform 4" id="4" descr="image.png"/>
            <p:cNvSpPr/>
            <p:nvPr/>
          </p:nvSpPr>
          <p:spPr>
            <a:xfrm flipH="false" flipV="false" rot="0">
              <a:off x="0" y="0"/>
              <a:ext cx="21717000" cy="552450"/>
            </a:xfrm>
            <a:custGeom>
              <a:avLst/>
              <a:gdLst/>
              <a:ahLst/>
              <a:cxnLst/>
              <a:rect r="r" b="b" t="t" l="l"/>
              <a:pathLst>
                <a:path h="552450" w="21717000">
                  <a:moveTo>
                    <a:pt x="0" y="0"/>
                  </a:moveTo>
                  <a:lnTo>
                    <a:pt x="21717000" y="0"/>
                  </a:lnTo>
                  <a:lnTo>
                    <a:pt x="21717000" y="552450"/>
                  </a:lnTo>
                  <a:lnTo>
                    <a:pt x="0" y="552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00125" y="9672638"/>
            <a:ext cx="3271838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Nguyễn Minh Huy - 2582003023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044862" y="9672638"/>
            <a:ext cx="124301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Slide 22 / 24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71625" y="1990725"/>
            <a:ext cx="15716250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2250">
                <a:solidFill>
                  <a:srgbClr val="0F172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Pipeline Tự động:</a:t>
            </a:r>
            <a:r>
              <a:rPr lang="en-US" sz="225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Hoàn thiện quy trình CRISP-DM từ thu thập, chuẩn hóa 5 bước tạo ra 1.773 dòng dữ liệu sạch.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71625" y="2733675"/>
            <a:ext cx="15716250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2250">
                <a:solidFill>
                  <a:srgbClr val="0F172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Insight Thị trường:</a:t>
            </a:r>
            <a:r>
              <a:rPr lang="en-US" sz="225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Xác định rõ phổ giá (42.8 - 71.4 tr/m²), cơ cấu sản phẩm (67% là căn 2PN) tại 6 quận trọng điểm.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71625" y="3476625"/>
            <a:ext cx="15716250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2250">
                <a:solidFill>
                  <a:srgbClr val="0F172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Hiệu suất Mô hình:</a:t>
            </a:r>
            <a:r>
              <a:rPr lang="en-US" sz="225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Random Forest giảm MAE xuống 13.9 tr/m², chứng minh năng lực học quan hệ phi tuyến trên dữ liệu thô.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71625" y="4676775"/>
            <a:ext cx="15716250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2250">
                <a:solidFill>
                  <a:srgbClr val="0F172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Hệ Gợi ý Hybrid:</a:t>
            </a:r>
            <a:r>
              <a:rPr lang="en-US" sz="225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Kết hợp lọc cứng (Hard filter) và chấm điểm tiện ích (Scoring) đáp ứng chính xác 100% 3 kịch bản hồ sơ thử nghiệm.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71625" y="5876925"/>
            <a:ext cx="15716250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2250">
                <a:solidFill>
                  <a:srgbClr val="0F172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Chất lượng mã nguồn:</a:t>
            </a:r>
            <a:r>
              <a:rPr lang="en-US" sz="225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45/45 Unit Tests PASS, kiến trúc module hóa Python chuẩn mực phục vụ bảo trì.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00125" y="2143125"/>
            <a:ext cx="314325" cy="328612"/>
            <a:chOff x="0" y="0"/>
            <a:chExt cx="419100" cy="438150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419100" cy="438150"/>
            </a:xfrm>
            <a:custGeom>
              <a:avLst/>
              <a:gdLst/>
              <a:ahLst/>
              <a:cxnLst/>
              <a:rect r="r" b="b" t="t" l="l"/>
              <a:pathLst>
                <a:path h="438150" w="419100">
                  <a:moveTo>
                    <a:pt x="0" y="0"/>
                  </a:moveTo>
                  <a:lnTo>
                    <a:pt x="419100" y="0"/>
                  </a:lnTo>
                  <a:lnTo>
                    <a:pt x="419100" y="438150"/>
                  </a:lnTo>
                  <a:lnTo>
                    <a:pt x="0" y="438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00125" y="2886075"/>
            <a:ext cx="314325" cy="328612"/>
            <a:chOff x="0" y="0"/>
            <a:chExt cx="419100" cy="438150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419100" cy="438150"/>
            </a:xfrm>
            <a:custGeom>
              <a:avLst/>
              <a:gdLst/>
              <a:ahLst/>
              <a:cxnLst/>
              <a:rect r="r" b="b" t="t" l="l"/>
              <a:pathLst>
                <a:path h="438150" w="419100">
                  <a:moveTo>
                    <a:pt x="0" y="0"/>
                  </a:moveTo>
                  <a:lnTo>
                    <a:pt x="419100" y="0"/>
                  </a:lnTo>
                  <a:lnTo>
                    <a:pt x="419100" y="438150"/>
                  </a:lnTo>
                  <a:lnTo>
                    <a:pt x="0" y="438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000125" y="3629025"/>
            <a:ext cx="314325" cy="328612"/>
            <a:chOff x="0" y="0"/>
            <a:chExt cx="419100" cy="438150"/>
          </a:xfrm>
        </p:grpSpPr>
        <p:sp>
          <p:nvSpPr>
            <p:cNvPr name="Freeform 17" id="17" descr="image.png"/>
            <p:cNvSpPr/>
            <p:nvPr/>
          </p:nvSpPr>
          <p:spPr>
            <a:xfrm flipH="false" flipV="false" rot="0">
              <a:off x="0" y="0"/>
              <a:ext cx="419100" cy="438150"/>
            </a:xfrm>
            <a:custGeom>
              <a:avLst/>
              <a:gdLst/>
              <a:ahLst/>
              <a:cxnLst/>
              <a:rect r="r" b="b" t="t" l="l"/>
              <a:pathLst>
                <a:path h="438150" w="419100">
                  <a:moveTo>
                    <a:pt x="0" y="0"/>
                  </a:moveTo>
                  <a:lnTo>
                    <a:pt x="419100" y="0"/>
                  </a:lnTo>
                  <a:lnTo>
                    <a:pt x="419100" y="438150"/>
                  </a:lnTo>
                  <a:lnTo>
                    <a:pt x="0" y="438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000125" y="4829175"/>
            <a:ext cx="314325" cy="328612"/>
            <a:chOff x="0" y="0"/>
            <a:chExt cx="419100" cy="438150"/>
          </a:xfrm>
        </p:grpSpPr>
        <p:sp>
          <p:nvSpPr>
            <p:cNvPr name="Freeform 19" id="19" descr="image.png"/>
            <p:cNvSpPr/>
            <p:nvPr/>
          </p:nvSpPr>
          <p:spPr>
            <a:xfrm flipH="false" flipV="false" rot="0">
              <a:off x="0" y="0"/>
              <a:ext cx="419100" cy="438150"/>
            </a:xfrm>
            <a:custGeom>
              <a:avLst/>
              <a:gdLst/>
              <a:ahLst/>
              <a:cxnLst/>
              <a:rect r="r" b="b" t="t" l="l"/>
              <a:pathLst>
                <a:path h="438150" w="419100">
                  <a:moveTo>
                    <a:pt x="0" y="0"/>
                  </a:moveTo>
                  <a:lnTo>
                    <a:pt x="419100" y="0"/>
                  </a:lnTo>
                  <a:lnTo>
                    <a:pt x="419100" y="438150"/>
                  </a:lnTo>
                  <a:lnTo>
                    <a:pt x="0" y="438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028700" y="6029325"/>
            <a:ext cx="314325" cy="328612"/>
            <a:chOff x="0" y="0"/>
            <a:chExt cx="419100" cy="438150"/>
          </a:xfrm>
        </p:grpSpPr>
        <p:sp>
          <p:nvSpPr>
            <p:cNvPr name="Freeform 21" id="21" descr="image.png"/>
            <p:cNvSpPr/>
            <p:nvPr/>
          </p:nvSpPr>
          <p:spPr>
            <a:xfrm flipH="false" flipV="false" rot="0">
              <a:off x="0" y="0"/>
              <a:ext cx="419100" cy="438150"/>
            </a:xfrm>
            <a:custGeom>
              <a:avLst/>
              <a:gdLst/>
              <a:ahLst/>
              <a:cxnLst/>
              <a:rect r="r" b="b" t="t" l="l"/>
              <a:pathLst>
                <a:path h="438150" w="419100">
                  <a:moveTo>
                    <a:pt x="0" y="0"/>
                  </a:moveTo>
                  <a:lnTo>
                    <a:pt x="419100" y="0"/>
                  </a:lnTo>
                  <a:lnTo>
                    <a:pt x="419100" y="438150"/>
                  </a:lnTo>
                  <a:lnTo>
                    <a:pt x="0" y="438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000125" y="714375"/>
            <a:ext cx="17102138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0"/>
              </a:lnSpc>
            </a:pPr>
            <a:r>
              <a:rPr lang="en-US" b="true" sz="4275">
                <a:solidFill>
                  <a:srgbClr val="0F172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TỔNG KẾT KẾT QUẢ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000125" y="1528762"/>
            <a:ext cx="16287750" cy="42862"/>
            <a:chOff x="0" y="0"/>
            <a:chExt cx="21717000" cy="571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717000" cy="57150"/>
            </a:xfrm>
            <a:custGeom>
              <a:avLst/>
              <a:gdLst/>
              <a:ahLst/>
              <a:cxnLst/>
              <a:rect r="r" b="b" t="t" l="l"/>
              <a:pathLst>
                <a:path h="57150" w="21717000">
                  <a:moveTo>
                    <a:pt x="0" y="0"/>
                  </a:moveTo>
                  <a:lnTo>
                    <a:pt x="21717000" y="0"/>
                  </a:lnTo>
                  <a:lnTo>
                    <a:pt x="217170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0284C7"/>
            </a:solidFill>
          </p:spPr>
        </p:sp>
      </p:grp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00125" y="2143125"/>
            <a:ext cx="7858125" cy="3862978"/>
            <a:chOff x="0" y="0"/>
            <a:chExt cx="10477500" cy="5150637"/>
          </a:xfrm>
        </p:grpSpPr>
        <p:sp>
          <p:nvSpPr>
            <p:cNvPr name="Freeform 4" id="4" descr="image.png"/>
            <p:cNvSpPr/>
            <p:nvPr/>
          </p:nvSpPr>
          <p:spPr>
            <a:xfrm flipH="false" flipV="false" rot="0">
              <a:off x="0" y="0"/>
              <a:ext cx="10477500" cy="5150612"/>
            </a:xfrm>
            <a:custGeom>
              <a:avLst/>
              <a:gdLst/>
              <a:ahLst/>
              <a:cxnLst/>
              <a:rect r="r" b="b" t="t" l="l"/>
              <a:pathLst>
                <a:path h="5150612" w="10477500">
                  <a:moveTo>
                    <a:pt x="0" y="0"/>
                  </a:moveTo>
                  <a:lnTo>
                    <a:pt x="10477500" y="0"/>
                  </a:lnTo>
                  <a:lnTo>
                    <a:pt x="10477500" y="5150612"/>
                  </a:lnTo>
                  <a:lnTo>
                    <a:pt x="0" y="51506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231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429750" y="2143125"/>
            <a:ext cx="7858125" cy="3862978"/>
            <a:chOff x="0" y="0"/>
            <a:chExt cx="10477500" cy="5150637"/>
          </a:xfrm>
        </p:grpSpPr>
        <p:sp>
          <p:nvSpPr>
            <p:cNvPr name="Freeform 6" id="6" descr="image.png"/>
            <p:cNvSpPr/>
            <p:nvPr/>
          </p:nvSpPr>
          <p:spPr>
            <a:xfrm flipH="false" flipV="false" rot="0">
              <a:off x="0" y="0"/>
              <a:ext cx="10477500" cy="5150612"/>
            </a:xfrm>
            <a:custGeom>
              <a:avLst/>
              <a:gdLst/>
              <a:ahLst/>
              <a:cxnLst/>
              <a:rect r="r" b="b" t="t" l="l"/>
              <a:pathLst>
                <a:path h="5150612" w="10477500">
                  <a:moveTo>
                    <a:pt x="0" y="0"/>
                  </a:moveTo>
                  <a:lnTo>
                    <a:pt x="10477500" y="0"/>
                  </a:lnTo>
                  <a:lnTo>
                    <a:pt x="10477500" y="5150612"/>
                  </a:lnTo>
                  <a:lnTo>
                    <a:pt x="0" y="51506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231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00125" y="9515475"/>
            <a:ext cx="16287750" cy="414338"/>
            <a:chOff x="0" y="0"/>
            <a:chExt cx="21717000" cy="552450"/>
          </a:xfrm>
        </p:grpSpPr>
        <p:sp>
          <p:nvSpPr>
            <p:cNvPr name="Freeform 8" id="8" descr="image.png"/>
            <p:cNvSpPr/>
            <p:nvPr/>
          </p:nvSpPr>
          <p:spPr>
            <a:xfrm flipH="false" flipV="false" rot="0">
              <a:off x="0" y="0"/>
              <a:ext cx="21717000" cy="552450"/>
            </a:xfrm>
            <a:custGeom>
              <a:avLst/>
              <a:gdLst/>
              <a:ahLst/>
              <a:cxnLst/>
              <a:rect r="r" b="b" t="t" l="l"/>
              <a:pathLst>
                <a:path h="552450" w="21717000">
                  <a:moveTo>
                    <a:pt x="0" y="0"/>
                  </a:moveTo>
                  <a:lnTo>
                    <a:pt x="21717000" y="0"/>
                  </a:lnTo>
                  <a:lnTo>
                    <a:pt x="21717000" y="552450"/>
                  </a:lnTo>
                  <a:lnTo>
                    <a:pt x="0" y="552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000125" y="9672638"/>
            <a:ext cx="3271838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Nguyễn Minh Huy - 2582003023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044862" y="9672638"/>
            <a:ext cx="124301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Slide 23 / 24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43037" y="3533775"/>
            <a:ext cx="7320915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DC2626"/>
                </a:solidFill>
                <a:latin typeface="Montserrat"/>
                <a:ea typeface="Montserrat"/>
                <a:cs typeface="Montserrat"/>
                <a:sym typeface="Montserrat"/>
              </a:rPr>
              <a:t>Dữ Liệu &amp; Phạm Vi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43038" y="3986212"/>
            <a:ext cx="6972300" cy="1576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6"/>
              </a:lnSpc>
            </a:pPr>
            <a:r>
              <a:rPr lang="en-US" sz="180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Chỉ khảo sát Snapshot 1.773 tin tại 6/24 quận. Chưa thể hiện được xu hướng chuỗi thời gian hay đại diện cho toàn bộ TP.HCM. Tỷ lệ Missing Value cao ở Hướng/Nội thất làm sai lệch Imputation.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872662" y="3533775"/>
            <a:ext cx="7320915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D97706"/>
                </a:solidFill>
                <a:latin typeface="Montserrat"/>
                <a:ea typeface="Montserrat"/>
                <a:cs typeface="Montserrat"/>
                <a:sym typeface="Montserrat"/>
              </a:rPr>
              <a:t>Biến Ẩn (Hidden Features)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872662" y="3986212"/>
            <a:ext cx="6972300" cy="1576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6"/>
              </a:lnSpc>
            </a:pPr>
            <a:r>
              <a:rPr lang="en-US" sz="180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R² = 0.17 là khiêm tốn. Giá BĐS bị chi phối nặng bởi yếu tố "vô hình" (View sông, Tầng cao, Uy tín CĐT, Chất lượng hoàn thiện) không tồn tại dưới dạng Numeric/Categorical data trong bài toán này.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443038" y="2728912"/>
            <a:ext cx="514350" cy="514350"/>
            <a:chOff x="0" y="0"/>
            <a:chExt cx="685800" cy="685800"/>
          </a:xfrm>
        </p:grpSpPr>
        <p:sp>
          <p:nvSpPr>
            <p:cNvPr name="Freeform 16" id="16" descr="image.png"/>
            <p:cNvSpPr/>
            <p:nvPr/>
          </p:nvSpPr>
          <p:spPr>
            <a:xfrm flipH="false" flipV="false" rot="0">
              <a:off x="0" y="0"/>
              <a:ext cx="685800" cy="685800"/>
            </a:xfrm>
            <a:custGeom>
              <a:avLst/>
              <a:gdLst/>
              <a:ahLst/>
              <a:cxnLst/>
              <a:rect r="r" b="b" t="t" l="l"/>
              <a:pathLst>
                <a:path h="685800" w="685800">
                  <a:moveTo>
                    <a:pt x="0" y="0"/>
                  </a:moveTo>
                  <a:lnTo>
                    <a:pt x="685800" y="0"/>
                  </a:lnTo>
                  <a:lnTo>
                    <a:pt x="6858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872662" y="2728912"/>
            <a:ext cx="385762" cy="514350"/>
            <a:chOff x="0" y="0"/>
            <a:chExt cx="514350" cy="685800"/>
          </a:xfrm>
        </p:grpSpPr>
        <p:sp>
          <p:nvSpPr>
            <p:cNvPr name="Freeform 18" id="18" descr="image.png"/>
            <p:cNvSpPr/>
            <p:nvPr/>
          </p:nvSpPr>
          <p:spPr>
            <a:xfrm flipH="false" flipV="false" rot="0">
              <a:off x="0" y="0"/>
              <a:ext cx="514350" cy="685800"/>
            </a:xfrm>
            <a:custGeom>
              <a:avLst/>
              <a:gdLst/>
              <a:ahLst/>
              <a:cxnLst/>
              <a:rect r="r" b="b" t="t" l="l"/>
              <a:pathLst>
                <a:path h="685800" w="514350">
                  <a:moveTo>
                    <a:pt x="0" y="0"/>
                  </a:moveTo>
                  <a:lnTo>
                    <a:pt x="514350" y="0"/>
                  </a:lnTo>
                  <a:lnTo>
                    <a:pt x="51435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000125" y="714375"/>
            <a:ext cx="17102138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0"/>
              </a:lnSpc>
            </a:pPr>
            <a:r>
              <a:rPr lang="en-US" b="true" sz="4275">
                <a:solidFill>
                  <a:srgbClr val="0F172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HẠN CHẾ CỦA NGHIÊN CỨU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000125" y="1528762"/>
            <a:ext cx="16287750" cy="42862"/>
            <a:chOff x="0" y="0"/>
            <a:chExt cx="21717000" cy="571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717000" cy="57150"/>
            </a:xfrm>
            <a:custGeom>
              <a:avLst/>
              <a:gdLst/>
              <a:ahLst/>
              <a:cxnLst/>
              <a:rect r="r" b="b" t="t" l="l"/>
              <a:pathLst>
                <a:path h="57150" w="21717000">
                  <a:moveTo>
                    <a:pt x="0" y="0"/>
                  </a:moveTo>
                  <a:lnTo>
                    <a:pt x="21717000" y="0"/>
                  </a:lnTo>
                  <a:lnTo>
                    <a:pt x="217170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0284C7"/>
            </a:solidFill>
          </p:spPr>
        </p:sp>
      </p:grp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00125" y="2143125"/>
            <a:ext cx="5143500" cy="3862978"/>
            <a:chOff x="0" y="0"/>
            <a:chExt cx="6858000" cy="5150637"/>
          </a:xfrm>
        </p:grpSpPr>
        <p:sp>
          <p:nvSpPr>
            <p:cNvPr name="Freeform 4" id="4" descr="image.png"/>
            <p:cNvSpPr/>
            <p:nvPr/>
          </p:nvSpPr>
          <p:spPr>
            <a:xfrm flipH="false" flipV="false" rot="0">
              <a:off x="0" y="0"/>
              <a:ext cx="6858000" cy="5150612"/>
            </a:xfrm>
            <a:custGeom>
              <a:avLst/>
              <a:gdLst/>
              <a:ahLst/>
              <a:cxnLst/>
              <a:rect r="r" b="b" t="t" l="l"/>
              <a:pathLst>
                <a:path h="5150612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5150612"/>
                  </a:lnTo>
                  <a:lnTo>
                    <a:pt x="0" y="51506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231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6572250" y="2143125"/>
            <a:ext cx="5143500" cy="3862978"/>
            <a:chOff x="0" y="0"/>
            <a:chExt cx="6858000" cy="5150637"/>
          </a:xfrm>
        </p:grpSpPr>
        <p:sp>
          <p:nvSpPr>
            <p:cNvPr name="Freeform 6" id="6" descr="image.png"/>
            <p:cNvSpPr/>
            <p:nvPr/>
          </p:nvSpPr>
          <p:spPr>
            <a:xfrm flipH="false" flipV="false" rot="0">
              <a:off x="0" y="0"/>
              <a:ext cx="6858000" cy="5150612"/>
            </a:xfrm>
            <a:custGeom>
              <a:avLst/>
              <a:gdLst/>
              <a:ahLst/>
              <a:cxnLst/>
              <a:rect r="r" b="b" t="t" l="l"/>
              <a:pathLst>
                <a:path h="5150612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5150612"/>
                  </a:lnTo>
                  <a:lnTo>
                    <a:pt x="0" y="51506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231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2144375" y="2143125"/>
            <a:ext cx="5143500" cy="3862978"/>
            <a:chOff x="0" y="0"/>
            <a:chExt cx="6858000" cy="5150637"/>
          </a:xfrm>
        </p:grpSpPr>
        <p:sp>
          <p:nvSpPr>
            <p:cNvPr name="Freeform 8" id="8" descr="image.png"/>
            <p:cNvSpPr/>
            <p:nvPr/>
          </p:nvSpPr>
          <p:spPr>
            <a:xfrm flipH="false" flipV="false" rot="0">
              <a:off x="0" y="0"/>
              <a:ext cx="6858000" cy="5150612"/>
            </a:xfrm>
            <a:custGeom>
              <a:avLst/>
              <a:gdLst/>
              <a:ahLst/>
              <a:cxnLst/>
              <a:rect r="r" b="b" t="t" l="l"/>
              <a:pathLst>
                <a:path h="5150612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5150612"/>
                  </a:lnTo>
                  <a:lnTo>
                    <a:pt x="0" y="51506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231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000125" y="9515475"/>
            <a:ext cx="16287750" cy="414338"/>
            <a:chOff x="0" y="0"/>
            <a:chExt cx="21717000" cy="55245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21717000" cy="552450"/>
            </a:xfrm>
            <a:custGeom>
              <a:avLst/>
              <a:gdLst/>
              <a:ahLst/>
              <a:cxnLst/>
              <a:rect r="r" b="b" t="t" l="l"/>
              <a:pathLst>
                <a:path h="552450" w="21717000">
                  <a:moveTo>
                    <a:pt x="0" y="0"/>
                  </a:moveTo>
                  <a:lnTo>
                    <a:pt x="21717000" y="0"/>
                  </a:lnTo>
                  <a:lnTo>
                    <a:pt x="21717000" y="552450"/>
                  </a:lnTo>
                  <a:lnTo>
                    <a:pt x="0" y="552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000125" y="9672638"/>
            <a:ext cx="3271838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Nguyễn Minh Huy - 2582003023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016288" y="9672638"/>
            <a:ext cx="1271588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Slide 24 / 24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43038" y="3533775"/>
            <a:ext cx="4470559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Big Data &amp; GIS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43038" y="3986212"/>
            <a:ext cx="4257675" cy="1576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6"/>
              </a:lnSpc>
            </a:pPr>
            <a:r>
              <a:rPr lang="en-US" sz="180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Mở rộng crawl tự động ≥10.000 data toàn TP.HCM. Tích hợp tính năng GIS (OpenStreetMap) đo khoảng cách thực tế đến trung tâm/tiện ích.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015162" y="3533775"/>
            <a:ext cx="4470559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Text Mining (NLP)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015162" y="3986212"/>
            <a:ext cx="4257675" cy="1211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6"/>
              </a:lnSpc>
            </a:pPr>
            <a:r>
              <a:rPr lang="en-US" sz="180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Sử dụng LLM / TF-IDF để trích xuất các thông tin ẩn (View, Tầng, Thiết kế) từ Title và Description của tin đăng.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587288" y="3533775"/>
            <a:ext cx="4470559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Advanced Models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587288" y="3986212"/>
            <a:ext cx="4257675" cy="1576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6"/>
              </a:lnSpc>
            </a:pPr>
            <a:r>
              <a:rPr lang="en-US" sz="180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Áp dụng XGBoost/LightGBM kết hợp Optuna Tuning. Triển khai Recommender thành REST API với giao diện Streamlit.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443038" y="2728912"/>
            <a:ext cx="457200" cy="514350"/>
            <a:chOff x="0" y="0"/>
            <a:chExt cx="609600" cy="685800"/>
          </a:xfrm>
        </p:grpSpPr>
        <p:sp>
          <p:nvSpPr>
            <p:cNvPr name="Freeform 20" id="20" descr="image.png"/>
            <p:cNvSpPr/>
            <p:nvPr/>
          </p:nvSpPr>
          <p:spPr>
            <a:xfrm flipH="false" flipV="false" rot="0">
              <a:off x="0" y="0"/>
              <a:ext cx="609600" cy="685800"/>
            </a:xfrm>
            <a:custGeom>
              <a:avLst/>
              <a:gdLst/>
              <a:ahLst/>
              <a:cxnLst/>
              <a:rect r="r" b="b" t="t" l="l"/>
              <a:pathLst>
                <a:path h="6858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7015162" y="2728912"/>
            <a:ext cx="642938" cy="514350"/>
            <a:chOff x="0" y="0"/>
            <a:chExt cx="857250" cy="685800"/>
          </a:xfrm>
        </p:grpSpPr>
        <p:sp>
          <p:nvSpPr>
            <p:cNvPr name="Freeform 22" id="22" descr="image.png"/>
            <p:cNvSpPr/>
            <p:nvPr/>
          </p:nvSpPr>
          <p:spPr>
            <a:xfrm flipH="false" flipV="false" rot="0">
              <a:off x="0" y="0"/>
              <a:ext cx="857250" cy="685800"/>
            </a:xfrm>
            <a:custGeom>
              <a:avLst/>
              <a:gdLst/>
              <a:ahLst/>
              <a:cxnLst/>
              <a:rect r="r" b="b" t="t" l="l"/>
              <a:pathLst>
                <a:path h="685800" w="857250">
                  <a:moveTo>
                    <a:pt x="0" y="0"/>
                  </a:moveTo>
                  <a:lnTo>
                    <a:pt x="857250" y="0"/>
                  </a:lnTo>
                  <a:lnTo>
                    <a:pt x="85725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2222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2587288" y="2728912"/>
            <a:ext cx="642938" cy="514350"/>
            <a:chOff x="0" y="0"/>
            <a:chExt cx="857250" cy="685800"/>
          </a:xfrm>
        </p:grpSpPr>
        <p:sp>
          <p:nvSpPr>
            <p:cNvPr name="Freeform 24" id="24" descr="image.png"/>
            <p:cNvSpPr/>
            <p:nvPr/>
          </p:nvSpPr>
          <p:spPr>
            <a:xfrm flipH="false" flipV="false" rot="0">
              <a:off x="0" y="0"/>
              <a:ext cx="857250" cy="685800"/>
            </a:xfrm>
            <a:custGeom>
              <a:avLst/>
              <a:gdLst/>
              <a:ahLst/>
              <a:cxnLst/>
              <a:rect r="r" b="b" t="t" l="l"/>
              <a:pathLst>
                <a:path h="685800" w="857250">
                  <a:moveTo>
                    <a:pt x="0" y="0"/>
                  </a:moveTo>
                  <a:lnTo>
                    <a:pt x="857250" y="0"/>
                  </a:lnTo>
                  <a:lnTo>
                    <a:pt x="85725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-2222" b="0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000125" y="714375"/>
            <a:ext cx="17102138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0"/>
              </a:lnSpc>
            </a:pPr>
            <a:r>
              <a:rPr lang="en-US" b="true" sz="4275">
                <a:solidFill>
                  <a:srgbClr val="0F172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KIẾN NGHỊ &amp; HƯỚNG PHÁT TRIỂN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000125" y="1528762"/>
            <a:ext cx="16287750" cy="42862"/>
            <a:chOff x="0" y="0"/>
            <a:chExt cx="21717000" cy="571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1717000" cy="57150"/>
            </a:xfrm>
            <a:custGeom>
              <a:avLst/>
              <a:gdLst/>
              <a:ahLst/>
              <a:cxnLst/>
              <a:rect r="r" b="b" t="t" l="l"/>
              <a:pathLst>
                <a:path h="57150" w="21717000">
                  <a:moveTo>
                    <a:pt x="0" y="0"/>
                  </a:moveTo>
                  <a:lnTo>
                    <a:pt x="21717000" y="0"/>
                  </a:lnTo>
                  <a:lnTo>
                    <a:pt x="217170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0284C7"/>
            </a:solidFill>
          </p:spPr>
        </p:sp>
      </p:grp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160632" y="2528328"/>
            <a:ext cx="13966737" cy="5230344"/>
            <a:chOff x="0" y="0"/>
            <a:chExt cx="6705915" cy="251126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705915" cy="2511269"/>
            </a:xfrm>
            <a:custGeom>
              <a:avLst/>
              <a:gdLst/>
              <a:ahLst/>
              <a:cxnLst/>
              <a:rect r="r" b="b" t="t" l="l"/>
              <a:pathLst>
                <a:path h="2511269" w="6705915">
                  <a:moveTo>
                    <a:pt x="6440485" y="0"/>
                  </a:moveTo>
                  <a:lnTo>
                    <a:pt x="265430" y="0"/>
                  </a:lnTo>
                  <a:cubicBezTo>
                    <a:pt x="265430" y="146050"/>
                    <a:pt x="147320" y="265430"/>
                    <a:pt x="0" y="265430"/>
                  </a:cubicBezTo>
                  <a:lnTo>
                    <a:pt x="0" y="2245839"/>
                  </a:lnTo>
                  <a:cubicBezTo>
                    <a:pt x="146050" y="2245839"/>
                    <a:pt x="265430" y="2363949"/>
                    <a:pt x="265430" y="2511269"/>
                  </a:cubicBezTo>
                  <a:lnTo>
                    <a:pt x="6440485" y="2511269"/>
                  </a:lnTo>
                  <a:cubicBezTo>
                    <a:pt x="6440485" y="2365219"/>
                    <a:pt x="6558595" y="2245839"/>
                    <a:pt x="6705915" y="2245839"/>
                  </a:cubicBezTo>
                  <a:lnTo>
                    <a:pt x="6705915" y="265430"/>
                  </a:lnTo>
                  <a:cubicBezTo>
                    <a:pt x="6559865" y="265430"/>
                    <a:pt x="6440485" y="147320"/>
                    <a:pt x="6440485" y="0"/>
                  </a:cubicBezTo>
                  <a:close/>
                </a:path>
              </a:pathLst>
            </a:custGeom>
            <a:solidFill>
              <a:srgbClr val="497FB4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1028700"/>
            <a:ext cx="2780777" cy="2752970"/>
          </a:xfrm>
          <a:custGeom>
            <a:avLst/>
            <a:gdLst/>
            <a:ahLst/>
            <a:cxnLst/>
            <a:rect r="r" b="b" t="t" l="l"/>
            <a:pathLst>
              <a:path h="2752970" w="2780777">
                <a:moveTo>
                  <a:pt x="0" y="0"/>
                </a:moveTo>
                <a:lnTo>
                  <a:pt x="2780777" y="0"/>
                </a:lnTo>
                <a:lnTo>
                  <a:pt x="2780777" y="2752970"/>
                </a:lnTo>
                <a:lnTo>
                  <a:pt x="0" y="27529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4428304" y="7050123"/>
            <a:ext cx="2830996" cy="2208177"/>
          </a:xfrm>
          <a:custGeom>
            <a:avLst/>
            <a:gdLst/>
            <a:ahLst/>
            <a:cxnLst/>
            <a:rect r="r" b="b" t="t" l="l"/>
            <a:pathLst>
              <a:path h="2208177" w="2830996">
                <a:moveTo>
                  <a:pt x="2830996" y="2208177"/>
                </a:moveTo>
                <a:lnTo>
                  <a:pt x="0" y="2208177"/>
                </a:lnTo>
                <a:lnTo>
                  <a:pt x="0" y="0"/>
                </a:lnTo>
                <a:lnTo>
                  <a:pt x="2830996" y="0"/>
                </a:lnTo>
                <a:lnTo>
                  <a:pt x="2830996" y="2208177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947337" y="548777"/>
            <a:ext cx="1600160" cy="1597493"/>
          </a:xfrm>
          <a:custGeom>
            <a:avLst/>
            <a:gdLst/>
            <a:ahLst/>
            <a:cxnLst/>
            <a:rect r="r" b="b" t="t" l="l"/>
            <a:pathLst>
              <a:path h="1597493" w="1600160">
                <a:moveTo>
                  <a:pt x="0" y="0"/>
                </a:moveTo>
                <a:lnTo>
                  <a:pt x="1600160" y="0"/>
                </a:lnTo>
                <a:lnTo>
                  <a:pt x="1600160" y="1597493"/>
                </a:lnTo>
                <a:lnTo>
                  <a:pt x="0" y="159749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79847" y="7853922"/>
            <a:ext cx="1794135" cy="1785164"/>
          </a:xfrm>
          <a:custGeom>
            <a:avLst/>
            <a:gdLst/>
            <a:ahLst/>
            <a:cxnLst/>
            <a:rect r="r" b="b" t="t" l="l"/>
            <a:pathLst>
              <a:path h="1785164" w="1794135">
                <a:moveTo>
                  <a:pt x="0" y="0"/>
                </a:moveTo>
                <a:lnTo>
                  <a:pt x="1794135" y="0"/>
                </a:lnTo>
                <a:lnTo>
                  <a:pt x="1794135" y="1785164"/>
                </a:lnTo>
                <a:lnTo>
                  <a:pt x="0" y="178516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550182" y="3110331"/>
            <a:ext cx="13187636" cy="2928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69"/>
              </a:lnSpc>
              <a:spcBef>
                <a:spcPct val="0"/>
              </a:spcBef>
            </a:pPr>
            <a:r>
              <a:rPr lang="en-US" sz="17049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DAHR0KGWYIo</dc:identifier>
  <dcterms:modified xsi:type="dcterms:W3CDTF">2011-08-01T06:04:30Z</dcterms:modified>
  <cp:revision>1</cp:revision>
  <dc:title>Báo cáo Phân tích BĐS TP.HCM.pptx</dc:title>
</cp:coreProperties>
</file>